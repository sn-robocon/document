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 id="2147483653" r:id="rId2"/>
    <p:sldMasterId id="2147483680" r:id="rId3"/>
  </p:sldMasterIdLst>
  <p:notesMasterIdLst>
    <p:notesMasterId r:id="rId9"/>
  </p:notesMasterIdLst>
  <p:handoutMasterIdLst>
    <p:handoutMasterId r:id="rId10"/>
  </p:handoutMasterIdLst>
  <p:sldIdLst>
    <p:sldId id="273" r:id="rId4"/>
    <p:sldId id="276" r:id="rId5"/>
    <p:sldId id="260" r:id="rId6"/>
    <p:sldId id="261" r:id="rId7"/>
    <p:sldId id="277" r:id="rId8"/>
  </p:sldIdLst>
  <p:sldSz cx="15119350" cy="10691813"/>
  <p:notesSz cx="14597063" cy="21107400"/>
  <p:defaultTextStyle>
    <a:defPPr>
      <a:defRPr lang="ja-JP"/>
    </a:defPPr>
    <a:lvl1pPr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1pPr>
    <a:lvl2pPr marL="52674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2pPr>
    <a:lvl3pPr marL="105348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3pPr>
    <a:lvl4pPr marL="158022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4pPr>
    <a:lvl5pPr marL="2106960" algn="l" rtl="0" fontAlgn="base">
      <a:spcBef>
        <a:spcPct val="0"/>
      </a:spcBef>
      <a:spcAft>
        <a:spcPct val="0"/>
      </a:spcAft>
      <a:defRPr kumimoji="1" sz="1843" kern="1200">
        <a:solidFill>
          <a:schemeClr val="tx1"/>
        </a:solidFill>
        <a:latin typeface="Times New Roman" panose="02020603050405020304" pitchFamily="18" charset="0"/>
        <a:ea typeface="ＭＳ Ｐゴシック" panose="020B0600070205080204" pitchFamily="34" charset="-128"/>
        <a:cs typeface="+mn-cs"/>
      </a:defRPr>
    </a:lvl5pPr>
    <a:lvl6pPr marL="263370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6pPr>
    <a:lvl7pPr marL="316044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7pPr>
    <a:lvl8pPr marL="368718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8pPr>
    <a:lvl9pPr marL="4213921" algn="l" defTabSz="1053480" rtl="0" eaLnBrk="1" latinLnBrk="0" hangingPunct="1">
      <a:defRPr kumimoji="1" sz="1843"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アブストラクトページ（プライマリークラス）" id="{05F68B40-4021-4FFA-A734-7816717BBE8C}">
          <p14:sldIdLst>
            <p14:sldId id="273"/>
          </p14:sldIdLst>
        </p14:section>
        <p14:section name="モデル図ページ（プライマリークラス）" id="{8B2B3982-7BAC-4EE5-974E-E0EE0719EC85}">
          <p14:sldIdLst>
            <p14:sldId id="276"/>
            <p14:sldId id="260"/>
            <p14:sldId id="261"/>
            <p14:sldId id="277"/>
          </p14:sldIdLst>
        </p14:section>
      </p14:sectionLst>
    </p:ext>
    <p:ext uri="{EFAFB233-063F-42B5-8137-9DF3F51BA10A}">
      <p15:sldGuideLst xmlns:p15="http://schemas.microsoft.com/office/powerpoint/2012/main">
        <p15:guide id="1" orient="horz" pos="3368" userDrawn="1">
          <p15:clr>
            <a:srgbClr val="A4A3A4"/>
          </p15:clr>
        </p15:guide>
        <p15:guide id="2" pos="47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717EFC-BC44-4818-8847-44800897FC59}" v="26" dt="2025-05-25T03:42:30.31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96" autoAdjust="0"/>
    <p:restoredTop sz="94660"/>
  </p:normalViewPr>
  <p:slideViewPr>
    <p:cSldViewPr showGuides="1">
      <p:cViewPr>
        <p:scale>
          <a:sx n="66" d="100"/>
          <a:sy n="66" d="100"/>
        </p:scale>
        <p:origin x="-84" y="-136"/>
      </p:cViewPr>
      <p:guideLst>
        <p:guide orient="horz" pos="3368"/>
        <p:guide pos="476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59DA592-5F88-E54B-954E-C3C136F3960C}"/>
              </a:ext>
            </a:extLst>
          </p:cNvPr>
          <p:cNvSpPr>
            <a:spLocks noGrp="1" noChangeArrowheads="1"/>
          </p:cNvSpPr>
          <p:nvPr>
            <p:ph type="hdr" sz="quarter"/>
          </p:nvPr>
        </p:nvSpPr>
        <p:spPr bwMode="auto">
          <a:xfrm>
            <a:off x="0" y="0"/>
            <a:ext cx="6324600" cy="1055688"/>
          </a:xfrm>
          <a:prstGeom prst="rect">
            <a:avLst/>
          </a:prstGeom>
          <a:noFill/>
          <a:ln w="9525">
            <a:noFill/>
            <a:miter lim="800000"/>
            <a:headEnd/>
            <a:tailEnd/>
          </a:ln>
          <a:effectLst/>
        </p:spPr>
        <p:txBody>
          <a:bodyPr vert="horz" wrap="square" lIns="196900" tIns="98450" rIns="196900" bIns="98450" numCol="1" anchor="t" anchorCtr="0" compatLnSpc="1">
            <a:prstTxWarp prst="textNoShape">
              <a:avLst/>
            </a:prstTxWarp>
          </a:bodyPr>
          <a:lstStyle>
            <a:lvl1pPr defTabSz="1968500">
              <a:defRPr sz="2600">
                <a:ea typeface="ＭＳ Ｐゴシック" pitchFamily="50" charset="-128"/>
              </a:defRPr>
            </a:lvl1pPr>
          </a:lstStyle>
          <a:p>
            <a:pPr>
              <a:defRPr/>
            </a:pPr>
            <a:endParaRPr lang="en-US" altLang="ja-JP"/>
          </a:p>
        </p:txBody>
      </p:sp>
      <p:sp>
        <p:nvSpPr>
          <p:cNvPr id="5123" name="Rectangle 3">
            <a:extLst>
              <a:ext uri="{FF2B5EF4-FFF2-40B4-BE49-F238E27FC236}">
                <a16:creationId xmlns:a16="http://schemas.microsoft.com/office/drawing/2014/main" id="{BD05C139-080E-2548-AEA9-AF5A6E6E659D}"/>
              </a:ext>
            </a:extLst>
          </p:cNvPr>
          <p:cNvSpPr>
            <a:spLocks noGrp="1" noChangeArrowheads="1"/>
          </p:cNvSpPr>
          <p:nvPr>
            <p:ph type="dt" sz="quarter" idx="1"/>
          </p:nvPr>
        </p:nvSpPr>
        <p:spPr bwMode="auto">
          <a:xfrm>
            <a:off x="8272463" y="0"/>
            <a:ext cx="6324600" cy="1055688"/>
          </a:xfrm>
          <a:prstGeom prst="rect">
            <a:avLst/>
          </a:prstGeom>
          <a:noFill/>
          <a:ln w="9525">
            <a:noFill/>
            <a:miter lim="800000"/>
            <a:headEnd/>
            <a:tailEnd/>
          </a:ln>
          <a:effectLst/>
        </p:spPr>
        <p:txBody>
          <a:bodyPr vert="horz" wrap="square" lIns="196900" tIns="98450" rIns="196900" bIns="98450" numCol="1" anchor="t" anchorCtr="0" compatLnSpc="1">
            <a:prstTxWarp prst="textNoShape">
              <a:avLst/>
            </a:prstTxWarp>
          </a:bodyPr>
          <a:lstStyle>
            <a:lvl1pPr algn="r" defTabSz="1968500">
              <a:defRPr sz="2600">
                <a:ea typeface="ＭＳ Ｐゴシック" pitchFamily="50" charset="-128"/>
              </a:defRPr>
            </a:lvl1pPr>
          </a:lstStyle>
          <a:p>
            <a:pPr>
              <a:defRPr/>
            </a:pPr>
            <a:endParaRPr lang="en-US" altLang="ja-JP"/>
          </a:p>
        </p:txBody>
      </p:sp>
      <p:sp>
        <p:nvSpPr>
          <p:cNvPr id="5124" name="Rectangle 4">
            <a:extLst>
              <a:ext uri="{FF2B5EF4-FFF2-40B4-BE49-F238E27FC236}">
                <a16:creationId xmlns:a16="http://schemas.microsoft.com/office/drawing/2014/main" id="{D3027D88-FF63-544E-B8F1-CD9CD49FE1BC}"/>
              </a:ext>
            </a:extLst>
          </p:cNvPr>
          <p:cNvSpPr>
            <a:spLocks noGrp="1" noChangeArrowheads="1"/>
          </p:cNvSpPr>
          <p:nvPr>
            <p:ph type="ftr" sz="quarter" idx="2"/>
          </p:nvPr>
        </p:nvSpPr>
        <p:spPr bwMode="auto">
          <a:xfrm>
            <a:off x="0" y="20051713"/>
            <a:ext cx="6324600" cy="1055687"/>
          </a:xfrm>
          <a:prstGeom prst="rect">
            <a:avLst/>
          </a:prstGeom>
          <a:noFill/>
          <a:ln w="9525">
            <a:noFill/>
            <a:miter lim="800000"/>
            <a:headEnd/>
            <a:tailEnd/>
          </a:ln>
          <a:effectLst/>
        </p:spPr>
        <p:txBody>
          <a:bodyPr vert="horz" wrap="square" lIns="196900" tIns="98450" rIns="196900" bIns="98450" numCol="1" anchor="b" anchorCtr="0" compatLnSpc="1">
            <a:prstTxWarp prst="textNoShape">
              <a:avLst/>
            </a:prstTxWarp>
          </a:bodyPr>
          <a:lstStyle>
            <a:lvl1pPr defTabSz="1968500">
              <a:defRPr sz="2600">
                <a:ea typeface="ＭＳ Ｐゴシック" pitchFamily="50" charset="-128"/>
              </a:defRPr>
            </a:lvl1pPr>
          </a:lstStyle>
          <a:p>
            <a:pPr>
              <a:defRPr/>
            </a:pPr>
            <a:endParaRPr lang="en-US" altLang="ja-JP"/>
          </a:p>
        </p:txBody>
      </p:sp>
      <p:sp>
        <p:nvSpPr>
          <p:cNvPr id="5125" name="Rectangle 5">
            <a:extLst>
              <a:ext uri="{FF2B5EF4-FFF2-40B4-BE49-F238E27FC236}">
                <a16:creationId xmlns:a16="http://schemas.microsoft.com/office/drawing/2014/main" id="{25E8D4B3-1F5B-9044-B886-14F6FE333E98}"/>
              </a:ext>
            </a:extLst>
          </p:cNvPr>
          <p:cNvSpPr>
            <a:spLocks noGrp="1" noChangeArrowheads="1"/>
          </p:cNvSpPr>
          <p:nvPr>
            <p:ph type="sldNum" sz="quarter" idx="3"/>
          </p:nvPr>
        </p:nvSpPr>
        <p:spPr bwMode="auto">
          <a:xfrm>
            <a:off x="8272463" y="20051713"/>
            <a:ext cx="6324600" cy="1055687"/>
          </a:xfrm>
          <a:prstGeom prst="rect">
            <a:avLst/>
          </a:prstGeom>
          <a:noFill/>
          <a:ln w="9525">
            <a:noFill/>
            <a:miter lim="800000"/>
            <a:headEnd/>
            <a:tailEnd/>
          </a:ln>
          <a:effectLst/>
        </p:spPr>
        <p:txBody>
          <a:bodyPr vert="horz" wrap="square" lIns="196900" tIns="98450" rIns="196900" bIns="98450" numCol="1" anchor="b" anchorCtr="0" compatLnSpc="1">
            <a:prstTxWarp prst="textNoShape">
              <a:avLst/>
            </a:prstTxWarp>
          </a:bodyPr>
          <a:lstStyle>
            <a:lvl1pPr algn="r" defTabSz="1968500">
              <a:defRPr sz="2600"/>
            </a:lvl1pPr>
          </a:lstStyle>
          <a:p>
            <a:fld id="{1EFC8496-1004-0F49-ADCE-70E852CADCBA}" type="slidenum">
              <a:rPr lang="en-US" altLang="ja-JP"/>
              <a:pPr/>
              <a:t>‹#›</a:t>
            </a:fld>
            <a:endParaRPr lang="en-US" altLang="ja-JP"/>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25C1222-AA60-AB4C-BA33-9EB6EC90F970}"/>
              </a:ext>
            </a:extLst>
          </p:cNvPr>
          <p:cNvSpPr>
            <a:spLocks noGrp="1" noChangeArrowheads="1"/>
          </p:cNvSpPr>
          <p:nvPr>
            <p:ph type="hdr" sz="quarter"/>
          </p:nvPr>
        </p:nvSpPr>
        <p:spPr bwMode="auto">
          <a:xfrm>
            <a:off x="0" y="0"/>
            <a:ext cx="6326188" cy="10556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6147" name="Rectangle 3">
            <a:extLst>
              <a:ext uri="{FF2B5EF4-FFF2-40B4-BE49-F238E27FC236}">
                <a16:creationId xmlns:a16="http://schemas.microsoft.com/office/drawing/2014/main" id="{5D335703-604D-8840-B55C-E70670A6FC28}"/>
              </a:ext>
            </a:extLst>
          </p:cNvPr>
          <p:cNvSpPr>
            <a:spLocks noGrp="1" noChangeArrowheads="1"/>
          </p:cNvSpPr>
          <p:nvPr>
            <p:ph type="dt" idx="1"/>
          </p:nvPr>
        </p:nvSpPr>
        <p:spPr bwMode="auto">
          <a:xfrm>
            <a:off x="8267700" y="0"/>
            <a:ext cx="6326188" cy="10556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ＭＳ Ｐゴシック" pitchFamily="50" charset="-128"/>
              </a:defRPr>
            </a:lvl1pPr>
          </a:lstStyle>
          <a:p>
            <a:pPr>
              <a:defRPr/>
            </a:pPr>
            <a:endParaRPr lang="en-US" altLang="ja-JP"/>
          </a:p>
        </p:txBody>
      </p:sp>
      <p:sp>
        <p:nvSpPr>
          <p:cNvPr id="4100" name="Rectangle 4">
            <a:extLst>
              <a:ext uri="{FF2B5EF4-FFF2-40B4-BE49-F238E27FC236}">
                <a16:creationId xmlns:a16="http://schemas.microsoft.com/office/drawing/2014/main" id="{8FE3D853-B0C1-1A42-B2E2-6DB951ED3511}"/>
              </a:ext>
            </a:extLst>
          </p:cNvPr>
          <p:cNvSpPr>
            <a:spLocks noGrp="1" noRot="1" noChangeAspect="1" noChangeArrowheads="1" noTextEdit="1"/>
          </p:cNvSpPr>
          <p:nvPr>
            <p:ph type="sldImg" idx="2"/>
          </p:nvPr>
        </p:nvSpPr>
        <p:spPr bwMode="auto">
          <a:xfrm>
            <a:off x="1703388" y="1582738"/>
            <a:ext cx="11191875" cy="791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AC885E8F-8EB1-E24A-B86E-C9C053B954D7}"/>
              </a:ext>
            </a:extLst>
          </p:cNvPr>
          <p:cNvSpPr>
            <a:spLocks noGrp="1" noChangeArrowheads="1"/>
          </p:cNvSpPr>
          <p:nvPr>
            <p:ph type="body" sz="quarter" idx="3"/>
          </p:nvPr>
        </p:nvSpPr>
        <p:spPr bwMode="auto">
          <a:xfrm>
            <a:off x="1460500" y="10026650"/>
            <a:ext cx="11677650" cy="9498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150" name="Rectangle 6">
            <a:extLst>
              <a:ext uri="{FF2B5EF4-FFF2-40B4-BE49-F238E27FC236}">
                <a16:creationId xmlns:a16="http://schemas.microsoft.com/office/drawing/2014/main" id="{68145291-64F3-C949-83D1-094C2285CB0B}"/>
              </a:ext>
            </a:extLst>
          </p:cNvPr>
          <p:cNvSpPr>
            <a:spLocks noGrp="1" noChangeArrowheads="1"/>
          </p:cNvSpPr>
          <p:nvPr>
            <p:ph type="ftr" sz="quarter" idx="4"/>
          </p:nvPr>
        </p:nvSpPr>
        <p:spPr bwMode="auto">
          <a:xfrm>
            <a:off x="0" y="20048538"/>
            <a:ext cx="6326188" cy="10556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ＭＳ Ｐゴシック" pitchFamily="50" charset="-128"/>
              </a:defRPr>
            </a:lvl1pPr>
          </a:lstStyle>
          <a:p>
            <a:pPr>
              <a:defRPr/>
            </a:pPr>
            <a:endParaRPr lang="en-US" altLang="ja-JP"/>
          </a:p>
        </p:txBody>
      </p:sp>
      <p:sp>
        <p:nvSpPr>
          <p:cNvPr id="6151" name="Rectangle 7">
            <a:extLst>
              <a:ext uri="{FF2B5EF4-FFF2-40B4-BE49-F238E27FC236}">
                <a16:creationId xmlns:a16="http://schemas.microsoft.com/office/drawing/2014/main" id="{8E39246C-E20F-E04F-A03D-FD095DC1D539}"/>
              </a:ext>
            </a:extLst>
          </p:cNvPr>
          <p:cNvSpPr>
            <a:spLocks noGrp="1" noChangeArrowheads="1"/>
          </p:cNvSpPr>
          <p:nvPr>
            <p:ph type="sldNum" sz="quarter" idx="5"/>
          </p:nvPr>
        </p:nvSpPr>
        <p:spPr bwMode="auto">
          <a:xfrm>
            <a:off x="8267700" y="20048538"/>
            <a:ext cx="6326188" cy="10556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DB0DEA4-E0F6-FD42-B43D-9FF702984A75}"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1pPr>
    <a:lvl2pPr marL="52674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2pPr>
    <a:lvl3pPr marL="105348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3pPr>
    <a:lvl4pPr marL="158022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4pPr>
    <a:lvl5pPr marL="2106960" algn="l" rtl="0" eaLnBrk="0" fontAlgn="base" hangingPunct="0">
      <a:spcBef>
        <a:spcPct val="30000"/>
      </a:spcBef>
      <a:spcAft>
        <a:spcPct val="0"/>
      </a:spcAft>
      <a:defRPr kumimoji="1" sz="1383" kern="1200">
        <a:solidFill>
          <a:schemeClr val="tx1"/>
        </a:solidFill>
        <a:latin typeface="Times New Roman" pitchFamily="18" charset="0"/>
        <a:ea typeface="ＭＳ Ｐ明朝" pitchFamily="18" charset="-128"/>
        <a:cs typeface="+mn-cs"/>
      </a:defRPr>
    </a:lvl5pPr>
    <a:lvl6pPr marL="2633701" algn="l" defTabSz="1053480" rtl="0" eaLnBrk="1" latinLnBrk="0" hangingPunct="1">
      <a:defRPr kumimoji="1" sz="1383" kern="1200">
        <a:solidFill>
          <a:schemeClr val="tx1"/>
        </a:solidFill>
        <a:latin typeface="+mn-lt"/>
        <a:ea typeface="+mn-ea"/>
        <a:cs typeface="+mn-cs"/>
      </a:defRPr>
    </a:lvl6pPr>
    <a:lvl7pPr marL="3160441" algn="l" defTabSz="1053480" rtl="0" eaLnBrk="1" latinLnBrk="0" hangingPunct="1">
      <a:defRPr kumimoji="1" sz="1383" kern="1200">
        <a:solidFill>
          <a:schemeClr val="tx1"/>
        </a:solidFill>
        <a:latin typeface="+mn-lt"/>
        <a:ea typeface="+mn-ea"/>
        <a:cs typeface="+mn-cs"/>
      </a:defRPr>
    </a:lvl7pPr>
    <a:lvl8pPr marL="3687181" algn="l" defTabSz="1053480" rtl="0" eaLnBrk="1" latinLnBrk="0" hangingPunct="1">
      <a:defRPr kumimoji="1" sz="1383" kern="1200">
        <a:solidFill>
          <a:schemeClr val="tx1"/>
        </a:solidFill>
        <a:latin typeface="+mn-lt"/>
        <a:ea typeface="+mn-ea"/>
        <a:cs typeface="+mn-cs"/>
      </a:defRPr>
    </a:lvl8pPr>
    <a:lvl9pPr marL="4213921" algn="l" defTabSz="1053480" rtl="0" eaLnBrk="1" latinLnBrk="0" hangingPunct="1">
      <a:defRPr kumimoji="1" sz="1383"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アブストラクトページ用（プライマリークラス）">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985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1C593D-50EE-492C-BF62-7061D8451F9F}"/>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771528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2227AF-C1D2-4D5B-BB89-3FC06B4051D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C9BB6EF-1BBD-44F7-8105-357758AD351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5177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378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ja-JP" altLang="en-US"/>
              <a:t>マスター タイトルの書式設定</a:t>
            </a:r>
            <a:endParaRPr lang="en-US" dirty="0"/>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31486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89655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solidFill>
              </a:defRPr>
            </a:lvl1pPr>
            <a:lvl2pPr marL="712775" indent="0">
              <a:buNone/>
              <a:defRPr sz="3118">
                <a:solidFill>
                  <a:schemeClr val="tx1">
                    <a:tint val="75000"/>
                  </a:schemeClr>
                </a:solidFill>
              </a:defRPr>
            </a:lvl2pPr>
            <a:lvl3pPr marL="1425550" indent="0">
              <a:buNone/>
              <a:defRPr sz="2806">
                <a:solidFill>
                  <a:schemeClr val="tx1">
                    <a:tint val="75000"/>
                  </a:schemeClr>
                </a:solidFill>
              </a:defRPr>
            </a:lvl3pPr>
            <a:lvl4pPr marL="2138324" indent="0">
              <a:buNone/>
              <a:defRPr sz="2494">
                <a:solidFill>
                  <a:schemeClr val="tx1">
                    <a:tint val="75000"/>
                  </a:schemeClr>
                </a:solidFill>
              </a:defRPr>
            </a:lvl4pPr>
            <a:lvl5pPr marL="2851099" indent="0">
              <a:buNone/>
              <a:defRPr sz="2494">
                <a:solidFill>
                  <a:schemeClr val="tx1">
                    <a:tint val="75000"/>
                  </a:schemeClr>
                </a:solidFill>
              </a:defRPr>
            </a:lvl5pPr>
            <a:lvl6pPr marL="3563874" indent="0">
              <a:buNone/>
              <a:defRPr sz="2494">
                <a:solidFill>
                  <a:schemeClr val="tx1">
                    <a:tint val="75000"/>
                  </a:schemeClr>
                </a:solidFill>
              </a:defRPr>
            </a:lvl6pPr>
            <a:lvl7pPr marL="4276649" indent="0">
              <a:buNone/>
              <a:defRPr sz="2494">
                <a:solidFill>
                  <a:schemeClr val="tx1">
                    <a:tint val="75000"/>
                  </a:schemeClr>
                </a:solidFill>
              </a:defRPr>
            </a:lvl7pPr>
            <a:lvl8pPr marL="4989424" indent="0">
              <a:buNone/>
              <a:defRPr sz="2494">
                <a:solidFill>
                  <a:schemeClr val="tx1">
                    <a:tint val="75000"/>
                  </a:schemeClr>
                </a:solidFill>
              </a:defRPr>
            </a:lvl8pPr>
            <a:lvl9pPr marL="5702198" indent="0">
              <a:buNone/>
              <a:defRPr sz="2494">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dirty="0"/>
              <a:t>8/25/2025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64629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39455" y="2846200"/>
            <a:ext cx="6425724" cy="67838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7654171" y="2846200"/>
            <a:ext cx="6425724" cy="678385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8/25/2025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6030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ja-JP" altLang="en-US"/>
              <a:t>マスター テキストの書式設定</a:t>
            </a:r>
          </a:p>
        </p:txBody>
      </p:sp>
      <p:sp>
        <p:nvSpPr>
          <p:cNvPr id="4" name="Content Placeholder 3"/>
          <p:cNvSpPr>
            <a:spLocks noGrp="1"/>
          </p:cNvSpPr>
          <p:nvPr>
            <p:ph sz="half" idx="2"/>
          </p:nvPr>
        </p:nvSpPr>
        <p:spPr>
          <a:xfrm>
            <a:off x="1041426" y="3905482"/>
            <a:ext cx="6396193" cy="57443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ja-JP" altLang="en-US"/>
              <a:t>マスター テキストの書式設定</a:t>
            </a:r>
          </a:p>
        </p:txBody>
      </p:sp>
      <p:sp>
        <p:nvSpPr>
          <p:cNvPr id="6" name="Content Placeholder 5"/>
          <p:cNvSpPr>
            <a:spLocks noGrp="1"/>
          </p:cNvSpPr>
          <p:nvPr>
            <p:ph sz="quarter" idx="4"/>
          </p:nvPr>
        </p:nvSpPr>
        <p:spPr>
          <a:xfrm>
            <a:off x="7654172" y="3905482"/>
            <a:ext cx="6427693" cy="574437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8/25/2025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5513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8/25/2025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78476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8/25/2025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60059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ja-JP" altLang="en-US"/>
              <a:t>マスター タイトルの書式設定</a:t>
            </a:r>
            <a:endParaRPr lang="en-US" dirty="0"/>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8/25/2025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0747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8/25/2025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198936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67774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8/25/2025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720142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6505887"/>
      </p:ext>
    </p:extLst>
  </p:cSld>
  <p:clrMap bg1="lt1" tx1="dk1" bg2="lt2" tx2="dk2" accent1="accent1" accent2="accent2" accent3="accent3" accent4="accent4" accent5="accent5" accent6="accent6" hlink="hlink" folHlink="folHlink"/>
  <p:sldLayoutIdLst>
    <p:sldLayoutId id="2147483666" r:id="rId1"/>
  </p:sldLayoutIdLst>
  <p:txStyles>
    <p:titleStyle>
      <a:lvl1pPr algn="l" defTabSz="862174" rtl="0" eaLnBrk="1" latinLnBrk="0" hangingPunct="1">
        <a:lnSpc>
          <a:spcPct val="90000"/>
        </a:lnSpc>
        <a:spcBef>
          <a:spcPct val="0"/>
        </a:spcBef>
        <a:buNone/>
        <a:defRPr kumimoji="1" sz="4148" kern="1200">
          <a:solidFill>
            <a:schemeClr val="tx1"/>
          </a:solidFill>
          <a:latin typeface="+mj-lt"/>
          <a:ea typeface="+mj-ea"/>
          <a:cs typeface="+mj-cs"/>
        </a:defRPr>
      </a:lvl1pPr>
    </p:titleStyle>
    <p:bodyStyle>
      <a:lvl1pPr marL="215544" indent="-215544" algn="l" defTabSz="862174" rtl="0" eaLnBrk="1" latinLnBrk="0" hangingPunct="1">
        <a:lnSpc>
          <a:spcPct val="90000"/>
        </a:lnSpc>
        <a:spcBef>
          <a:spcPts val="943"/>
        </a:spcBef>
        <a:buFont typeface="Arial" panose="020B0604020202020204" pitchFamily="34" charset="0"/>
        <a:buChar char="•"/>
        <a:defRPr kumimoji="1" sz="2640" kern="1200">
          <a:solidFill>
            <a:schemeClr val="tx1"/>
          </a:solidFill>
          <a:latin typeface="+mn-lt"/>
          <a:ea typeface="+mn-ea"/>
          <a:cs typeface="+mn-cs"/>
        </a:defRPr>
      </a:lvl1pPr>
      <a:lvl2pPr marL="646631" indent="-215544" algn="l" defTabSz="862174" rtl="0" eaLnBrk="1" latinLnBrk="0" hangingPunct="1">
        <a:lnSpc>
          <a:spcPct val="90000"/>
        </a:lnSpc>
        <a:spcBef>
          <a:spcPts val="471"/>
        </a:spcBef>
        <a:buFont typeface="Arial" panose="020B0604020202020204" pitchFamily="34" charset="0"/>
        <a:buChar char="•"/>
        <a:defRPr kumimoji="1" sz="2263" kern="1200">
          <a:solidFill>
            <a:schemeClr val="tx1"/>
          </a:solidFill>
          <a:latin typeface="+mn-lt"/>
          <a:ea typeface="+mn-ea"/>
          <a:cs typeface="+mn-cs"/>
        </a:defRPr>
      </a:lvl2pPr>
      <a:lvl3pPr marL="1077718" indent="-215544" algn="l" defTabSz="862174" rtl="0" eaLnBrk="1" latinLnBrk="0" hangingPunct="1">
        <a:lnSpc>
          <a:spcPct val="90000"/>
        </a:lnSpc>
        <a:spcBef>
          <a:spcPts val="471"/>
        </a:spcBef>
        <a:buFont typeface="Arial" panose="020B0604020202020204" pitchFamily="34" charset="0"/>
        <a:buChar char="•"/>
        <a:defRPr kumimoji="1" sz="1885" kern="1200">
          <a:solidFill>
            <a:schemeClr val="tx1"/>
          </a:solidFill>
          <a:latin typeface="+mn-lt"/>
          <a:ea typeface="+mn-ea"/>
          <a:cs typeface="+mn-cs"/>
        </a:defRPr>
      </a:lvl3pPr>
      <a:lvl4pPr marL="1508804"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4pPr>
      <a:lvl5pPr marL="1939892"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5pPr>
      <a:lvl6pPr marL="2370979"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6pPr>
      <a:lvl7pPr marL="2802066"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7pPr>
      <a:lvl8pPr marL="3233153"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8pPr>
      <a:lvl9pPr marL="3664241" indent="-215544" algn="l" defTabSz="862174" rtl="0" eaLnBrk="1" latinLnBrk="0" hangingPunct="1">
        <a:lnSpc>
          <a:spcPct val="90000"/>
        </a:lnSpc>
        <a:spcBef>
          <a:spcPts val="471"/>
        </a:spcBef>
        <a:buFont typeface="Arial" panose="020B0604020202020204" pitchFamily="34" charset="0"/>
        <a:buChar char="•"/>
        <a:defRPr kumimoji="1" sz="1697" kern="1200">
          <a:solidFill>
            <a:schemeClr val="tx1"/>
          </a:solidFill>
          <a:latin typeface="+mn-lt"/>
          <a:ea typeface="+mn-ea"/>
          <a:cs typeface="+mn-cs"/>
        </a:defRPr>
      </a:lvl9pPr>
    </p:bodyStyle>
    <p:otherStyle>
      <a:defPPr>
        <a:defRPr lang="ja-JP"/>
      </a:defPPr>
      <a:lvl1pPr marL="0" algn="l" defTabSz="862174" rtl="0" eaLnBrk="1" latinLnBrk="0" hangingPunct="1">
        <a:defRPr kumimoji="1" sz="1697" kern="1200">
          <a:solidFill>
            <a:schemeClr val="tx1"/>
          </a:solidFill>
          <a:latin typeface="+mn-lt"/>
          <a:ea typeface="+mn-ea"/>
          <a:cs typeface="+mn-cs"/>
        </a:defRPr>
      </a:lvl1pPr>
      <a:lvl2pPr marL="431087" algn="l" defTabSz="862174" rtl="0" eaLnBrk="1" latinLnBrk="0" hangingPunct="1">
        <a:defRPr kumimoji="1" sz="1697" kern="1200">
          <a:solidFill>
            <a:schemeClr val="tx1"/>
          </a:solidFill>
          <a:latin typeface="+mn-lt"/>
          <a:ea typeface="+mn-ea"/>
          <a:cs typeface="+mn-cs"/>
        </a:defRPr>
      </a:lvl2pPr>
      <a:lvl3pPr marL="862174" algn="l" defTabSz="862174" rtl="0" eaLnBrk="1" latinLnBrk="0" hangingPunct="1">
        <a:defRPr kumimoji="1" sz="1697" kern="1200">
          <a:solidFill>
            <a:schemeClr val="tx1"/>
          </a:solidFill>
          <a:latin typeface="+mn-lt"/>
          <a:ea typeface="+mn-ea"/>
          <a:cs typeface="+mn-cs"/>
        </a:defRPr>
      </a:lvl3pPr>
      <a:lvl4pPr marL="1293262" algn="l" defTabSz="862174" rtl="0" eaLnBrk="1" latinLnBrk="0" hangingPunct="1">
        <a:defRPr kumimoji="1" sz="1697" kern="1200">
          <a:solidFill>
            <a:schemeClr val="tx1"/>
          </a:solidFill>
          <a:latin typeface="+mn-lt"/>
          <a:ea typeface="+mn-ea"/>
          <a:cs typeface="+mn-cs"/>
        </a:defRPr>
      </a:lvl4pPr>
      <a:lvl5pPr marL="1724348" algn="l" defTabSz="862174" rtl="0" eaLnBrk="1" latinLnBrk="0" hangingPunct="1">
        <a:defRPr kumimoji="1" sz="1697" kern="1200">
          <a:solidFill>
            <a:schemeClr val="tx1"/>
          </a:solidFill>
          <a:latin typeface="+mn-lt"/>
          <a:ea typeface="+mn-ea"/>
          <a:cs typeface="+mn-cs"/>
        </a:defRPr>
      </a:lvl5pPr>
      <a:lvl6pPr marL="2155435" algn="l" defTabSz="862174" rtl="0" eaLnBrk="1" latinLnBrk="0" hangingPunct="1">
        <a:defRPr kumimoji="1" sz="1697" kern="1200">
          <a:solidFill>
            <a:schemeClr val="tx1"/>
          </a:solidFill>
          <a:latin typeface="+mn-lt"/>
          <a:ea typeface="+mn-ea"/>
          <a:cs typeface="+mn-cs"/>
        </a:defRPr>
      </a:lvl6pPr>
      <a:lvl7pPr marL="2586522" algn="l" defTabSz="862174" rtl="0" eaLnBrk="1" latinLnBrk="0" hangingPunct="1">
        <a:defRPr kumimoji="1" sz="1697" kern="1200">
          <a:solidFill>
            <a:schemeClr val="tx1"/>
          </a:solidFill>
          <a:latin typeface="+mn-lt"/>
          <a:ea typeface="+mn-ea"/>
          <a:cs typeface="+mn-cs"/>
        </a:defRPr>
      </a:lvl7pPr>
      <a:lvl8pPr marL="3017610" algn="l" defTabSz="862174" rtl="0" eaLnBrk="1" latinLnBrk="0" hangingPunct="1">
        <a:defRPr kumimoji="1" sz="1697" kern="1200">
          <a:solidFill>
            <a:schemeClr val="tx1"/>
          </a:solidFill>
          <a:latin typeface="+mn-lt"/>
          <a:ea typeface="+mn-ea"/>
          <a:cs typeface="+mn-cs"/>
        </a:defRPr>
      </a:lvl8pPr>
      <a:lvl9pPr marL="3448697" algn="l" defTabSz="862174" rtl="0" eaLnBrk="1" latinLnBrk="0" hangingPunct="1">
        <a:defRPr kumimoji="1" sz="169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FD3455A-94BB-4384-9D81-3373DDA6E786}"/>
              </a:ext>
            </a:extLst>
          </p:cNvPr>
          <p:cNvSpPr>
            <a:spLocks noGrp="1"/>
          </p:cNvSpPr>
          <p:nvPr>
            <p:ph type="title"/>
          </p:nvPr>
        </p:nvSpPr>
        <p:spPr>
          <a:xfrm>
            <a:off x="1038706" y="569241"/>
            <a:ext cx="13041939" cy="927667"/>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AD97918-B164-4912-9485-26849240275E}"/>
              </a:ext>
            </a:extLst>
          </p:cNvPr>
          <p:cNvSpPr>
            <a:spLocks noGrp="1"/>
          </p:cNvSpPr>
          <p:nvPr>
            <p:ph type="body" idx="1"/>
          </p:nvPr>
        </p:nvSpPr>
        <p:spPr>
          <a:xfrm>
            <a:off x="1038706" y="1416720"/>
            <a:ext cx="13041939" cy="898099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799147502"/>
      </p:ext>
    </p:extLst>
  </p:cSld>
  <p:clrMap bg1="lt1" tx1="dk1" bg2="lt2" tx2="dk2" accent1="accent1" accent2="accent2" accent3="accent3" accent4="accent4" accent5="accent5" accent6="accent6" hlink="hlink" folHlink="folHlink"/>
  <p:sldLayoutIdLst>
    <p:sldLayoutId id="2147483659" r:id="rId1"/>
    <p:sldLayoutId id="2147483655" r:id="rId2"/>
    <p:sldLayoutId id="2147483660" r:id="rId3"/>
  </p:sldLayoutIdLst>
  <p:txStyles>
    <p:titleStyle>
      <a:lvl1pPr algn="l" defTabSz="1018276" rtl="0" eaLnBrk="1" latinLnBrk="0" hangingPunct="1">
        <a:lnSpc>
          <a:spcPct val="90000"/>
        </a:lnSpc>
        <a:spcBef>
          <a:spcPct val="0"/>
        </a:spcBef>
        <a:buNone/>
        <a:defRPr kumimoji="1" sz="4900" kern="1200">
          <a:solidFill>
            <a:schemeClr val="tx1"/>
          </a:solidFill>
          <a:latin typeface="+mj-lt"/>
          <a:ea typeface="+mj-ea"/>
          <a:cs typeface="+mj-cs"/>
        </a:defRPr>
      </a:lvl1pPr>
    </p:titleStyle>
    <p:bodyStyle>
      <a:lvl1pPr marL="254569" indent="-254569" algn="l" defTabSz="1018276" rtl="0" eaLnBrk="1" latinLnBrk="0" hangingPunct="1">
        <a:lnSpc>
          <a:spcPct val="90000"/>
        </a:lnSpc>
        <a:spcBef>
          <a:spcPts val="1114"/>
        </a:spcBef>
        <a:buFont typeface="Arial" panose="020B0604020202020204" pitchFamily="34" charset="0"/>
        <a:buChar char="•"/>
        <a:defRPr kumimoji="1" sz="3118" kern="1200">
          <a:solidFill>
            <a:schemeClr val="tx1"/>
          </a:solidFill>
          <a:latin typeface="+mn-lt"/>
          <a:ea typeface="+mn-ea"/>
          <a:cs typeface="+mn-cs"/>
        </a:defRPr>
      </a:lvl1pPr>
      <a:lvl2pPr marL="763707" indent="-254569" algn="l" defTabSz="1018276" rtl="0" eaLnBrk="1" latinLnBrk="0" hangingPunct="1">
        <a:lnSpc>
          <a:spcPct val="90000"/>
        </a:lnSpc>
        <a:spcBef>
          <a:spcPts val="557"/>
        </a:spcBef>
        <a:buFont typeface="Arial" panose="020B0604020202020204" pitchFamily="34" charset="0"/>
        <a:buChar char="•"/>
        <a:defRPr kumimoji="1" sz="2673" kern="1200">
          <a:solidFill>
            <a:schemeClr val="tx1"/>
          </a:solidFill>
          <a:latin typeface="+mn-lt"/>
          <a:ea typeface="+mn-ea"/>
          <a:cs typeface="+mn-cs"/>
        </a:defRPr>
      </a:lvl2pPr>
      <a:lvl3pPr marL="1272845" indent="-254569" algn="l" defTabSz="1018276" rtl="0" eaLnBrk="1" latinLnBrk="0" hangingPunct="1">
        <a:lnSpc>
          <a:spcPct val="90000"/>
        </a:lnSpc>
        <a:spcBef>
          <a:spcPts val="557"/>
        </a:spcBef>
        <a:buFont typeface="Arial" panose="020B0604020202020204" pitchFamily="34" charset="0"/>
        <a:buChar char="•"/>
        <a:defRPr kumimoji="1" sz="2227" kern="1200">
          <a:solidFill>
            <a:schemeClr val="tx1"/>
          </a:solidFill>
          <a:latin typeface="+mn-lt"/>
          <a:ea typeface="+mn-ea"/>
          <a:cs typeface="+mn-cs"/>
        </a:defRPr>
      </a:lvl3pPr>
      <a:lvl4pPr marL="1781983"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4pPr>
      <a:lvl5pPr marL="2291121"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5pPr>
      <a:lvl6pPr marL="2800259"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6pPr>
      <a:lvl7pPr marL="3309396"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7pPr>
      <a:lvl8pPr marL="3818534"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8pPr>
      <a:lvl9pPr marL="4327672" indent="-254569" algn="l" defTabSz="1018276" rtl="0" eaLnBrk="1" latinLnBrk="0" hangingPunct="1">
        <a:lnSpc>
          <a:spcPct val="90000"/>
        </a:lnSpc>
        <a:spcBef>
          <a:spcPts val="557"/>
        </a:spcBef>
        <a:buFont typeface="Arial" panose="020B0604020202020204" pitchFamily="34" charset="0"/>
        <a:buChar char="•"/>
        <a:defRPr kumimoji="1" sz="2004" kern="1200">
          <a:solidFill>
            <a:schemeClr val="tx1"/>
          </a:solidFill>
          <a:latin typeface="+mn-lt"/>
          <a:ea typeface="+mn-ea"/>
          <a:cs typeface="+mn-cs"/>
        </a:defRPr>
      </a:lvl9pPr>
    </p:bodyStyle>
    <p:otherStyle>
      <a:defPPr>
        <a:defRPr lang="ja-JP"/>
      </a:defPPr>
      <a:lvl1pPr marL="0" algn="l" defTabSz="1018276" rtl="0" eaLnBrk="1" latinLnBrk="0" hangingPunct="1">
        <a:defRPr kumimoji="1" sz="2004" kern="1200">
          <a:solidFill>
            <a:schemeClr val="tx1"/>
          </a:solidFill>
          <a:latin typeface="+mn-lt"/>
          <a:ea typeface="+mn-ea"/>
          <a:cs typeface="+mn-cs"/>
        </a:defRPr>
      </a:lvl1pPr>
      <a:lvl2pPr marL="509138" algn="l" defTabSz="1018276" rtl="0" eaLnBrk="1" latinLnBrk="0" hangingPunct="1">
        <a:defRPr kumimoji="1" sz="2004" kern="1200">
          <a:solidFill>
            <a:schemeClr val="tx1"/>
          </a:solidFill>
          <a:latin typeface="+mn-lt"/>
          <a:ea typeface="+mn-ea"/>
          <a:cs typeface="+mn-cs"/>
        </a:defRPr>
      </a:lvl2pPr>
      <a:lvl3pPr marL="1018276" algn="l" defTabSz="1018276" rtl="0" eaLnBrk="1" latinLnBrk="0" hangingPunct="1">
        <a:defRPr kumimoji="1" sz="2004" kern="1200">
          <a:solidFill>
            <a:schemeClr val="tx1"/>
          </a:solidFill>
          <a:latin typeface="+mn-lt"/>
          <a:ea typeface="+mn-ea"/>
          <a:cs typeface="+mn-cs"/>
        </a:defRPr>
      </a:lvl3pPr>
      <a:lvl4pPr marL="1527414" algn="l" defTabSz="1018276" rtl="0" eaLnBrk="1" latinLnBrk="0" hangingPunct="1">
        <a:defRPr kumimoji="1" sz="2004" kern="1200">
          <a:solidFill>
            <a:schemeClr val="tx1"/>
          </a:solidFill>
          <a:latin typeface="+mn-lt"/>
          <a:ea typeface="+mn-ea"/>
          <a:cs typeface="+mn-cs"/>
        </a:defRPr>
      </a:lvl4pPr>
      <a:lvl5pPr marL="2036552" algn="l" defTabSz="1018276" rtl="0" eaLnBrk="1" latinLnBrk="0" hangingPunct="1">
        <a:defRPr kumimoji="1" sz="2004" kern="1200">
          <a:solidFill>
            <a:schemeClr val="tx1"/>
          </a:solidFill>
          <a:latin typeface="+mn-lt"/>
          <a:ea typeface="+mn-ea"/>
          <a:cs typeface="+mn-cs"/>
        </a:defRPr>
      </a:lvl5pPr>
      <a:lvl6pPr marL="2545690" algn="l" defTabSz="1018276" rtl="0" eaLnBrk="1" latinLnBrk="0" hangingPunct="1">
        <a:defRPr kumimoji="1" sz="2004" kern="1200">
          <a:solidFill>
            <a:schemeClr val="tx1"/>
          </a:solidFill>
          <a:latin typeface="+mn-lt"/>
          <a:ea typeface="+mn-ea"/>
          <a:cs typeface="+mn-cs"/>
        </a:defRPr>
      </a:lvl6pPr>
      <a:lvl7pPr marL="3054828" algn="l" defTabSz="1018276" rtl="0" eaLnBrk="1" latinLnBrk="0" hangingPunct="1">
        <a:defRPr kumimoji="1" sz="2004" kern="1200">
          <a:solidFill>
            <a:schemeClr val="tx1"/>
          </a:solidFill>
          <a:latin typeface="+mn-lt"/>
          <a:ea typeface="+mn-ea"/>
          <a:cs typeface="+mn-cs"/>
        </a:defRPr>
      </a:lvl7pPr>
      <a:lvl8pPr marL="3563965" algn="l" defTabSz="1018276" rtl="0" eaLnBrk="1" latinLnBrk="0" hangingPunct="1">
        <a:defRPr kumimoji="1" sz="2004" kern="1200">
          <a:solidFill>
            <a:schemeClr val="tx1"/>
          </a:solidFill>
          <a:latin typeface="+mn-lt"/>
          <a:ea typeface="+mn-ea"/>
          <a:cs typeface="+mn-cs"/>
        </a:defRPr>
      </a:lvl8pPr>
      <a:lvl9pPr marL="4073103" algn="l" defTabSz="1018276" rtl="0" eaLnBrk="1" latinLnBrk="0" hangingPunct="1">
        <a:defRPr kumimoji="1" sz="200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75000"/>
                  </a:schemeClr>
                </a:solidFill>
              </a:defRPr>
            </a:lvl1pPr>
          </a:lstStyle>
          <a:p>
            <a:fld id="{C764DE79-268F-4C1A-8933-263129D2AF90}" type="datetimeFigureOut">
              <a:rPr lang="en-US" dirty="0"/>
              <a:t>8/25/2025</a:t>
            </a:fld>
            <a:endParaRPr lang="en-US" dirty="0"/>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20665756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1425550" rtl="0" eaLnBrk="1" latinLnBrk="0" hangingPunct="1">
        <a:lnSpc>
          <a:spcPct val="90000"/>
        </a:lnSpc>
        <a:spcBef>
          <a:spcPct val="0"/>
        </a:spcBef>
        <a:buNone/>
        <a:defRPr kumimoji="1"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kumimoji="1"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kumimoji="1"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kumimoji="1"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kumimoji="1" sz="2806" kern="1200">
          <a:solidFill>
            <a:schemeClr val="tx1"/>
          </a:solidFill>
          <a:latin typeface="+mn-lt"/>
          <a:ea typeface="+mn-ea"/>
          <a:cs typeface="+mn-cs"/>
        </a:defRPr>
      </a:lvl9pPr>
    </p:bodyStyle>
    <p:otherStyle>
      <a:defPPr>
        <a:defRPr lang="en-US"/>
      </a:defPPr>
      <a:lvl1pPr marL="0" algn="l" defTabSz="1425550" rtl="0" eaLnBrk="1" latinLnBrk="0" hangingPunct="1">
        <a:defRPr kumimoji="1" sz="2806" kern="1200">
          <a:solidFill>
            <a:schemeClr val="tx1"/>
          </a:solidFill>
          <a:latin typeface="+mn-lt"/>
          <a:ea typeface="+mn-ea"/>
          <a:cs typeface="+mn-cs"/>
        </a:defRPr>
      </a:lvl1pPr>
      <a:lvl2pPr marL="712775" algn="l" defTabSz="1425550" rtl="0" eaLnBrk="1" latinLnBrk="0" hangingPunct="1">
        <a:defRPr kumimoji="1" sz="2806" kern="1200">
          <a:solidFill>
            <a:schemeClr val="tx1"/>
          </a:solidFill>
          <a:latin typeface="+mn-lt"/>
          <a:ea typeface="+mn-ea"/>
          <a:cs typeface="+mn-cs"/>
        </a:defRPr>
      </a:lvl2pPr>
      <a:lvl3pPr marL="1425550" algn="l" defTabSz="1425550" rtl="0" eaLnBrk="1" latinLnBrk="0" hangingPunct="1">
        <a:defRPr kumimoji="1" sz="2806" kern="1200">
          <a:solidFill>
            <a:schemeClr val="tx1"/>
          </a:solidFill>
          <a:latin typeface="+mn-lt"/>
          <a:ea typeface="+mn-ea"/>
          <a:cs typeface="+mn-cs"/>
        </a:defRPr>
      </a:lvl3pPr>
      <a:lvl4pPr marL="2138324" algn="l" defTabSz="1425550" rtl="0" eaLnBrk="1" latinLnBrk="0" hangingPunct="1">
        <a:defRPr kumimoji="1" sz="2806" kern="1200">
          <a:solidFill>
            <a:schemeClr val="tx1"/>
          </a:solidFill>
          <a:latin typeface="+mn-lt"/>
          <a:ea typeface="+mn-ea"/>
          <a:cs typeface="+mn-cs"/>
        </a:defRPr>
      </a:lvl4pPr>
      <a:lvl5pPr marL="2851099" algn="l" defTabSz="1425550" rtl="0" eaLnBrk="1" latinLnBrk="0" hangingPunct="1">
        <a:defRPr kumimoji="1" sz="2806" kern="1200">
          <a:solidFill>
            <a:schemeClr val="tx1"/>
          </a:solidFill>
          <a:latin typeface="+mn-lt"/>
          <a:ea typeface="+mn-ea"/>
          <a:cs typeface="+mn-cs"/>
        </a:defRPr>
      </a:lvl5pPr>
      <a:lvl6pPr marL="3563874" algn="l" defTabSz="1425550" rtl="0" eaLnBrk="1" latinLnBrk="0" hangingPunct="1">
        <a:defRPr kumimoji="1" sz="2806" kern="1200">
          <a:solidFill>
            <a:schemeClr val="tx1"/>
          </a:solidFill>
          <a:latin typeface="+mn-lt"/>
          <a:ea typeface="+mn-ea"/>
          <a:cs typeface="+mn-cs"/>
        </a:defRPr>
      </a:lvl6pPr>
      <a:lvl7pPr marL="4276649" algn="l" defTabSz="1425550" rtl="0" eaLnBrk="1" latinLnBrk="0" hangingPunct="1">
        <a:defRPr kumimoji="1" sz="2806" kern="1200">
          <a:solidFill>
            <a:schemeClr val="tx1"/>
          </a:solidFill>
          <a:latin typeface="+mn-lt"/>
          <a:ea typeface="+mn-ea"/>
          <a:cs typeface="+mn-cs"/>
        </a:defRPr>
      </a:lvl7pPr>
      <a:lvl8pPr marL="4989424" algn="l" defTabSz="1425550" rtl="0" eaLnBrk="1" latinLnBrk="0" hangingPunct="1">
        <a:defRPr kumimoji="1" sz="2806" kern="1200">
          <a:solidFill>
            <a:schemeClr val="tx1"/>
          </a:solidFill>
          <a:latin typeface="+mn-lt"/>
          <a:ea typeface="+mn-ea"/>
          <a:cs typeface="+mn-cs"/>
        </a:defRPr>
      </a:lvl8pPr>
      <a:lvl9pPr marL="5702198" algn="l" defTabSz="1425550" rtl="0" eaLnBrk="1" latinLnBrk="0" hangingPunct="1">
        <a:defRPr kumimoji="1"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7">
            <a:extLst>
              <a:ext uri="{FF2B5EF4-FFF2-40B4-BE49-F238E27FC236}">
                <a16:creationId xmlns:a16="http://schemas.microsoft.com/office/drawing/2014/main" id="{4C5521D0-6D4E-9F47-9798-8C12AB809BDC}"/>
              </a:ext>
            </a:extLst>
          </p:cNvPr>
          <p:cNvSpPr>
            <a:spLocks noChangeArrowheads="1"/>
          </p:cNvSpPr>
          <p:nvPr/>
        </p:nvSpPr>
        <p:spPr bwMode="auto">
          <a:xfrm>
            <a:off x="7991723" y="374282"/>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en-US" sz="2400" dirty="0">
                <a:latin typeface="ＭＳ Ｐゴシック" panose="020B0600070205080204" pitchFamily="34" charset="-128"/>
              </a:rPr>
              <a:t>九州北</a:t>
            </a:r>
          </a:p>
        </p:txBody>
      </p:sp>
      <p:sp>
        <p:nvSpPr>
          <p:cNvPr id="7" name="Rectangle 4">
            <a:extLst>
              <a:ext uri="{FF2B5EF4-FFF2-40B4-BE49-F238E27FC236}">
                <a16:creationId xmlns:a16="http://schemas.microsoft.com/office/drawing/2014/main" id="{4DCE695B-C0E7-7944-89B8-D691FAEA74EE}"/>
              </a:ext>
            </a:extLst>
          </p:cNvPr>
          <p:cNvSpPr>
            <a:spLocks noChangeArrowheads="1"/>
          </p:cNvSpPr>
          <p:nvPr/>
        </p:nvSpPr>
        <p:spPr bwMode="auto">
          <a:xfrm>
            <a:off x="7559674" y="2048052"/>
            <a:ext cx="7344815" cy="8349665"/>
          </a:xfrm>
          <a:prstGeom prst="rect">
            <a:avLst/>
          </a:prstGeom>
          <a:noFill/>
          <a:ln w="9525">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80000"/>
              </a:lnSpc>
              <a:spcBef>
                <a:spcPct val="20000"/>
              </a:spcBef>
            </a:pPr>
            <a:r>
              <a:rPr lang="ja-JP" altLang="en-US" sz="2400" b="1" dirty="0">
                <a:solidFill>
                  <a:schemeClr val="accent5"/>
                </a:solidFill>
                <a:latin typeface="HG丸ｺﾞｼｯｸM-PRO" panose="020F0600000000000000" pitchFamily="50" charset="-128"/>
                <a:ea typeface="HG丸ｺﾞｼｯｸM-PRO" panose="020F0600000000000000" pitchFamily="50" charset="-128"/>
              </a:rPr>
              <a:t>モデルの構成</a:t>
            </a:r>
            <a:endParaRPr lang="en-US" altLang="ja-JP" sz="2400" b="1" dirty="0">
              <a:solidFill>
                <a:schemeClr val="accent5"/>
              </a:solidFill>
              <a:latin typeface="HG丸ｺﾞｼｯｸM-PRO" panose="020F0600000000000000" pitchFamily="50" charset="-128"/>
              <a:ea typeface="HG丸ｺﾞｼｯｸM-PRO" panose="020F0600000000000000" pitchFamily="50" charset="-128"/>
            </a:endParaRPr>
          </a:p>
          <a:p>
            <a:pPr marL="381853" indent="-381853" defTabSz="1018276" eaLnBrk="1" hangingPunct="1">
              <a:lnSpc>
                <a:spcPct val="80000"/>
              </a:lnSpc>
              <a:spcBef>
                <a:spcPts val="668"/>
              </a:spcBef>
              <a:buFont typeface="+mj-lt"/>
              <a:buAutoNum type="arabicPeriod"/>
            </a:pPr>
            <a:r>
              <a:rPr lang="ja-JP" altLang="en-US" sz="1782" b="1" dirty="0">
                <a:solidFill>
                  <a:prstClr val="black"/>
                </a:solidFill>
                <a:latin typeface="HG丸ｺﾞｼｯｸM-PRO" panose="020F0600000000000000" pitchFamily="50" charset="-128"/>
                <a:ea typeface="HG丸ｺﾞｼｯｸM-PRO" panose="020F0600000000000000" pitchFamily="50" charset="-128"/>
              </a:rPr>
              <a:t>機能モデル</a:t>
            </a:r>
            <a:endParaRPr lang="en-US" altLang="ja-JP" sz="1782" b="1" dirty="0">
              <a:solidFill>
                <a:prstClr val="black"/>
              </a:solidFill>
              <a:latin typeface="HG丸ｺﾞｼｯｸM-PRO" panose="020F0600000000000000" pitchFamily="50" charset="-128"/>
              <a:ea typeface="HG丸ｺﾞｼｯｸM-PRO" panose="020F0600000000000000" pitchFamily="50" charset="-128"/>
            </a:endParaRPr>
          </a:p>
          <a:p>
            <a:pPr marL="265113" indent="-265113"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ダブルループの攻略ルートを</a:t>
            </a:r>
            <a:r>
              <a:rPr lang="en-US" altLang="ja-JP" sz="1782" dirty="0">
                <a:latin typeface="HG丸ｺﾞｼｯｸM-PRO" panose="020F0600000000000000" pitchFamily="50" charset="-128"/>
                <a:ea typeface="HG丸ｺﾞｼｯｸM-PRO" panose="020F0600000000000000" pitchFamily="50" charset="-128"/>
              </a:rPr>
              <a:t>13</a:t>
            </a:r>
            <a:r>
              <a:rPr lang="ja-JP" altLang="en-US" sz="1782" dirty="0">
                <a:latin typeface="HG丸ｺﾞｼｯｸM-PRO" panose="020F0600000000000000" pitchFamily="50" charset="-128"/>
                <a:ea typeface="HG丸ｺﾞｼｯｸM-PRO" panose="020F0600000000000000" pitchFamily="50" charset="-128"/>
              </a:rPr>
              <a:t>個のシーンに分割し、各シーンは「走行方法」と「終了条件」の情報を持つこととした。またシーン全体をシナリオと定義した。</a:t>
            </a:r>
            <a:endParaRPr lang="en-US" altLang="ja-JP" sz="1782" dirty="0">
              <a:latin typeface="HG丸ｺﾞｼｯｸM-PRO" panose="020F0600000000000000" pitchFamily="50" charset="-128"/>
              <a:ea typeface="HG丸ｺﾞｼｯｸM-PRO" panose="020F0600000000000000" pitchFamily="50" charset="-128"/>
            </a:endParaRPr>
          </a:p>
          <a:p>
            <a:pPr marL="265113" indent="-265113"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攻略に必要な機能の洗い出しと各判定や走行時に考えられるリスクを分析し、その緩和策の検討を行い、ユースケース図に示した。</a:t>
            </a:r>
            <a:endParaRPr lang="en-US" altLang="ja-JP" sz="1782" dirty="0">
              <a:latin typeface="HG丸ｺﾞｼｯｸM-PRO" panose="020F0600000000000000" pitchFamily="50" charset="-128"/>
              <a:ea typeface="HG丸ｺﾞｼｯｸM-PRO" panose="020F0600000000000000" pitchFamily="50" charset="-128"/>
            </a:endParaRPr>
          </a:p>
          <a:p>
            <a:pPr marL="265113" indent="-265113"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攻略シナリオ全体の流れを表現するため、シーン、走行方法の切り替えや処理の分岐をアクティビティ図に示した。</a:t>
            </a:r>
            <a:endParaRPr lang="en-US" altLang="ja-JP" sz="1782" dirty="0">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ts val="668"/>
              </a:spcBef>
            </a:pPr>
            <a:endParaRPr lang="ja-JP" altLang="en-US" dirty="0">
              <a:latin typeface="HG丸ｺﾞｼｯｸM-PRO" panose="020F0600000000000000" pitchFamily="50" charset="-128"/>
              <a:ea typeface="HG丸ｺﾞｼｯｸM-PRO" panose="020F0600000000000000" pitchFamily="50" charset="-128"/>
            </a:endParaRPr>
          </a:p>
          <a:p>
            <a:pPr marL="381853" indent="-381853" defTabSz="1018276" eaLnBrk="1" hangingPunct="1">
              <a:lnSpc>
                <a:spcPct val="80000"/>
              </a:lnSpc>
              <a:spcBef>
                <a:spcPts val="668"/>
              </a:spcBef>
              <a:buFont typeface="+mj-lt"/>
              <a:buAutoNum type="arabicPeriod" startAt="2"/>
            </a:pPr>
            <a:r>
              <a:rPr lang="ja-JP" altLang="en-US" sz="1782" b="1" dirty="0">
                <a:solidFill>
                  <a:prstClr val="black"/>
                </a:solidFill>
                <a:latin typeface="HG丸ｺﾞｼｯｸM-PRO" panose="020F0600000000000000" pitchFamily="50" charset="-128"/>
                <a:ea typeface="HG丸ｺﾞｼｯｸM-PRO" panose="020F0600000000000000" pitchFamily="50" charset="-128"/>
              </a:rPr>
              <a:t>構造モデル</a:t>
            </a:r>
            <a:endParaRPr lang="en-US" altLang="ja-JP" sz="1782" b="1" dirty="0">
              <a:solidFill>
                <a:prstClr val="black"/>
              </a:solidFill>
              <a:latin typeface="HG丸ｺﾞｼｯｸM-PRO" panose="020F0600000000000000" pitchFamily="50" charset="-128"/>
              <a:ea typeface="HG丸ｺﾞｼｯｸM-PRO" panose="020F0600000000000000" pitchFamily="50" charset="-128"/>
            </a:endParaRPr>
          </a:p>
          <a:p>
            <a:pPr marL="265113" lvl="1" indent="-265113" defTabSz="1018276" eaLnBrk="1" hangingPunct="1">
              <a:lnSpc>
                <a:spcPct val="80000"/>
              </a:lnSpc>
              <a:spcBef>
                <a:spcPts val="668"/>
              </a:spcBef>
              <a:buFont typeface="Arial" panose="020B0604020202020204" pitchFamily="34" charset="0"/>
              <a:buChar char="•"/>
            </a:pPr>
            <a:r>
              <a:rPr lang="ja-JP" altLang="en-US" sz="1782" dirty="0">
                <a:solidFill>
                  <a:prstClr val="black"/>
                </a:solidFill>
                <a:latin typeface="HG丸ｺﾞｼｯｸM-PRO" panose="020F0600000000000000" pitchFamily="50" charset="-128"/>
                <a:ea typeface="HG丸ｺﾞｼｯｸM-PRO" panose="020F0600000000000000" pitchFamily="50" charset="-128"/>
              </a:rPr>
              <a:t>攻略に必要な機能を「攻略」「判定」「実行」「演算」「デバイス」の５つのパッケージに分割し、役割を整理した。</a:t>
            </a:r>
            <a:endParaRPr lang="en-US" altLang="ja-JP" sz="1782" dirty="0">
              <a:solidFill>
                <a:prstClr val="black"/>
              </a:solidFill>
              <a:latin typeface="HG丸ｺﾞｼｯｸM-PRO" panose="020F0600000000000000" pitchFamily="50" charset="-128"/>
              <a:ea typeface="HG丸ｺﾞｼｯｸM-PRO" panose="020F0600000000000000" pitchFamily="50" charset="-128"/>
            </a:endParaRPr>
          </a:p>
          <a:p>
            <a:pPr marL="265113" lvl="1" indent="-265113" defTabSz="1018276" eaLnBrk="1" hangingPunct="1">
              <a:lnSpc>
                <a:spcPct val="80000"/>
              </a:lnSpc>
              <a:spcBef>
                <a:spcPts val="668"/>
              </a:spcBef>
              <a:buFont typeface="Arial" panose="020B0604020202020204" pitchFamily="34" charset="0"/>
              <a:buChar char="•"/>
            </a:pPr>
            <a:r>
              <a:rPr lang="ja-JP" altLang="en-US" sz="1782" dirty="0">
                <a:solidFill>
                  <a:prstClr val="black"/>
                </a:solidFill>
                <a:latin typeface="HG丸ｺﾞｼｯｸM-PRO" panose="020F0600000000000000" pitchFamily="50" charset="-128"/>
                <a:ea typeface="HG丸ｺﾞｼｯｸM-PRO" panose="020F0600000000000000" pitchFamily="50" charset="-128"/>
              </a:rPr>
              <a:t>機能モデルで洗い出した必要機能を整理したパッケージを用いてクラス図を作成した。判定クラスや実行クラスはインターフェースを定義し、共通の機能を提供できるようにした。</a:t>
            </a:r>
            <a:endParaRPr lang="en-US" altLang="ja-JP" sz="1782" dirty="0">
              <a:solidFill>
                <a:prstClr val="black"/>
              </a:solidFill>
              <a:latin typeface="HG丸ｺﾞｼｯｸM-PRO" panose="020F0600000000000000" pitchFamily="50" charset="-128"/>
              <a:ea typeface="HG丸ｺﾞｼｯｸM-PRO" panose="020F0600000000000000" pitchFamily="50" charset="-128"/>
            </a:endParaRPr>
          </a:p>
          <a:p>
            <a:pPr marL="381853" indent="-381853" defTabSz="1018276" eaLnBrk="1" hangingPunct="1">
              <a:lnSpc>
                <a:spcPct val="80000"/>
              </a:lnSpc>
              <a:spcBef>
                <a:spcPts val="668"/>
              </a:spcBef>
              <a:buFont typeface="+mj-lt"/>
              <a:buAutoNum type="arabicPeriod" startAt="2"/>
            </a:pPr>
            <a:endParaRPr lang="en-US" altLang="ja-JP" b="1" dirty="0">
              <a:solidFill>
                <a:prstClr val="black"/>
              </a:solidFill>
              <a:latin typeface="HG丸ｺﾞｼｯｸM-PRO" panose="020F0600000000000000" pitchFamily="50" charset="-128"/>
              <a:ea typeface="HG丸ｺﾞｼｯｸM-PRO" panose="020F0600000000000000" pitchFamily="50" charset="-128"/>
            </a:endParaRPr>
          </a:p>
          <a:p>
            <a:pPr marL="381853" indent="-381853" defTabSz="1018276" eaLnBrk="1" hangingPunct="1">
              <a:lnSpc>
                <a:spcPct val="80000"/>
              </a:lnSpc>
              <a:spcBef>
                <a:spcPts val="668"/>
              </a:spcBef>
              <a:buFont typeface="+mj-lt"/>
              <a:buAutoNum type="arabicPeriod" startAt="2"/>
            </a:pPr>
            <a:r>
              <a:rPr lang="ja-JP" altLang="en-US" sz="1782" b="1" dirty="0">
                <a:solidFill>
                  <a:prstClr val="black"/>
                </a:solidFill>
                <a:latin typeface="HG丸ｺﾞｼｯｸM-PRO" panose="020F0600000000000000" pitchFamily="50" charset="-128"/>
                <a:ea typeface="HG丸ｺﾞｼｯｸM-PRO" panose="020F0600000000000000" pitchFamily="50" charset="-128"/>
              </a:rPr>
              <a:t>振舞いモデル</a:t>
            </a:r>
            <a:endParaRPr lang="en-US" altLang="ja-JP" sz="1782" b="1" dirty="0">
              <a:solidFill>
                <a:prstClr val="black"/>
              </a:solidFill>
              <a:latin typeface="HG丸ｺﾞｼｯｸM-PRO" panose="020F0600000000000000" pitchFamily="50" charset="-128"/>
              <a:ea typeface="HG丸ｺﾞｼｯｸM-PRO" panose="020F0600000000000000" pitchFamily="50" charset="-128"/>
            </a:endParaRPr>
          </a:p>
          <a:p>
            <a:pPr marL="265113" lvl="1" indent="-265113" defTabSz="1018276" eaLnBrk="1" hangingPunct="1">
              <a:lnSpc>
                <a:spcPct val="80000"/>
              </a:lnSpc>
              <a:spcBef>
                <a:spcPts val="668"/>
              </a:spcBef>
              <a:buFont typeface="Arial" panose="020B0604020202020204" pitchFamily="34" charset="0"/>
              <a:buChar char="•"/>
            </a:pPr>
            <a:r>
              <a:rPr lang="ja-JP" altLang="en-US" sz="1782" dirty="0">
                <a:solidFill>
                  <a:prstClr val="black"/>
                </a:solidFill>
                <a:latin typeface="HG丸ｺﾞｼｯｸM-PRO" panose="020F0600000000000000" pitchFamily="50" charset="-128"/>
                <a:ea typeface="HG丸ｺﾞｼｯｸM-PRO" panose="020F0600000000000000" pitchFamily="50" charset="-128"/>
              </a:rPr>
              <a:t>走行体の振る舞いに着目し、シナリオ開始から終了までの状態遷移をステートマシン図に示した。</a:t>
            </a:r>
            <a:endParaRPr lang="en-US" altLang="ja-JP" sz="1782" dirty="0">
              <a:solidFill>
                <a:prstClr val="black"/>
              </a:solidFill>
              <a:latin typeface="HG丸ｺﾞｼｯｸM-PRO" panose="020F0600000000000000" pitchFamily="50" charset="-128"/>
              <a:ea typeface="HG丸ｺﾞｼｯｸM-PRO" panose="020F0600000000000000" pitchFamily="50" charset="-128"/>
            </a:endParaRPr>
          </a:p>
          <a:p>
            <a:pPr marL="265113" lvl="1" indent="-265113" defTabSz="1018276" eaLnBrk="1" hangingPunct="1">
              <a:lnSpc>
                <a:spcPct val="80000"/>
              </a:lnSpc>
              <a:spcBef>
                <a:spcPts val="668"/>
              </a:spcBef>
              <a:buFont typeface="Arial" panose="020B0604020202020204" pitchFamily="34" charset="0"/>
              <a:buChar char="•"/>
            </a:pPr>
            <a:r>
              <a:rPr lang="ja-JP" altLang="en-US" sz="1782" dirty="0">
                <a:solidFill>
                  <a:prstClr val="black"/>
                </a:solidFill>
                <a:latin typeface="HG丸ｺﾞｼｯｸM-PRO" panose="020F0600000000000000" pitchFamily="50" charset="-128"/>
                <a:ea typeface="HG丸ｺﾞｼｯｸM-PRO" panose="020F0600000000000000" pitchFamily="50" charset="-128"/>
              </a:rPr>
              <a:t>シーケンス図にて、シーンごとの終了条件判定を管理する「シーン管理」と各終了条件、走行方法を管理する「走行管理」と各走行方法を各々の時間軸でのやりとりを示した。また可読性を高めるため、各走行方法は分解して示している。</a:t>
            </a:r>
            <a:endParaRPr lang="en-US" altLang="ja-JP" sz="1782" dirty="0">
              <a:solidFill>
                <a:prstClr val="black"/>
              </a:solidFill>
              <a:latin typeface="HG丸ｺﾞｼｯｸM-PRO" panose="020F0600000000000000" pitchFamily="50" charset="-128"/>
              <a:ea typeface="HG丸ｺﾞｼｯｸM-PRO" panose="020F0600000000000000" pitchFamily="50" charset="-128"/>
            </a:endParaRPr>
          </a:p>
          <a:p>
            <a:pPr marL="381853" indent="-381853" defTabSz="1018276" eaLnBrk="1" hangingPunct="1">
              <a:lnSpc>
                <a:spcPct val="80000"/>
              </a:lnSpc>
              <a:spcBef>
                <a:spcPts val="668"/>
              </a:spcBef>
              <a:buFont typeface="+mj-lt"/>
              <a:buAutoNum type="arabicPeriod" startAt="2"/>
            </a:pPr>
            <a:endParaRPr lang="en-US" altLang="ja-JP" b="1" dirty="0">
              <a:solidFill>
                <a:prstClr val="black"/>
              </a:solidFill>
              <a:latin typeface="HG丸ｺﾞｼｯｸM-PRO" panose="020F0600000000000000" pitchFamily="50" charset="-128"/>
              <a:ea typeface="HG丸ｺﾞｼｯｸM-PRO" panose="020F0600000000000000" pitchFamily="50" charset="-128"/>
            </a:endParaRPr>
          </a:p>
          <a:p>
            <a:pPr marL="381853" indent="-381853" defTabSz="1018276" eaLnBrk="1" hangingPunct="1">
              <a:lnSpc>
                <a:spcPct val="80000"/>
              </a:lnSpc>
              <a:spcBef>
                <a:spcPts val="668"/>
              </a:spcBef>
              <a:buFont typeface="+mj-lt"/>
              <a:buAutoNum type="arabicPeriod" startAt="2"/>
            </a:pPr>
            <a:r>
              <a:rPr lang="ja-JP" altLang="en-US" sz="1782" b="1" dirty="0">
                <a:solidFill>
                  <a:prstClr val="black"/>
                </a:solidFill>
                <a:latin typeface="HG丸ｺﾞｼｯｸM-PRO" panose="020F0600000000000000" pitchFamily="50" charset="-128"/>
                <a:ea typeface="HG丸ｺﾞｼｯｸM-PRO" panose="020F0600000000000000" pitchFamily="50" charset="-128"/>
              </a:rPr>
              <a:t>工夫点</a:t>
            </a:r>
            <a:endParaRPr lang="en-US" altLang="ja-JP" sz="1782" b="1" dirty="0">
              <a:solidFill>
                <a:prstClr val="black"/>
              </a:solidFill>
              <a:latin typeface="HG丸ｺﾞｼｯｸM-PRO" panose="020F0600000000000000" pitchFamily="50" charset="-128"/>
              <a:ea typeface="HG丸ｺﾞｼｯｸM-PRO" panose="020F0600000000000000" pitchFamily="50" charset="-128"/>
            </a:endParaRPr>
          </a:p>
          <a:p>
            <a:pPr marL="285750" indent="-285750" defTabSz="1018276" eaLnBrk="1" hangingPunct="1">
              <a:lnSpc>
                <a:spcPct val="80000"/>
              </a:lnSpc>
              <a:spcBef>
                <a:spcPts val="668"/>
              </a:spcBef>
              <a:buFont typeface="Arial" panose="020B0604020202020204" pitchFamily="34" charset="0"/>
              <a:buChar char="•"/>
            </a:pPr>
            <a:r>
              <a:rPr lang="ja-JP" altLang="en-US" sz="1782" dirty="0">
                <a:solidFill>
                  <a:prstClr val="black"/>
                </a:solidFill>
                <a:latin typeface="HG丸ｺﾞｼｯｸM-PRO" panose="020F0600000000000000" pitchFamily="50" charset="-128"/>
                <a:ea typeface="HG丸ｺﾞｼｯｸM-PRO" panose="020F0600000000000000" pitchFamily="50" charset="-128"/>
              </a:rPr>
              <a:t>ダブルループ攻略にあたり、</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直進走行後のライントレース復帰時にコースアウト</a:t>
            </a:r>
            <a:r>
              <a:rPr lang="ja-JP" altLang="en-US" sz="1782" dirty="0">
                <a:solidFill>
                  <a:prstClr val="black"/>
                </a:solidFill>
                <a:latin typeface="HG丸ｺﾞｼｯｸM-PRO" panose="020F0600000000000000" pitchFamily="50" charset="-128"/>
                <a:ea typeface="HG丸ｺﾞｼｯｸM-PRO" panose="020F0600000000000000" pitchFamily="50" charset="-128"/>
              </a:rPr>
              <a:t>が発生し、走行成功率が低下する傾向が確認された。</a:t>
            </a:r>
            <a:endParaRPr lang="en-US" altLang="ja-JP" sz="1782" dirty="0">
              <a:solidFill>
                <a:prstClr val="black"/>
              </a:solidFill>
              <a:latin typeface="HG丸ｺﾞｼｯｸM-PRO" panose="020F0600000000000000" pitchFamily="50" charset="-128"/>
              <a:ea typeface="HG丸ｺﾞｼｯｸM-PRO" panose="020F0600000000000000" pitchFamily="50" charset="-128"/>
            </a:endParaRPr>
          </a:p>
          <a:p>
            <a:pPr marL="285750" indent="-285750" defTabSz="1018276" eaLnBrk="1" hangingPunct="1">
              <a:lnSpc>
                <a:spcPct val="80000"/>
              </a:lnSpc>
              <a:spcBef>
                <a:spcPts val="668"/>
              </a:spcBef>
              <a:buFont typeface="Arial" panose="020B0604020202020204" pitchFamily="34" charset="0"/>
              <a:buChar char="•"/>
            </a:pPr>
            <a:r>
              <a:rPr lang="ja-JP" altLang="en-US" sz="1782" dirty="0">
                <a:solidFill>
                  <a:prstClr val="black"/>
                </a:solidFill>
                <a:latin typeface="HG丸ｺﾞｼｯｸM-PRO" panose="020F0600000000000000" pitchFamily="50" charset="-128"/>
                <a:ea typeface="HG丸ｺﾞｼｯｸM-PRO" panose="020F0600000000000000" pitchFamily="50" charset="-128"/>
              </a:rPr>
              <a:t>ライントレース復帰時に、</a:t>
            </a:r>
            <a:r>
              <a:rPr lang="en-US" altLang="ja-JP" sz="1782" b="1" dirty="0">
                <a:solidFill>
                  <a:srgbClr val="FF0000"/>
                </a:solidFill>
                <a:latin typeface="HG丸ｺﾞｼｯｸM-PRO" panose="020F0600000000000000" pitchFamily="50" charset="-128"/>
                <a:ea typeface="HG丸ｺﾞｼｯｸM-PRO" panose="020F0600000000000000" pitchFamily="50" charset="-128"/>
              </a:rPr>
              <a:t>PID</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の各値を調整</a:t>
            </a:r>
            <a:r>
              <a:rPr lang="ja-JP" altLang="en-US" sz="1782" dirty="0">
                <a:solidFill>
                  <a:prstClr val="black"/>
                </a:solidFill>
                <a:latin typeface="HG丸ｺﾞｼｯｸM-PRO" panose="020F0600000000000000" pitchFamily="50" charset="-128"/>
                <a:ea typeface="HG丸ｺﾞｼｯｸM-PRO" panose="020F0600000000000000" pitchFamily="50" charset="-128"/>
              </a:rPr>
              <a:t>することでコースアウトの確率を下げられると考え、成功率が最も高くなるパラメータの特定を目指した。</a:t>
            </a:r>
            <a:r>
              <a:rPr lang="en-US" altLang="ja-JP" sz="1782" dirty="0">
                <a:solidFill>
                  <a:prstClr val="black"/>
                </a:solidFill>
                <a:latin typeface="HG丸ｺﾞｼｯｸM-PRO" panose="020F0600000000000000" pitchFamily="50" charset="-128"/>
                <a:ea typeface="HG丸ｺﾞｼｯｸM-PRO" panose="020F0600000000000000" pitchFamily="50" charset="-128"/>
              </a:rPr>
              <a:t>	</a:t>
            </a:r>
            <a:endParaRPr lang="en-US" altLang="ja-JP" sz="1782" dirty="0">
              <a:latin typeface="HG丸ｺﾞｼｯｸM-PRO" panose="020F0600000000000000" pitchFamily="50" charset="-128"/>
              <a:ea typeface="HG丸ｺﾞｼｯｸM-PRO" panose="020F0600000000000000" pitchFamily="50" charset="-128"/>
            </a:endParaRPr>
          </a:p>
          <a:p>
            <a:pPr marL="342900" indent="-342900" eaLnBrk="1" hangingPunct="1">
              <a:lnSpc>
                <a:spcPct val="80000"/>
              </a:lnSpc>
              <a:spcBef>
                <a:spcPts val="668"/>
              </a:spcBef>
              <a:buFont typeface="+mj-lt"/>
              <a:buAutoNum type="arabicPeriod"/>
            </a:pPr>
            <a:endParaRPr lang="en-US" altLang="ja-JP" sz="1782" dirty="0">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ts val="668"/>
              </a:spcBef>
            </a:pPr>
            <a:endParaRPr lang="ja-JP" altLang="en-US" sz="1782" dirty="0">
              <a:latin typeface="HG丸ｺﾞｼｯｸM-PRO" panose="020F0600000000000000" pitchFamily="50" charset="-128"/>
              <a:ea typeface="HG丸ｺﾞｼｯｸM-PRO" panose="020F0600000000000000" pitchFamily="50" charset="-128"/>
            </a:endParaRPr>
          </a:p>
        </p:txBody>
      </p:sp>
      <p:sp>
        <p:nvSpPr>
          <p:cNvPr id="17" name="Rectangle 3">
            <a:extLst>
              <a:ext uri="{FF2B5EF4-FFF2-40B4-BE49-F238E27FC236}">
                <a16:creationId xmlns:a16="http://schemas.microsoft.com/office/drawing/2014/main" id="{12351C5A-CF92-284C-AD2D-94D23A07A721}"/>
              </a:ext>
            </a:extLst>
          </p:cNvPr>
          <p:cNvSpPr>
            <a:spLocks noChangeArrowheads="1"/>
          </p:cNvSpPr>
          <p:nvPr/>
        </p:nvSpPr>
        <p:spPr bwMode="auto">
          <a:xfrm>
            <a:off x="214860" y="2048052"/>
            <a:ext cx="7104254" cy="3808482"/>
          </a:xfrm>
          <a:prstGeom prst="rect">
            <a:avLst/>
          </a:prstGeom>
          <a:noFill/>
          <a:ln w="9525">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eaLnBrk="1" hangingPunct="1">
              <a:lnSpc>
                <a:spcPct val="80000"/>
              </a:lnSpc>
              <a:spcBef>
                <a:spcPct val="20000"/>
              </a:spcBef>
            </a:pPr>
            <a:r>
              <a:rPr lang="ja-JP" altLang="en-US" sz="2400" b="1" dirty="0">
                <a:solidFill>
                  <a:schemeClr val="accent5"/>
                </a:solidFill>
                <a:latin typeface="HG丸ｺﾞｼｯｸM-PRO" panose="020F0600000000000000" pitchFamily="50" charset="-128"/>
                <a:ea typeface="HG丸ｺﾞｼｯｸM-PRO" panose="020F0600000000000000" pitchFamily="50" charset="-128"/>
              </a:rPr>
              <a:t>チーム紹介、目標、意気込み</a:t>
            </a:r>
            <a:endParaRPr lang="ja-JP" altLang="en-US" sz="2400" dirty="0">
              <a:solidFill>
                <a:schemeClr val="accent5"/>
              </a:solidFill>
              <a:latin typeface="HG丸ｺﾞｼｯｸM-PRO" panose="020F0600000000000000" pitchFamily="50" charset="-128"/>
              <a:ea typeface="HG丸ｺﾞｼｯｸM-PRO" panose="020F0600000000000000" pitchFamily="50" charset="-128"/>
            </a:endParaRPr>
          </a:p>
          <a:p>
            <a:pPr marL="0" indent="0"/>
            <a:r>
              <a:rPr lang="ja-JP" altLang="en-US" sz="1750" b="1" dirty="0">
                <a:latin typeface="HG丸ｺﾞｼｯｸM-PRO" panose="020F0600000000000000" pitchFamily="50" charset="-128"/>
                <a:ea typeface="HG丸ｺﾞｼｯｸM-PRO" panose="020F0600000000000000" pitchFamily="50" charset="-128"/>
              </a:rPr>
              <a:t>◆チーム紹介</a:t>
            </a:r>
            <a:endParaRPr lang="en-US" altLang="ja-JP" sz="1750" b="1" dirty="0">
              <a:latin typeface="HG丸ｺﾞｼｯｸM-PRO" panose="020F0600000000000000" pitchFamily="50" charset="-128"/>
              <a:ea typeface="HG丸ｺﾞｼｯｸM-PRO" panose="020F0600000000000000" pitchFamily="50" charset="-128"/>
            </a:endParaRPr>
          </a:p>
          <a:p>
            <a:pPr marL="0" indent="0"/>
            <a:r>
              <a:rPr lang="ja-JP" altLang="en-US" sz="1750" dirty="0">
                <a:latin typeface="HG丸ｺﾞｼｯｸM-PRO" panose="020F0600000000000000" pitchFamily="50" charset="-128"/>
                <a:ea typeface="HG丸ｺﾞｼｯｸM-PRO" panose="020F0600000000000000" pitchFamily="50" charset="-128"/>
              </a:rPr>
              <a:t>　私たちは株式会社システムニシツウのモビリティ事業準備室メンバで構成されたチームです。組込みシステム開発に初めて参画することになり、モデルベース開発の理解を深めるため本大会に</a:t>
            </a:r>
            <a:r>
              <a:rPr lang="ja-JP" altLang="en-US" sz="1750" b="1" dirty="0">
                <a:solidFill>
                  <a:srgbClr val="FF0000"/>
                </a:solidFill>
                <a:latin typeface="HG丸ｺﾞｼｯｸM-PRO" panose="020F0600000000000000" pitchFamily="50" charset="-128"/>
                <a:ea typeface="HG丸ｺﾞｼｯｸM-PRO" panose="020F0600000000000000" pitchFamily="50" charset="-128"/>
              </a:rPr>
              <a:t>初参加</a:t>
            </a:r>
            <a:r>
              <a:rPr lang="ja-JP" altLang="en-US" sz="1750" dirty="0">
                <a:latin typeface="HG丸ｺﾞｼｯｸM-PRO" panose="020F0600000000000000" pitchFamily="50" charset="-128"/>
                <a:ea typeface="HG丸ｺﾞｼｯｸM-PRO" panose="020F0600000000000000" pitchFamily="50" charset="-128"/>
              </a:rPr>
              <a:t>しました。</a:t>
            </a:r>
            <a:endParaRPr lang="en-US" altLang="ja-JP" sz="1750" dirty="0">
              <a:latin typeface="HG丸ｺﾞｼｯｸM-PRO" panose="020F0600000000000000" pitchFamily="50" charset="-128"/>
              <a:ea typeface="HG丸ｺﾞｼｯｸM-PRO" panose="020F0600000000000000" pitchFamily="50" charset="-128"/>
            </a:endParaRPr>
          </a:p>
          <a:p>
            <a:pPr marL="0" indent="0"/>
            <a:r>
              <a:rPr lang="ja-JP" altLang="en-US" sz="1750" b="1" dirty="0">
                <a:latin typeface="HG丸ｺﾞｼｯｸM-PRO" panose="020F0600000000000000" pitchFamily="50" charset="-128"/>
                <a:ea typeface="HG丸ｺﾞｼｯｸM-PRO" panose="020F0600000000000000" pitchFamily="50" charset="-128"/>
              </a:rPr>
              <a:t>◆目標</a:t>
            </a:r>
            <a:endParaRPr lang="en-US" altLang="ja-JP" sz="1750" b="1" dirty="0">
              <a:latin typeface="HG丸ｺﾞｼｯｸM-PRO" panose="020F0600000000000000" pitchFamily="50" charset="-128"/>
              <a:ea typeface="HG丸ｺﾞｼｯｸM-PRO" panose="020F0600000000000000" pitchFamily="50" charset="-128"/>
            </a:endParaRPr>
          </a:p>
          <a:p>
            <a:pPr marL="0" indent="0"/>
            <a:r>
              <a:rPr lang="ja-JP" altLang="en-US" sz="1750" dirty="0">
                <a:latin typeface="HG丸ｺﾞｼｯｸM-PRO" panose="020F0600000000000000" pitchFamily="50" charset="-128"/>
                <a:ea typeface="HG丸ｺﾞｼｯｸM-PRO" panose="020F0600000000000000" pitchFamily="50" charset="-128"/>
              </a:rPr>
              <a:t>　参加したからには地区大会を突破して、</a:t>
            </a:r>
            <a:r>
              <a:rPr lang="en-US" altLang="ja-JP" sz="1750" b="1" dirty="0">
                <a:solidFill>
                  <a:srgbClr val="FF0000"/>
                </a:solidFill>
                <a:latin typeface="HG丸ｺﾞｼｯｸM-PRO" panose="020F0600000000000000" pitchFamily="50" charset="-128"/>
                <a:ea typeface="HG丸ｺﾞｼｯｸM-PRO" panose="020F0600000000000000" pitchFamily="50" charset="-128"/>
              </a:rPr>
              <a:t>CS</a:t>
            </a:r>
            <a:r>
              <a:rPr lang="ja-JP" altLang="en-US" sz="1750" b="1" dirty="0">
                <a:solidFill>
                  <a:srgbClr val="FF0000"/>
                </a:solidFill>
                <a:latin typeface="HG丸ｺﾞｼｯｸM-PRO" panose="020F0600000000000000" pitchFamily="50" charset="-128"/>
                <a:ea typeface="HG丸ｺﾞｼｯｸM-PRO" panose="020F0600000000000000" pitchFamily="50" charset="-128"/>
              </a:rPr>
              <a:t>大会出場</a:t>
            </a:r>
            <a:r>
              <a:rPr lang="ja-JP" altLang="en-US" sz="1750" dirty="0">
                <a:latin typeface="HG丸ｺﾞｼｯｸM-PRO" panose="020F0600000000000000" pitchFamily="50" charset="-128"/>
                <a:ea typeface="HG丸ｺﾞｼｯｸM-PRO" panose="020F0600000000000000" pitchFamily="50" charset="-128"/>
              </a:rPr>
              <a:t>を目指しています。</a:t>
            </a:r>
            <a:endParaRPr lang="en-US" altLang="ja-JP" sz="1750" dirty="0">
              <a:latin typeface="HG丸ｺﾞｼｯｸM-PRO" panose="020F0600000000000000" pitchFamily="50" charset="-128"/>
              <a:ea typeface="HG丸ｺﾞｼｯｸM-PRO" panose="020F0600000000000000" pitchFamily="50" charset="-128"/>
            </a:endParaRPr>
          </a:p>
          <a:p>
            <a:pPr marL="0" indent="0"/>
            <a:r>
              <a:rPr lang="ja-JP" altLang="en-US" sz="1750" b="1" dirty="0">
                <a:latin typeface="HG丸ｺﾞｼｯｸM-PRO" panose="020F0600000000000000" pitchFamily="50" charset="-128"/>
                <a:ea typeface="HG丸ｺﾞｼｯｸM-PRO" panose="020F0600000000000000" pitchFamily="50" charset="-128"/>
              </a:rPr>
              <a:t>◆意気込み</a:t>
            </a:r>
            <a:endParaRPr lang="en-US" altLang="ja-JP" sz="1750" b="1" dirty="0">
              <a:latin typeface="HG丸ｺﾞｼｯｸM-PRO" panose="020F0600000000000000" pitchFamily="50" charset="-128"/>
              <a:ea typeface="HG丸ｺﾞｼｯｸM-PRO" panose="020F0600000000000000" pitchFamily="50" charset="-128"/>
            </a:endParaRPr>
          </a:p>
          <a:p>
            <a:pPr marL="0" indent="0"/>
            <a:r>
              <a:rPr lang="ja-JP" altLang="en-US" sz="1750" dirty="0">
                <a:latin typeface="HG丸ｺﾞｼｯｸM-PRO" panose="020F0600000000000000" pitchFamily="50" charset="-128"/>
                <a:ea typeface="HG丸ｺﾞｼｯｸM-PRO" panose="020F0600000000000000" pitchFamily="50" charset="-128"/>
              </a:rPr>
              <a:t>　</a:t>
            </a:r>
            <a:r>
              <a:rPr lang="en-US" altLang="ja-JP" sz="1750" dirty="0">
                <a:latin typeface="HG丸ｺﾞｼｯｸM-PRO" panose="020F0600000000000000" pitchFamily="50" charset="-128"/>
                <a:ea typeface="HG丸ｺﾞｼｯｸM-PRO" panose="020F0600000000000000" pitchFamily="50" charset="-128"/>
              </a:rPr>
              <a:t>ET</a:t>
            </a:r>
            <a:r>
              <a:rPr lang="ja-JP" altLang="en-US" sz="1750" dirty="0">
                <a:latin typeface="HG丸ｺﾞｼｯｸM-PRO" panose="020F0600000000000000" pitchFamily="50" charset="-128"/>
                <a:ea typeface="HG丸ｺﾞｼｯｸM-PRO" panose="020F0600000000000000" pitchFamily="50" charset="-128"/>
              </a:rPr>
              <a:t>ロボコン初参加でモデル審査、走行で高得点を取るため、初心者メンバが一丸となって地区大会を突破し、社長、副社長を</a:t>
            </a:r>
            <a:r>
              <a:rPr lang="en-US" altLang="ja-JP" sz="1750" dirty="0">
                <a:latin typeface="HG丸ｺﾞｼｯｸM-PRO" panose="020F0600000000000000" pitchFamily="50" charset="-128"/>
                <a:ea typeface="HG丸ｺﾞｼｯｸM-PRO" panose="020F0600000000000000" pitchFamily="50" charset="-128"/>
              </a:rPr>
              <a:t>CS</a:t>
            </a:r>
            <a:r>
              <a:rPr lang="ja-JP" altLang="en-US" sz="1750" dirty="0">
                <a:latin typeface="HG丸ｺﾞｼｯｸM-PRO" panose="020F0600000000000000" pitchFamily="50" charset="-128"/>
                <a:ea typeface="HG丸ｺﾞｼｯｸM-PRO" panose="020F0600000000000000" pitchFamily="50" charset="-128"/>
              </a:rPr>
              <a:t>大会の舞台である横浜に連れて行くために頑張ります</a:t>
            </a:r>
            <a:r>
              <a:rPr lang="ja-JP" altLang="en-US" sz="1800" dirty="0">
                <a:latin typeface="HG丸ｺﾞｼｯｸM-PRO" panose="020F0600000000000000" pitchFamily="50" charset="-128"/>
                <a:ea typeface="HG丸ｺﾞｼｯｸM-PRO" panose="020F0600000000000000" pitchFamily="50" charset="-128"/>
              </a:rPr>
              <a:t>。</a:t>
            </a:r>
          </a:p>
          <a:p>
            <a:pPr marL="0" indent="0"/>
            <a:endParaRPr lang="ja-JP" altLang="en-US" sz="2004" dirty="0">
              <a:latin typeface="HG丸ｺﾞｼｯｸM-PRO" panose="020F0600000000000000" pitchFamily="50" charset="-128"/>
              <a:ea typeface="HG丸ｺﾞｼｯｸM-PRO" panose="020F0600000000000000" pitchFamily="50" charset="-128"/>
            </a:endParaRPr>
          </a:p>
        </p:txBody>
      </p:sp>
      <p:sp>
        <p:nvSpPr>
          <p:cNvPr id="18" name="Rectangle 3">
            <a:extLst>
              <a:ext uri="{FF2B5EF4-FFF2-40B4-BE49-F238E27FC236}">
                <a16:creationId xmlns:a16="http://schemas.microsoft.com/office/drawing/2014/main" id="{C94F9FC9-983D-6341-84E1-6185BB35C52E}"/>
              </a:ext>
            </a:extLst>
          </p:cNvPr>
          <p:cNvSpPr>
            <a:spLocks noChangeArrowheads="1"/>
          </p:cNvSpPr>
          <p:nvPr/>
        </p:nvSpPr>
        <p:spPr bwMode="auto">
          <a:xfrm>
            <a:off x="214860" y="6054252"/>
            <a:ext cx="7104254" cy="4343465"/>
          </a:xfrm>
          <a:prstGeom prst="rect">
            <a:avLst/>
          </a:prstGeom>
          <a:noFill/>
          <a:ln w="9525">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lIns="120687" tIns="60343" rIns="120687" bIns="60343"/>
          <a:lstStyle>
            <a:lvl1pPr marL="481013" indent="-481013"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1pPr>
            <a:lvl2pPr marL="742950" indent="-28575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2pPr>
            <a:lvl3pPr marL="11430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3pPr>
            <a:lvl4pPr marL="16002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4pPr>
            <a:lvl5pPr marL="2057400" indent="-228600" defTabSz="1279525" eaLnBrk="0" hangingPunct="0">
              <a:defRPr kumimoji="1" sz="1600">
                <a:solidFill>
                  <a:schemeClr val="tx1"/>
                </a:solidFill>
                <a:latin typeface="Times New Roman" panose="02020603050405020304" pitchFamily="18" charset="0"/>
                <a:ea typeface="ＭＳ Ｐゴシック" panose="020B0600070205080204" pitchFamily="34" charset="-128"/>
              </a:defRPr>
            </a:lvl5pPr>
            <a:lvl6pPr marL="25146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6pPr>
            <a:lvl7pPr marL="29718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7pPr>
            <a:lvl8pPr marL="34290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8pPr>
            <a:lvl9pPr marL="3886200" indent="-228600" defTabSz="1279525" eaLnBrk="0" fontAlgn="base" hangingPunct="0">
              <a:spcBef>
                <a:spcPct val="0"/>
              </a:spcBef>
              <a:spcAft>
                <a:spcPct val="0"/>
              </a:spcAft>
              <a:defRPr kumimoji="1" sz="1600">
                <a:solidFill>
                  <a:schemeClr val="tx1"/>
                </a:solidFill>
                <a:latin typeface="Times New Roman" panose="02020603050405020304" pitchFamily="18" charset="0"/>
                <a:ea typeface="ＭＳ Ｐゴシック" panose="020B0600070205080204" pitchFamily="34" charset="-128"/>
              </a:defRPr>
            </a:lvl9pPr>
          </a:lstStyle>
          <a:p>
            <a:pPr marL="0" indent="0" defTabSz="862174" eaLnBrk="1" hangingPunct="1">
              <a:lnSpc>
                <a:spcPct val="80000"/>
              </a:lnSpc>
              <a:spcBef>
                <a:spcPct val="20000"/>
              </a:spcBef>
            </a:pPr>
            <a:r>
              <a:rPr lang="ja-JP" altLang="en-US" sz="2400" b="1" dirty="0">
                <a:solidFill>
                  <a:schemeClr val="accent5"/>
                </a:solidFill>
                <a:latin typeface="HG丸ｺﾞｼｯｸM-PRO" panose="020F0600000000000000" pitchFamily="50" charset="-128"/>
                <a:ea typeface="HG丸ｺﾞｼｯｸM-PRO" panose="020F0600000000000000" pitchFamily="50" charset="-128"/>
              </a:rPr>
              <a:t>モデルの概要</a:t>
            </a:r>
          </a:p>
          <a:p>
            <a:pPr marL="0" indent="0" eaLnBrk="1" hangingPunct="1">
              <a:lnSpc>
                <a:spcPct val="80000"/>
              </a:lnSpc>
              <a:spcBef>
                <a:spcPts val="668"/>
              </a:spcBef>
            </a:pPr>
            <a:r>
              <a:rPr lang="ja-JP" altLang="en-US" sz="1782" b="1" dirty="0">
                <a:latin typeface="HG丸ｺﾞｼｯｸM-PRO" panose="020F0600000000000000" pitchFamily="50" charset="-128"/>
                <a:ea typeface="HG丸ｺﾞｼｯｸM-PRO" panose="020F0600000000000000" pitchFamily="50" charset="-128"/>
              </a:rPr>
              <a:t>◆選択課題</a:t>
            </a:r>
            <a:endParaRPr lang="en-US" altLang="ja-JP" sz="1782" b="1" dirty="0">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ts val="668"/>
              </a:spcBef>
            </a:pPr>
            <a:r>
              <a:rPr lang="ja-JP" altLang="en-US" sz="1782" dirty="0">
                <a:latin typeface="HG丸ｺﾞｼｯｸM-PRO" panose="020F0600000000000000" pitchFamily="50" charset="-128"/>
                <a:ea typeface="HG丸ｺﾞｼｯｸM-PRO" panose="020F0600000000000000" pitchFamily="50" charset="-128"/>
              </a:rPr>
              <a:t>　</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ダブルループ</a:t>
            </a:r>
            <a:endParaRPr lang="en-US" altLang="ja-JP" sz="1782" b="1" dirty="0">
              <a:solidFill>
                <a:srgbClr val="FF0000"/>
              </a:solidFill>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ts val="668"/>
              </a:spcBef>
            </a:pPr>
            <a:r>
              <a:rPr lang="ja-JP" altLang="en-US" sz="1782" b="1" dirty="0">
                <a:latin typeface="HG丸ｺﾞｼｯｸM-PRO" panose="020F0600000000000000" pitchFamily="50" charset="-128"/>
                <a:ea typeface="HG丸ｺﾞｼｯｸM-PRO" panose="020F0600000000000000" pitchFamily="50" charset="-128"/>
              </a:rPr>
              <a:t>◆目標</a:t>
            </a:r>
            <a:endParaRPr lang="en-US" altLang="ja-JP" sz="1782" b="1" dirty="0">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ts val="668"/>
              </a:spcBef>
            </a:pPr>
            <a:r>
              <a:rPr lang="ja-JP" altLang="en-US" sz="1782" dirty="0">
                <a:latin typeface="HG丸ｺﾞｼｯｸM-PRO" panose="020F0600000000000000" pitchFamily="50" charset="-128"/>
                <a:ea typeface="HG丸ｺﾞｼｯｸM-PRO" panose="020F0600000000000000" pitchFamily="50" charset="-128"/>
              </a:rPr>
              <a:t>　</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すべてのチェックポイントを通過</a:t>
            </a:r>
            <a:r>
              <a:rPr lang="ja-JP" altLang="en-US" sz="1782" dirty="0">
                <a:latin typeface="HG丸ｺﾞｼｯｸM-PRO" panose="020F0600000000000000" pitchFamily="50" charset="-128"/>
                <a:ea typeface="HG丸ｺﾞｼｯｸM-PRO" panose="020F0600000000000000" pitchFamily="50" charset="-128"/>
              </a:rPr>
              <a:t>し、</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安定した走行</a:t>
            </a:r>
            <a:r>
              <a:rPr lang="ja-JP" altLang="en-US" sz="1782" dirty="0">
                <a:latin typeface="HG丸ｺﾞｼｯｸM-PRO" panose="020F0600000000000000" pitchFamily="50" charset="-128"/>
                <a:ea typeface="HG丸ｺﾞｼｯｸM-PRO" panose="020F0600000000000000" pitchFamily="50" charset="-128"/>
              </a:rPr>
              <a:t>を目指す。</a:t>
            </a:r>
            <a:endParaRPr lang="en-US" altLang="ja-JP" sz="1782" dirty="0">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ts val="668"/>
              </a:spcBef>
            </a:pPr>
            <a:r>
              <a:rPr lang="ja-JP" altLang="en-US" sz="1782" b="1" dirty="0">
                <a:latin typeface="HG丸ｺﾞｼｯｸM-PRO" panose="020F0600000000000000" pitchFamily="50" charset="-128"/>
                <a:ea typeface="HG丸ｺﾞｼｯｸM-PRO" panose="020F0600000000000000" pitchFamily="50" charset="-128"/>
              </a:rPr>
              <a:t>◆概要</a:t>
            </a:r>
            <a:endParaRPr lang="en-US" altLang="ja-JP" sz="1782" b="1" dirty="0">
              <a:latin typeface="HG丸ｺﾞｼｯｸM-PRO" panose="020F0600000000000000" pitchFamily="50" charset="-128"/>
              <a:ea typeface="HG丸ｺﾞｼｯｸM-PRO" panose="020F0600000000000000" pitchFamily="50" charset="-128"/>
            </a:endParaRPr>
          </a:p>
          <a:p>
            <a:pPr marL="285750" indent="-285750"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ダブルループの攻略ルート（シナリオ）を区間（</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シーン</a:t>
            </a:r>
            <a:r>
              <a:rPr lang="ja-JP" altLang="en-US" sz="1782" dirty="0">
                <a:latin typeface="HG丸ｺﾞｼｯｸM-PRO" panose="020F0600000000000000" pitchFamily="50" charset="-128"/>
                <a:ea typeface="HG丸ｺﾞｼｯｸM-PRO" panose="020F0600000000000000" pitchFamily="50" charset="-128"/>
              </a:rPr>
              <a:t>）に分割し、各シーンで</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走行方法</a:t>
            </a:r>
            <a:r>
              <a:rPr lang="ja-JP" altLang="en-US" sz="1782" dirty="0">
                <a:latin typeface="HG丸ｺﾞｼｯｸM-PRO" panose="020F0600000000000000" pitchFamily="50" charset="-128"/>
                <a:ea typeface="HG丸ｺﾞｼｯｸM-PRO" panose="020F0600000000000000" pitchFamily="50" charset="-128"/>
              </a:rPr>
              <a:t>（ライントレース、直進走行、旋回走行）と</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終了条件</a:t>
            </a:r>
            <a:r>
              <a:rPr lang="ja-JP" altLang="en-US" sz="1782" dirty="0">
                <a:latin typeface="HG丸ｺﾞｼｯｸM-PRO" panose="020F0600000000000000" pitchFamily="50" charset="-128"/>
                <a:ea typeface="HG丸ｺﾞｼｯｸM-PRO" panose="020F0600000000000000" pitchFamily="50" charset="-128"/>
              </a:rPr>
              <a:t>（カラー、角度、距離、反射光）を指定する。</a:t>
            </a:r>
            <a:endParaRPr lang="en-US" altLang="ja-JP" sz="1782" dirty="0">
              <a:latin typeface="HG丸ｺﾞｼｯｸM-PRO" panose="020F0600000000000000" pitchFamily="50" charset="-128"/>
              <a:ea typeface="HG丸ｺﾞｼｯｸM-PRO" panose="020F0600000000000000" pitchFamily="50" charset="-128"/>
            </a:endParaRPr>
          </a:p>
          <a:p>
            <a:pPr marL="285750" indent="-285750"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ラインが交差する箇所の攻略が難しいと考え、交差箇所ではラインを無視するために</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旋回走行</a:t>
            </a:r>
            <a:r>
              <a:rPr lang="ja-JP" altLang="en-US" sz="1782" dirty="0">
                <a:latin typeface="HG丸ｺﾞｼｯｸM-PRO" panose="020F0600000000000000" pitchFamily="50" charset="-128"/>
                <a:ea typeface="HG丸ｺﾞｼｯｸM-PRO" panose="020F0600000000000000" pitchFamily="50" charset="-128"/>
              </a:rPr>
              <a:t>と</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直進走行</a:t>
            </a:r>
            <a:r>
              <a:rPr lang="ja-JP" altLang="en-US" sz="1782" dirty="0">
                <a:latin typeface="HG丸ｺﾞｼｯｸM-PRO" panose="020F0600000000000000" pitchFamily="50" charset="-128"/>
                <a:ea typeface="HG丸ｺﾞｼｯｸM-PRO" panose="020F0600000000000000" pitchFamily="50" charset="-128"/>
              </a:rPr>
              <a:t>を行う。チェックポイントがある箇所では確実に通過するために</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ライントレース</a:t>
            </a:r>
            <a:r>
              <a:rPr lang="ja-JP" altLang="en-US" sz="1782" dirty="0">
                <a:latin typeface="HG丸ｺﾞｼｯｸM-PRO" panose="020F0600000000000000" pitchFamily="50" charset="-128"/>
                <a:ea typeface="HG丸ｺﾞｼｯｸM-PRO" panose="020F0600000000000000" pitchFamily="50" charset="-128"/>
              </a:rPr>
              <a:t>を行う。</a:t>
            </a:r>
            <a:endParaRPr lang="en-US" altLang="ja-JP" sz="1782" dirty="0">
              <a:latin typeface="HG丸ｺﾞｼｯｸM-PRO" panose="020F0600000000000000" pitchFamily="50" charset="-128"/>
              <a:ea typeface="HG丸ｺﾞｼｯｸM-PRO" panose="020F0600000000000000" pitchFamily="50" charset="-128"/>
            </a:endParaRPr>
          </a:p>
          <a:p>
            <a:pPr marL="285750" indent="-285750" eaLnBrk="1" hangingPunct="1">
              <a:lnSpc>
                <a:spcPct val="80000"/>
              </a:lnSpc>
              <a:spcBef>
                <a:spcPts val="668"/>
              </a:spcBef>
              <a:buFont typeface="Arial" panose="020B0604020202020204" pitchFamily="34" charset="0"/>
              <a:buChar char="•"/>
            </a:pPr>
            <a:r>
              <a:rPr lang="ja-JP" altLang="en-US" sz="1782" dirty="0">
                <a:latin typeface="HG丸ｺﾞｼｯｸM-PRO" panose="020F0600000000000000" pitchFamily="50" charset="-128"/>
                <a:ea typeface="HG丸ｺﾞｼｯｸM-PRO" panose="020F0600000000000000" pitchFamily="50" charset="-128"/>
              </a:rPr>
              <a:t>カラー判定には</a:t>
            </a:r>
            <a:r>
              <a:rPr lang="en-US" altLang="ja-JP" sz="1782" dirty="0">
                <a:latin typeface="HG丸ｺﾞｼｯｸM-PRO" panose="020F0600000000000000" pitchFamily="50" charset="-128"/>
                <a:ea typeface="HG丸ｺﾞｼｯｸM-PRO" panose="020F0600000000000000" pitchFamily="50" charset="-128"/>
              </a:rPr>
              <a:t>RGB</a:t>
            </a:r>
            <a:r>
              <a:rPr lang="ja-JP" altLang="en-US" sz="1782" dirty="0">
                <a:latin typeface="HG丸ｺﾞｼｯｸM-PRO" panose="020F0600000000000000" pitchFamily="50" charset="-128"/>
                <a:ea typeface="HG丸ｺﾞｼｯｸM-PRO" panose="020F0600000000000000" pitchFamily="50" charset="-128"/>
              </a:rPr>
              <a:t>値ではなく</a:t>
            </a:r>
            <a:r>
              <a:rPr lang="en-US" altLang="ja-JP" sz="1782" b="1" dirty="0">
                <a:solidFill>
                  <a:srgbClr val="FF0000"/>
                </a:solidFill>
                <a:latin typeface="HG丸ｺﾞｼｯｸM-PRO" panose="020F0600000000000000" pitchFamily="50" charset="-128"/>
                <a:ea typeface="HG丸ｺﾞｼｯｸM-PRO" panose="020F0600000000000000" pitchFamily="50" charset="-128"/>
              </a:rPr>
              <a:t>HSV</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値</a:t>
            </a:r>
            <a:r>
              <a:rPr lang="ja-JP" altLang="en-US" sz="1782" dirty="0">
                <a:latin typeface="HG丸ｺﾞｼｯｸM-PRO" panose="020F0600000000000000" pitchFamily="50" charset="-128"/>
                <a:ea typeface="HG丸ｺﾞｼｯｸM-PRO" panose="020F0600000000000000" pitchFamily="50" charset="-128"/>
              </a:rPr>
              <a:t>を用いて正確で</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安定した判定</a:t>
            </a:r>
            <a:r>
              <a:rPr lang="ja-JP" altLang="en-US" sz="1782" dirty="0">
                <a:latin typeface="HG丸ｺﾞｼｯｸM-PRO" panose="020F0600000000000000" pitchFamily="50" charset="-128"/>
                <a:ea typeface="HG丸ｺﾞｼｯｸM-PRO" panose="020F0600000000000000" pitchFamily="50" charset="-128"/>
              </a:rPr>
              <a:t>、一部終了条件に</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複数条件</a:t>
            </a:r>
            <a:r>
              <a:rPr lang="ja-JP" altLang="en-US" sz="1782" dirty="0">
                <a:latin typeface="HG丸ｺﾞｼｯｸM-PRO" panose="020F0600000000000000" pitchFamily="50" charset="-128"/>
                <a:ea typeface="HG丸ｺﾞｼｯｸM-PRO" panose="020F0600000000000000" pitchFamily="50" charset="-128"/>
              </a:rPr>
              <a:t>を用いた</a:t>
            </a:r>
            <a:r>
              <a:rPr lang="ja-JP" altLang="en-US" sz="1782" b="1" dirty="0">
                <a:solidFill>
                  <a:srgbClr val="FF0000"/>
                </a:solidFill>
                <a:latin typeface="HG丸ｺﾞｼｯｸM-PRO" panose="020F0600000000000000" pitchFamily="50" charset="-128"/>
                <a:ea typeface="HG丸ｺﾞｼｯｸM-PRO" panose="020F0600000000000000" pitchFamily="50" charset="-128"/>
              </a:rPr>
              <a:t>高度な判定</a:t>
            </a:r>
            <a:r>
              <a:rPr lang="ja-JP" altLang="en-US" sz="1782" dirty="0">
                <a:latin typeface="HG丸ｺﾞｼｯｸM-PRO" panose="020F0600000000000000" pitchFamily="50" charset="-128"/>
                <a:ea typeface="HG丸ｺﾞｼｯｸM-PRO" panose="020F0600000000000000" pitchFamily="50" charset="-128"/>
              </a:rPr>
              <a:t>を実施。</a:t>
            </a:r>
            <a:endParaRPr lang="en-US" altLang="ja-JP" sz="2004" dirty="0">
              <a:latin typeface="HG丸ｺﾞｼｯｸM-PRO" panose="020F0600000000000000" pitchFamily="50" charset="-128"/>
              <a:ea typeface="HG丸ｺﾞｼｯｸM-PRO" panose="020F0600000000000000" pitchFamily="50" charset="-128"/>
            </a:endParaRPr>
          </a:p>
          <a:p>
            <a:pPr marL="0" indent="0" eaLnBrk="1" hangingPunct="1">
              <a:lnSpc>
                <a:spcPct val="80000"/>
              </a:lnSpc>
              <a:spcBef>
                <a:spcPct val="20000"/>
              </a:spcBef>
            </a:pPr>
            <a:endParaRPr lang="en-US" altLang="ja-JP" sz="2004" dirty="0">
              <a:latin typeface="HG丸ｺﾞｼｯｸM-PRO" panose="020F0600000000000000" pitchFamily="50" charset="-128"/>
              <a:ea typeface="HG丸ｺﾞｼｯｸM-PRO" panose="020F0600000000000000" pitchFamily="50" charset="-128"/>
            </a:endParaRPr>
          </a:p>
        </p:txBody>
      </p:sp>
      <p:sp>
        <p:nvSpPr>
          <p:cNvPr id="20" name="Rectangle 17">
            <a:extLst>
              <a:ext uri="{FF2B5EF4-FFF2-40B4-BE49-F238E27FC236}">
                <a16:creationId xmlns:a16="http://schemas.microsoft.com/office/drawing/2014/main" id="{C1472DD0-14C8-01CA-4AAE-6BECD5AF0D4D}"/>
              </a:ext>
            </a:extLst>
          </p:cNvPr>
          <p:cNvSpPr>
            <a:spLocks noChangeArrowheads="1"/>
          </p:cNvSpPr>
          <p:nvPr/>
        </p:nvSpPr>
        <p:spPr bwMode="auto">
          <a:xfrm>
            <a:off x="7475852" y="1326472"/>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en-US" sz="2400" dirty="0">
                <a:latin typeface="ＭＳ Ｐゴシック" panose="020B0600070205080204" pitchFamily="34" charset="-128"/>
              </a:rPr>
              <a:t>株式会社システムニシツウ</a:t>
            </a:r>
          </a:p>
        </p:txBody>
      </p:sp>
      <p:sp>
        <p:nvSpPr>
          <p:cNvPr id="21" name="Rectangle 17">
            <a:extLst>
              <a:ext uri="{FF2B5EF4-FFF2-40B4-BE49-F238E27FC236}">
                <a16:creationId xmlns:a16="http://schemas.microsoft.com/office/drawing/2014/main" id="{F6161D09-00FF-31B1-120D-6EDB038DCF65}"/>
              </a:ext>
            </a:extLst>
          </p:cNvPr>
          <p:cNvSpPr>
            <a:spLocks noChangeArrowheads="1"/>
          </p:cNvSpPr>
          <p:nvPr/>
        </p:nvSpPr>
        <p:spPr bwMode="auto">
          <a:xfrm>
            <a:off x="7475852" y="850377"/>
            <a:ext cx="1928136"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zh-TW" altLang="en-US" sz="2400" dirty="0">
                <a:latin typeface="ＭＳ Ｐゴシック" panose="020B0600070205080204" pitchFamily="34" charset="-128"/>
              </a:rPr>
              <a:t>福岡県福岡市</a:t>
            </a:r>
            <a:endParaRPr lang="ja-JP" altLang="en-US" sz="2400" dirty="0">
              <a:latin typeface="ＭＳ Ｐゴシック" panose="020B0600070205080204" pitchFamily="34" charset="-128"/>
            </a:endParaRPr>
          </a:p>
        </p:txBody>
      </p:sp>
      <p:sp>
        <p:nvSpPr>
          <p:cNvPr id="22" name="Rectangle 17">
            <a:extLst>
              <a:ext uri="{FF2B5EF4-FFF2-40B4-BE49-F238E27FC236}">
                <a16:creationId xmlns:a16="http://schemas.microsoft.com/office/drawing/2014/main" id="{46801F28-0D57-20B0-9666-44E8A6E30319}"/>
              </a:ext>
            </a:extLst>
          </p:cNvPr>
          <p:cNvSpPr>
            <a:spLocks noChangeArrowheads="1"/>
          </p:cNvSpPr>
          <p:nvPr/>
        </p:nvSpPr>
        <p:spPr bwMode="auto">
          <a:xfrm>
            <a:off x="619298" y="1326472"/>
            <a:ext cx="1179737"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en-US" altLang="ja-JP" sz="2400" dirty="0">
                <a:latin typeface="ＭＳ Ｐゴシック" panose="020B0600070205080204" pitchFamily="34" charset="-128"/>
              </a:rPr>
              <a:t>193</a:t>
            </a:r>
            <a:endParaRPr lang="ja-JP" altLang="en-US" sz="2400" dirty="0">
              <a:latin typeface="ＭＳ Ｐゴシック" panose="020B0600070205080204" pitchFamily="34" charset="-128"/>
            </a:endParaRPr>
          </a:p>
        </p:txBody>
      </p:sp>
      <p:sp>
        <p:nvSpPr>
          <p:cNvPr id="23" name="Rectangle 17">
            <a:extLst>
              <a:ext uri="{FF2B5EF4-FFF2-40B4-BE49-F238E27FC236}">
                <a16:creationId xmlns:a16="http://schemas.microsoft.com/office/drawing/2014/main" id="{943C4037-4556-7D81-BB8F-160251C9268A}"/>
              </a:ext>
            </a:extLst>
          </p:cNvPr>
          <p:cNvSpPr>
            <a:spLocks noChangeArrowheads="1"/>
          </p:cNvSpPr>
          <p:nvPr/>
        </p:nvSpPr>
        <p:spPr bwMode="auto">
          <a:xfrm>
            <a:off x="2879155" y="1326472"/>
            <a:ext cx="2376264" cy="59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2537" tIns="71269" rIns="142537" bIns="71269" anchor="ctr"/>
          <a:lstStyle/>
          <a:p>
            <a:pPr defTabSz="1279525"/>
            <a:r>
              <a:rPr lang="ja-JP" altLang="en-US" sz="2400" dirty="0">
                <a:latin typeface="ＭＳ Ｐゴシック" panose="020B0600070205080204" pitchFamily="34" charset="-128"/>
              </a:rPr>
              <a:t>ﾆｼﾂｳ　ﾛﾎﾞｺﾝ</a:t>
            </a:r>
          </a:p>
        </p:txBody>
      </p:sp>
    </p:spTree>
    <p:extLst>
      <p:ext uri="{BB962C8B-B14F-4D97-AF65-F5344CB8AC3E}">
        <p14:creationId xmlns:p14="http://schemas.microsoft.com/office/powerpoint/2010/main" val="362217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グラフィックス 17">
            <a:extLst>
              <a:ext uri="{FF2B5EF4-FFF2-40B4-BE49-F238E27FC236}">
                <a16:creationId xmlns:a16="http://schemas.microsoft.com/office/drawing/2014/main" id="{61EF6E4A-7B49-4F3B-ADAF-439850BCF6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715604" y="1664270"/>
            <a:ext cx="3409211" cy="7686000"/>
          </a:xfrm>
          <a:prstGeom prst="rect">
            <a:avLst/>
          </a:prstGeom>
        </p:spPr>
      </p:pic>
      <p:pic>
        <p:nvPicPr>
          <p:cNvPr id="16" name="グラフィックス 15">
            <a:extLst>
              <a:ext uri="{FF2B5EF4-FFF2-40B4-BE49-F238E27FC236}">
                <a16:creationId xmlns:a16="http://schemas.microsoft.com/office/drawing/2014/main" id="{554D8BE2-FE6B-431E-87B3-A751E97DD1F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69914" y="1746973"/>
            <a:ext cx="7333592" cy="4395600"/>
          </a:xfrm>
          <a:prstGeom prst="rect">
            <a:avLst/>
          </a:prstGeom>
        </p:spPr>
      </p:pic>
      <p:sp>
        <p:nvSpPr>
          <p:cNvPr id="5" name="タイトル 4">
            <a:extLst>
              <a:ext uri="{FF2B5EF4-FFF2-40B4-BE49-F238E27FC236}">
                <a16:creationId xmlns:a16="http://schemas.microsoft.com/office/drawing/2014/main" id="{99E97F26-ED30-4870-B29B-88DD2A395D18}"/>
              </a:ext>
            </a:extLst>
          </p:cNvPr>
          <p:cNvSpPr>
            <a:spLocks noGrp="1"/>
          </p:cNvSpPr>
          <p:nvPr>
            <p:ph type="title"/>
          </p:nvPr>
        </p:nvSpPr>
        <p:spPr>
          <a:xfrm>
            <a:off x="0" y="0"/>
            <a:ext cx="15119350" cy="881410"/>
          </a:xfrm>
          <a:solidFill>
            <a:schemeClr val="accent6">
              <a:lumMod val="40000"/>
              <a:lumOff val="60000"/>
            </a:schemeClr>
          </a:solidFill>
        </p:spPr>
        <p:txBody>
          <a:bodyPr>
            <a:normAutofit/>
          </a:bodyPr>
          <a:lstStyle/>
          <a:p>
            <a:r>
              <a:rPr kumimoji="1" lang="ja-JP" altLang="en-US" sz="3200" b="1" dirty="0">
                <a:effectLst>
                  <a:outerShdw blurRad="38100" dist="38100" dir="2700000" algn="tl">
                    <a:srgbClr val="000000">
                      <a:alpha val="43137"/>
                    </a:srgbClr>
                  </a:outerShdw>
                </a:effectLst>
              </a:rPr>
              <a:t>　１．機能モデル</a:t>
            </a:r>
          </a:p>
        </p:txBody>
      </p:sp>
      <p:graphicFrame>
        <p:nvGraphicFramePr>
          <p:cNvPr id="11" name="表 10">
            <a:extLst>
              <a:ext uri="{FF2B5EF4-FFF2-40B4-BE49-F238E27FC236}">
                <a16:creationId xmlns:a16="http://schemas.microsoft.com/office/drawing/2014/main" id="{54F5F608-25EF-4BDF-A125-0A222C0A99A4}"/>
              </a:ext>
            </a:extLst>
          </p:cNvPr>
          <p:cNvGraphicFramePr>
            <a:graphicFrameLocks noGrp="1"/>
          </p:cNvGraphicFramePr>
          <p:nvPr>
            <p:extLst>
              <p:ext uri="{D42A27DB-BD31-4B8C-83A1-F6EECF244321}">
                <p14:modId xmlns:p14="http://schemas.microsoft.com/office/powerpoint/2010/main" val="3768624629"/>
              </p:ext>
            </p:extLst>
          </p:nvPr>
        </p:nvGraphicFramePr>
        <p:xfrm>
          <a:off x="47114" y="7072425"/>
          <a:ext cx="4263390" cy="3520440"/>
        </p:xfrm>
        <a:graphic>
          <a:graphicData uri="http://schemas.openxmlformats.org/drawingml/2006/table">
            <a:tbl>
              <a:tblPr firstRow="1" bandRow="1">
                <a:tableStyleId>{93296810-A885-4BE3-A3E7-6D5BEEA58F35}</a:tableStyleId>
              </a:tblPr>
              <a:tblGrid>
                <a:gridCol w="621030">
                  <a:extLst>
                    <a:ext uri="{9D8B030D-6E8A-4147-A177-3AD203B41FA5}">
                      <a16:colId xmlns:a16="http://schemas.microsoft.com/office/drawing/2014/main" val="2778072839"/>
                    </a:ext>
                  </a:extLst>
                </a:gridCol>
                <a:gridCol w="1287780">
                  <a:extLst>
                    <a:ext uri="{9D8B030D-6E8A-4147-A177-3AD203B41FA5}">
                      <a16:colId xmlns:a16="http://schemas.microsoft.com/office/drawing/2014/main" val="1193256079"/>
                    </a:ext>
                  </a:extLst>
                </a:gridCol>
                <a:gridCol w="2354580">
                  <a:extLst>
                    <a:ext uri="{9D8B030D-6E8A-4147-A177-3AD203B41FA5}">
                      <a16:colId xmlns:a16="http://schemas.microsoft.com/office/drawing/2014/main" val="1462401959"/>
                    </a:ext>
                  </a:extLst>
                </a:gridCol>
              </a:tblGrid>
              <a:tr h="216600">
                <a:tc>
                  <a:txBody>
                    <a:bodyPr/>
                    <a:lstStyle/>
                    <a:p>
                      <a:pPr algn="ctr"/>
                      <a:r>
                        <a:rPr kumimoji="1" lang="ja-JP" altLang="en-US" sz="1050" dirty="0">
                          <a:latin typeface="+mn-ea"/>
                          <a:ea typeface="+mn-ea"/>
                        </a:rPr>
                        <a:t>シーン</a:t>
                      </a:r>
                    </a:p>
                  </a:txBody>
                  <a:tcPr anchor="ctr"/>
                </a:tc>
                <a:tc>
                  <a:txBody>
                    <a:bodyPr/>
                    <a:lstStyle/>
                    <a:p>
                      <a:pPr algn="ctr"/>
                      <a:r>
                        <a:rPr kumimoji="1" lang="ja-JP" altLang="en-US" sz="1050" dirty="0"/>
                        <a:t>走行方法</a:t>
                      </a:r>
                      <a:endParaRPr kumimoji="1" lang="ja-JP" altLang="en-US" sz="1050" dirty="0">
                        <a:latin typeface="+mn-ea"/>
                        <a:ea typeface="+mn-ea"/>
                      </a:endParaRPr>
                    </a:p>
                  </a:txBody>
                  <a:tcPr anchor="ctr"/>
                </a:tc>
                <a:tc>
                  <a:txBody>
                    <a:bodyPr/>
                    <a:lstStyle/>
                    <a:p>
                      <a:pPr algn="ctr"/>
                      <a:r>
                        <a:rPr kumimoji="1" lang="ja-JP" altLang="en-US" sz="1050" dirty="0"/>
                        <a:t>終了条件</a:t>
                      </a:r>
                      <a:endParaRPr kumimoji="1" lang="ja-JP" altLang="en-US" sz="1050" dirty="0">
                        <a:latin typeface="+mn-ea"/>
                        <a:ea typeface="+mn-ea"/>
                      </a:endParaRPr>
                    </a:p>
                  </a:txBody>
                  <a:tcPr anchor="ctr"/>
                </a:tc>
                <a:extLst>
                  <a:ext uri="{0D108BD9-81ED-4DB2-BD59-A6C34878D82A}">
                    <a16:rowId xmlns:a16="http://schemas.microsoft.com/office/drawing/2014/main" val="2973073971"/>
                  </a:ext>
                </a:extLst>
              </a:tr>
              <a:tr h="216600">
                <a:tc>
                  <a:txBody>
                    <a:bodyPr/>
                    <a:lstStyle/>
                    <a:p>
                      <a:r>
                        <a:rPr kumimoji="1" lang="en-US" altLang="ja-JP" sz="1050" dirty="0"/>
                        <a:t>1</a:t>
                      </a:r>
                      <a:endParaRPr kumimoji="1" lang="en-US" altLang="ja-JP" sz="1050" dirty="0">
                        <a:latin typeface="+mn-ea"/>
                        <a:ea typeface="+mn-ea"/>
                      </a:endParaRPr>
                    </a:p>
                  </a:txBody>
                  <a:tcPr anchor="ctr"/>
                </a:tc>
                <a:tc>
                  <a:txBody>
                    <a:bodyPr/>
                    <a:lstStyle/>
                    <a:p>
                      <a:r>
                        <a:rPr kumimoji="1" lang="ja-JP" altLang="en-US" sz="1050" dirty="0"/>
                        <a:t>右旋回走行</a:t>
                      </a:r>
                      <a:endParaRPr kumimoji="1" lang="ja-JP" altLang="en-US" sz="1050" dirty="0">
                        <a:latin typeface="+mn-ea"/>
                        <a:ea typeface="+mn-ea"/>
                      </a:endParaRPr>
                    </a:p>
                  </a:txBody>
                  <a:tcPr anchor="ctr"/>
                </a:tc>
                <a:tc>
                  <a:txBody>
                    <a:bodyPr/>
                    <a:lstStyle/>
                    <a:p>
                      <a:r>
                        <a:rPr kumimoji="1" lang="ja-JP" altLang="en-US" sz="1050" dirty="0"/>
                        <a:t>ジャイロ角が指定角に到達</a:t>
                      </a:r>
                      <a:endParaRPr kumimoji="1" lang="ja-JP" altLang="en-US" sz="1050" dirty="0">
                        <a:latin typeface="+mn-ea"/>
                        <a:ea typeface="+mn-ea"/>
                      </a:endParaRPr>
                    </a:p>
                  </a:txBody>
                  <a:tcPr anchor="ctr"/>
                </a:tc>
                <a:extLst>
                  <a:ext uri="{0D108BD9-81ED-4DB2-BD59-A6C34878D82A}">
                    <a16:rowId xmlns:a16="http://schemas.microsoft.com/office/drawing/2014/main" val="404504937"/>
                  </a:ext>
                </a:extLst>
              </a:tr>
              <a:tr h="216600">
                <a:tc>
                  <a:txBody>
                    <a:bodyPr/>
                    <a:lstStyle/>
                    <a:p>
                      <a:r>
                        <a:rPr kumimoji="1" lang="en-US" altLang="ja-JP" sz="1050" dirty="0"/>
                        <a:t>2</a:t>
                      </a:r>
                      <a:endParaRPr kumimoji="1" lang="ja-JP" altLang="en-US" sz="1050" dirty="0">
                        <a:latin typeface="+mn-ea"/>
                        <a:ea typeface="+mn-ea"/>
                      </a:endParaRPr>
                    </a:p>
                  </a:txBody>
                  <a:tcPr anchor="ctr"/>
                </a:tc>
                <a:tc>
                  <a:txBody>
                    <a:bodyPr/>
                    <a:lstStyle/>
                    <a:p>
                      <a:r>
                        <a:rPr kumimoji="1" lang="ja-JP" altLang="en-US" sz="1050" dirty="0"/>
                        <a:t>直進走行</a:t>
                      </a:r>
                      <a:endParaRPr kumimoji="1" lang="ja-JP" altLang="en-US" sz="1050" dirty="0">
                        <a:latin typeface="+mn-ea"/>
                        <a:ea typeface="+mn-ea"/>
                      </a:endParaRPr>
                    </a:p>
                  </a:txBody>
                  <a:tcPr anchor="ctr"/>
                </a:tc>
                <a:tc>
                  <a:txBody>
                    <a:bodyPr/>
                    <a:lstStyle/>
                    <a:p>
                      <a:r>
                        <a:rPr kumimoji="1" lang="ja-JP" altLang="en-US" sz="1050" dirty="0"/>
                        <a:t>距離が指定値に到達且つ黒色を検知</a:t>
                      </a:r>
                      <a:endParaRPr kumimoji="1" lang="ja-JP" altLang="en-US" sz="1050" dirty="0">
                        <a:latin typeface="+mn-ea"/>
                        <a:ea typeface="+mn-ea"/>
                      </a:endParaRPr>
                    </a:p>
                  </a:txBody>
                  <a:tcPr anchor="ctr"/>
                </a:tc>
                <a:extLst>
                  <a:ext uri="{0D108BD9-81ED-4DB2-BD59-A6C34878D82A}">
                    <a16:rowId xmlns:a16="http://schemas.microsoft.com/office/drawing/2014/main" val="2541362230"/>
                  </a:ext>
                </a:extLst>
              </a:tr>
              <a:tr h="216600">
                <a:tc>
                  <a:txBody>
                    <a:bodyPr/>
                    <a:lstStyle/>
                    <a:p>
                      <a:r>
                        <a:rPr kumimoji="1" lang="en-US" altLang="ja-JP" sz="1050" dirty="0"/>
                        <a:t>3</a:t>
                      </a:r>
                      <a:endParaRPr kumimoji="1" lang="ja-JP" altLang="en-US" sz="1050" dirty="0">
                        <a:latin typeface="+mn-ea"/>
                        <a:ea typeface="+mn-ea"/>
                      </a:endParaRPr>
                    </a:p>
                  </a:txBody>
                  <a:tcPr anchor="ctr"/>
                </a:tc>
                <a:tc>
                  <a:txBody>
                    <a:bodyPr/>
                    <a:lstStyle/>
                    <a:p>
                      <a:r>
                        <a:rPr kumimoji="1" lang="ja-JP" altLang="en-US" sz="1050" dirty="0"/>
                        <a:t>黒ライントレース</a:t>
                      </a:r>
                      <a:endParaRPr kumimoji="1" lang="ja-JP" altLang="en-US" sz="1050" dirty="0">
                        <a:latin typeface="+mn-ea"/>
                        <a:ea typeface="+mn-ea"/>
                      </a:endParaRPr>
                    </a:p>
                  </a:txBody>
                  <a:tcPr anchor="ctr"/>
                </a:tc>
                <a:tc>
                  <a:txBody>
                    <a:bodyPr/>
                    <a:lstStyle/>
                    <a:p>
                      <a:r>
                        <a:rPr kumimoji="1" lang="ja-JP" altLang="en-US" sz="1050" dirty="0"/>
                        <a:t>青色を検知</a:t>
                      </a:r>
                      <a:endParaRPr kumimoji="1" lang="ja-JP" altLang="en-US" sz="1050" dirty="0">
                        <a:latin typeface="+mn-ea"/>
                        <a:ea typeface="+mn-ea"/>
                      </a:endParaRPr>
                    </a:p>
                  </a:txBody>
                  <a:tcPr anchor="ctr"/>
                </a:tc>
                <a:extLst>
                  <a:ext uri="{0D108BD9-81ED-4DB2-BD59-A6C34878D82A}">
                    <a16:rowId xmlns:a16="http://schemas.microsoft.com/office/drawing/2014/main" val="1448163456"/>
                  </a:ext>
                </a:extLst>
              </a:tr>
              <a:tr h="216600">
                <a:tc>
                  <a:txBody>
                    <a:bodyPr/>
                    <a:lstStyle/>
                    <a:p>
                      <a:r>
                        <a:rPr kumimoji="1" lang="en-US" altLang="ja-JP" sz="1050" dirty="0"/>
                        <a:t>4</a:t>
                      </a:r>
                      <a:endParaRPr kumimoji="1" lang="ja-JP" altLang="en-US" sz="1050" dirty="0">
                        <a:latin typeface="+mn-ea"/>
                        <a:ea typeface="+mn-ea"/>
                      </a:endParaRPr>
                    </a:p>
                  </a:txBody>
                  <a:tcPr anchor="ctr"/>
                </a:tc>
                <a:tc>
                  <a:txBody>
                    <a:bodyPr/>
                    <a:lstStyle/>
                    <a:p>
                      <a:r>
                        <a:rPr kumimoji="1" lang="ja-JP" altLang="en-US" sz="1050" dirty="0"/>
                        <a:t>右旋回走行</a:t>
                      </a:r>
                      <a:endParaRPr kumimoji="1" lang="ja-JP" altLang="en-US" sz="1050" dirty="0">
                        <a:latin typeface="+mn-ea"/>
                        <a:ea typeface="+mn-ea"/>
                      </a:endParaRPr>
                    </a:p>
                  </a:txBody>
                  <a:tcPr anchor="ctr"/>
                </a:tc>
                <a:tc>
                  <a:txBody>
                    <a:bodyPr/>
                    <a:lstStyle/>
                    <a:p>
                      <a:r>
                        <a:rPr kumimoji="1" lang="ja-JP" altLang="en-US" sz="1050" dirty="0"/>
                        <a:t>ジャイロ角が指定角に到達</a:t>
                      </a:r>
                      <a:endParaRPr kumimoji="1" lang="ja-JP" altLang="en-US" sz="1050" dirty="0">
                        <a:latin typeface="+mn-ea"/>
                        <a:ea typeface="+mn-ea"/>
                      </a:endParaRPr>
                    </a:p>
                  </a:txBody>
                  <a:tcPr anchor="ctr"/>
                </a:tc>
                <a:extLst>
                  <a:ext uri="{0D108BD9-81ED-4DB2-BD59-A6C34878D82A}">
                    <a16:rowId xmlns:a16="http://schemas.microsoft.com/office/drawing/2014/main" val="1033356322"/>
                  </a:ext>
                </a:extLst>
              </a:tr>
              <a:tr h="216600">
                <a:tc>
                  <a:txBody>
                    <a:bodyPr/>
                    <a:lstStyle/>
                    <a:p>
                      <a:r>
                        <a:rPr kumimoji="1" lang="en-US" altLang="ja-JP" sz="1050" dirty="0"/>
                        <a:t>5</a:t>
                      </a:r>
                      <a:endParaRPr kumimoji="1" lang="ja-JP" altLang="en-US" sz="1050" dirty="0">
                        <a:latin typeface="+mn-ea"/>
                        <a:ea typeface="+mn-ea"/>
                      </a:endParaRPr>
                    </a:p>
                  </a:txBody>
                  <a:tcPr anchor="ctr"/>
                </a:tc>
                <a:tc>
                  <a:txBody>
                    <a:bodyPr/>
                    <a:lstStyle/>
                    <a:p>
                      <a:r>
                        <a:rPr kumimoji="1" lang="ja-JP" altLang="en-US" sz="1050" dirty="0"/>
                        <a:t>直進走行</a:t>
                      </a:r>
                      <a:endParaRPr kumimoji="1" lang="ja-JP" altLang="en-US" sz="1050" dirty="0">
                        <a:latin typeface="+mn-ea"/>
                        <a:ea typeface="+mn-ea"/>
                      </a:endParaRPr>
                    </a:p>
                  </a:txBody>
                  <a:tcPr anchor="ctr"/>
                </a:tc>
                <a:tc>
                  <a:txBody>
                    <a:bodyPr/>
                    <a:lstStyle/>
                    <a:p>
                      <a:r>
                        <a:rPr kumimoji="1" lang="ja-JP" altLang="en-US" sz="1050" dirty="0"/>
                        <a:t>距離が指定値に到達且つ黒色を検知</a:t>
                      </a:r>
                      <a:endParaRPr kumimoji="1" lang="ja-JP" altLang="en-US" sz="1050" dirty="0">
                        <a:latin typeface="+mn-ea"/>
                        <a:ea typeface="+mn-ea"/>
                      </a:endParaRPr>
                    </a:p>
                  </a:txBody>
                  <a:tcPr anchor="ctr"/>
                </a:tc>
                <a:extLst>
                  <a:ext uri="{0D108BD9-81ED-4DB2-BD59-A6C34878D82A}">
                    <a16:rowId xmlns:a16="http://schemas.microsoft.com/office/drawing/2014/main" val="3177208918"/>
                  </a:ext>
                </a:extLst>
              </a:tr>
              <a:tr h="216600">
                <a:tc>
                  <a:txBody>
                    <a:bodyPr/>
                    <a:lstStyle/>
                    <a:p>
                      <a:r>
                        <a:rPr kumimoji="1" lang="en-US" altLang="ja-JP" sz="1050" dirty="0"/>
                        <a:t>6</a:t>
                      </a:r>
                      <a:endParaRPr kumimoji="1" lang="ja-JP" altLang="en-US" sz="1050" dirty="0">
                        <a:latin typeface="+mn-ea"/>
                        <a:ea typeface="+mn-ea"/>
                      </a:endParaRPr>
                    </a:p>
                  </a:txBody>
                  <a:tcPr anchor="ctr"/>
                </a:tc>
                <a:tc>
                  <a:txBody>
                    <a:bodyPr/>
                    <a:lstStyle/>
                    <a:p>
                      <a:r>
                        <a:rPr kumimoji="1" lang="ja-JP" altLang="en-US" sz="1050" dirty="0"/>
                        <a:t>黒ライントレース</a:t>
                      </a:r>
                      <a:endParaRPr kumimoji="1" lang="ja-JP" altLang="en-US" sz="1050" dirty="0">
                        <a:latin typeface="+mn-ea"/>
                        <a:ea typeface="+mn-ea"/>
                      </a:endParaRPr>
                    </a:p>
                  </a:txBody>
                  <a:tcPr anchor="ctr"/>
                </a:tc>
                <a:tc>
                  <a:txBody>
                    <a:bodyPr/>
                    <a:lstStyle/>
                    <a:p>
                      <a:r>
                        <a:rPr kumimoji="1" lang="ja-JP" altLang="en-US" sz="1050" dirty="0"/>
                        <a:t>青色を検知</a:t>
                      </a:r>
                      <a:endParaRPr kumimoji="1" lang="ja-JP" altLang="en-US" sz="1050" dirty="0">
                        <a:latin typeface="+mn-ea"/>
                        <a:ea typeface="+mn-ea"/>
                      </a:endParaRPr>
                    </a:p>
                  </a:txBody>
                  <a:tcPr anchor="ctr"/>
                </a:tc>
                <a:extLst>
                  <a:ext uri="{0D108BD9-81ED-4DB2-BD59-A6C34878D82A}">
                    <a16:rowId xmlns:a16="http://schemas.microsoft.com/office/drawing/2014/main" val="261614473"/>
                  </a:ext>
                </a:extLst>
              </a:tr>
              <a:tr h="216600">
                <a:tc>
                  <a:txBody>
                    <a:bodyPr/>
                    <a:lstStyle/>
                    <a:p>
                      <a:r>
                        <a:rPr kumimoji="1" lang="en-US" altLang="ja-JP" sz="1050" dirty="0"/>
                        <a:t>7</a:t>
                      </a:r>
                      <a:endParaRPr kumimoji="1" lang="ja-JP" altLang="en-US" sz="1050" dirty="0">
                        <a:latin typeface="+mn-ea"/>
                        <a:ea typeface="+mn-ea"/>
                      </a:endParaRPr>
                    </a:p>
                  </a:txBody>
                  <a:tcPr anchor="ctr"/>
                </a:tc>
                <a:tc>
                  <a:txBody>
                    <a:bodyPr/>
                    <a:lstStyle/>
                    <a:p>
                      <a:r>
                        <a:rPr kumimoji="1" lang="ja-JP" altLang="en-US" sz="1050" dirty="0"/>
                        <a:t>直進走行</a:t>
                      </a:r>
                      <a:endParaRPr kumimoji="1" lang="ja-JP" altLang="en-US" sz="1050" dirty="0">
                        <a:latin typeface="+mn-ea"/>
                        <a:ea typeface="+mn-ea"/>
                      </a:endParaRPr>
                    </a:p>
                  </a:txBody>
                  <a:tcPr anchor="ctr"/>
                </a:tc>
                <a:tc>
                  <a:txBody>
                    <a:bodyPr/>
                    <a:lstStyle/>
                    <a:p>
                      <a:r>
                        <a:rPr kumimoji="1" lang="ja-JP" altLang="en-US" sz="1050" dirty="0"/>
                        <a:t>距離が指定値に到達</a:t>
                      </a:r>
                      <a:endParaRPr kumimoji="1" lang="ja-JP" altLang="en-US" sz="1050" dirty="0">
                        <a:latin typeface="+mn-ea"/>
                        <a:ea typeface="+mn-ea"/>
                      </a:endParaRPr>
                    </a:p>
                  </a:txBody>
                  <a:tcPr anchor="ctr"/>
                </a:tc>
                <a:extLst>
                  <a:ext uri="{0D108BD9-81ED-4DB2-BD59-A6C34878D82A}">
                    <a16:rowId xmlns:a16="http://schemas.microsoft.com/office/drawing/2014/main" val="369679530"/>
                  </a:ext>
                </a:extLst>
              </a:tr>
              <a:tr h="216600">
                <a:tc>
                  <a:txBody>
                    <a:bodyPr/>
                    <a:lstStyle/>
                    <a:p>
                      <a:r>
                        <a:rPr kumimoji="1" lang="en-US" altLang="ja-JP" sz="1050" dirty="0"/>
                        <a:t>8</a:t>
                      </a:r>
                      <a:endParaRPr kumimoji="1" lang="ja-JP" altLang="en-US" sz="1050" dirty="0">
                        <a:latin typeface="+mn-ea"/>
                        <a:ea typeface="+mn-ea"/>
                      </a:endParaRPr>
                    </a:p>
                  </a:txBody>
                  <a:tcPr anchor="ctr"/>
                </a:tc>
                <a:tc>
                  <a:txBody>
                    <a:bodyPr/>
                    <a:lstStyle/>
                    <a:p>
                      <a:r>
                        <a:rPr kumimoji="1" lang="ja-JP" altLang="en-US" sz="1050" dirty="0"/>
                        <a:t>左旋回走行</a:t>
                      </a:r>
                      <a:endParaRPr kumimoji="1" lang="ja-JP" altLang="en-US" sz="1050" dirty="0">
                        <a:latin typeface="+mn-ea"/>
                        <a:ea typeface="+mn-ea"/>
                      </a:endParaRPr>
                    </a:p>
                  </a:txBody>
                  <a:tcPr anchor="ctr"/>
                </a:tc>
                <a:tc>
                  <a:txBody>
                    <a:bodyPr/>
                    <a:lstStyle/>
                    <a:p>
                      <a:r>
                        <a:rPr kumimoji="1" lang="ja-JP" altLang="en-US" sz="1050" dirty="0"/>
                        <a:t>ジャイロ角が指定角に到達</a:t>
                      </a:r>
                      <a:endParaRPr kumimoji="1" lang="ja-JP" altLang="en-US" sz="1050" dirty="0">
                        <a:latin typeface="+mn-ea"/>
                        <a:ea typeface="+mn-ea"/>
                      </a:endParaRPr>
                    </a:p>
                  </a:txBody>
                  <a:tcPr anchor="ctr"/>
                </a:tc>
                <a:extLst>
                  <a:ext uri="{0D108BD9-81ED-4DB2-BD59-A6C34878D82A}">
                    <a16:rowId xmlns:a16="http://schemas.microsoft.com/office/drawing/2014/main" val="3383419269"/>
                  </a:ext>
                </a:extLst>
              </a:tr>
              <a:tr h="216600">
                <a:tc>
                  <a:txBody>
                    <a:bodyPr/>
                    <a:lstStyle/>
                    <a:p>
                      <a:r>
                        <a:rPr kumimoji="1" lang="en-US" altLang="ja-JP" sz="1050" dirty="0"/>
                        <a:t>9</a:t>
                      </a:r>
                      <a:endParaRPr kumimoji="1" lang="ja-JP" altLang="en-US" sz="1050" dirty="0">
                        <a:latin typeface="+mn-ea"/>
                        <a:ea typeface="+mn-ea"/>
                      </a:endParaRPr>
                    </a:p>
                  </a:txBody>
                  <a:tcPr anchor="ctr"/>
                </a:tc>
                <a:tc>
                  <a:txBody>
                    <a:bodyPr/>
                    <a:lstStyle/>
                    <a:p>
                      <a:r>
                        <a:rPr kumimoji="1" lang="ja-JP" altLang="en-US" sz="1050" dirty="0"/>
                        <a:t>直進走行</a:t>
                      </a:r>
                      <a:endParaRPr kumimoji="1" lang="ja-JP" altLang="en-US" sz="1050" dirty="0">
                        <a:latin typeface="+mn-ea"/>
                        <a:ea typeface="+mn-ea"/>
                      </a:endParaRPr>
                    </a:p>
                  </a:txBody>
                  <a:tcPr anchor="ctr"/>
                </a:tc>
                <a:tc>
                  <a:txBody>
                    <a:bodyPr/>
                    <a:lstStyle/>
                    <a:p>
                      <a:r>
                        <a:rPr kumimoji="1" lang="ja-JP" altLang="en-US" sz="1050" dirty="0"/>
                        <a:t>距離が指定値に到達且つ黒色を検知</a:t>
                      </a:r>
                      <a:endParaRPr kumimoji="1" lang="ja-JP" altLang="en-US" sz="1050" dirty="0">
                        <a:latin typeface="+mn-ea"/>
                        <a:ea typeface="+mn-ea"/>
                      </a:endParaRPr>
                    </a:p>
                  </a:txBody>
                  <a:tcPr anchor="ctr"/>
                </a:tc>
                <a:extLst>
                  <a:ext uri="{0D108BD9-81ED-4DB2-BD59-A6C34878D82A}">
                    <a16:rowId xmlns:a16="http://schemas.microsoft.com/office/drawing/2014/main" val="2397376591"/>
                  </a:ext>
                </a:extLst>
              </a:tr>
              <a:tr h="216600">
                <a:tc>
                  <a:txBody>
                    <a:bodyPr/>
                    <a:lstStyle/>
                    <a:p>
                      <a:r>
                        <a:rPr kumimoji="1" lang="en-US" altLang="ja-JP" sz="1050" dirty="0"/>
                        <a:t>10</a:t>
                      </a:r>
                      <a:endParaRPr kumimoji="1" lang="ja-JP" altLang="en-US" sz="1050" dirty="0">
                        <a:latin typeface="+mn-ea"/>
                        <a:ea typeface="+mn-ea"/>
                      </a:endParaRPr>
                    </a:p>
                  </a:txBody>
                  <a:tcPr anchor="ctr"/>
                </a:tc>
                <a:tc>
                  <a:txBody>
                    <a:bodyPr/>
                    <a:lstStyle/>
                    <a:p>
                      <a:r>
                        <a:rPr kumimoji="1" lang="ja-JP" altLang="en-US" sz="1050" dirty="0"/>
                        <a:t>黒ライントレース</a:t>
                      </a:r>
                      <a:endParaRPr kumimoji="1" lang="ja-JP" altLang="en-US" sz="1050" dirty="0">
                        <a:latin typeface="+mn-ea"/>
                        <a:ea typeface="+mn-ea"/>
                      </a:endParaRPr>
                    </a:p>
                  </a:txBody>
                  <a:tcPr anchor="ctr"/>
                </a:tc>
                <a:tc>
                  <a:txBody>
                    <a:bodyPr/>
                    <a:lstStyle/>
                    <a:p>
                      <a:r>
                        <a:rPr kumimoji="1" lang="ja-JP" altLang="en-US" sz="1050" dirty="0"/>
                        <a:t>青色を検知</a:t>
                      </a:r>
                      <a:endParaRPr kumimoji="1" lang="ja-JP" altLang="en-US" sz="1050" dirty="0">
                        <a:latin typeface="+mn-ea"/>
                        <a:ea typeface="+mn-ea"/>
                      </a:endParaRPr>
                    </a:p>
                  </a:txBody>
                  <a:tcPr anchor="ctr"/>
                </a:tc>
                <a:extLst>
                  <a:ext uri="{0D108BD9-81ED-4DB2-BD59-A6C34878D82A}">
                    <a16:rowId xmlns:a16="http://schemas.microsoft.com/office/drawing/2014/main" val="189739585"/>
                  </a:ext>
                </a:extLst>
              </a:tr>
              <a:tr h="216600">
                <a:tc>
                  <a:txBody>
                    <a:bodyPr/>
                    <a:lstStyle/>
                    <a:p>
                      <a:r>
                        <a:rPr kumimoji="1" lang="en-US" altLang="ja-JP" sz="1050" dirty="0"/>
                        <a:t>11</a:t>
                      </a:r>
                      <a:endParaRPr kumimoji="1" lang="ja-JP" altLang="en-US" sz="1050" dirty="0">
                        <a:latin typeface="+mn-ea"/>
                        <a:ea typeface="+mn-ea"/>
                      </a:endParaRPr>
                    </a:p>
                  </a:txBody>
                  <a:tcPr anchor="ctr"/>
                </a:tc>
                <a:tc>
                  <a:txBody>
                    <a:bodyPr/>
                    <a:lstStyle/>
                    <a:p>
                      <a:r>
                        <a:rPr kumimoji="1" lang="ja-JP" altLang="en-US" sz="1050" dirty="0"/>
                        <a:t>直進走行</a:t>
                      </a:r>
                      <a:endParaRPr kumimoji="1" lang="ja-JP" altLang="en-US" sz="1050" dirty="0">
                        <a:latin typeface="+mn-ea"/>
                        <a:ea typeface="+mn-ea"/>
                      </a:endParaRPr>
                    </a:p>
                  </a:txBody>
                  <a:tcPr anchor="ctr"/>
                </a:tc>
                <a:tc>
                  <a:txBody>
                    <a:bodyPr/>
                    <a:lstStyle/>
                    <a:p>
                      <a:r>
                        <a:rPr kumimoji="1" lang="ja-JP" altLang="en-US" sz="1050" dirty="0"/>
                        <a:t>距離が指定値に到達</a:t>
                      </a:r>
                      <a:endParaRPr kumimoji="1" lang="ja-JP" altLang="en-US" sz="1050" dirty="0">
                        <a:latin typeface="+mn-ea"/>
                        <a:ea typeface="+mn-ea"/>
                      </a:endParaRPr>
                    </a:p>
                  </a:txBody>
                  <a:tcPr anchor="ctr"/>
                </a:tc>
                <a:extLst>
                  <a:ext uri="{0D108BD9-81ED-4DB2-BD59-A6C34878D82A}">
                    <a16:rowId xmlns:a16="http://schemas.microsoft.com/office/drawing/2014/main" val="1120840169"/>
                  </a:ext>
                </a:extLst>
              </a:tr>
              <a:tr h="216600">
                <a:tc>
                  <a:txBody>
                    <a:bodyPr/>
                    <a:lstStyle/>
                    <a:p>
                      <a:r>
                        <a:rPr kumimoji="1" lang="en-US" altLang="ja-JP" sz="1050" dirty="0"/>
                        <a:t>12</a:t>
                      </a:r>
                      <a:endParaRPr kumimoji="1" lang="ja-JP" altLang="en-US" sz="1050" dirty="0">
                        <a:latin typeface="+mn-ea"/>
                        <a:ea typeface="+mn-ea"/>
                      </a:endParaRPr>
                    </a:p>
                  </a:txBody>
                  <a:tcPr anchor="ctr"/>
                </a:tc>
                <a:tc>
                  <a:txBody>
                    <a:bodyPr/>
                    <a:lstStyle/>
                    <a:p>
                      <a:r>
                        <a:rPr kumimoji="1" lang="ja-JP" altLang="en-US" sz="1050" dirty="0"/>
                        <a:t>右旋回走行</a:t>
                      </a:r>
                      <a:endParaRPr kumimoji="1" lang="ja-JP" altLang="en-US" sz="1050" dirty="0">
                        <a:latin typeface="+mn-ea"/>
                        <a:ea typeface="+mn-ea"/>
                      </a:endParaRPr>
                    </a:p>
                  </a:txBody>
                  <a:tcPr anchor="ctr"/>
                </a:tc>
                <a:tc>
                  <a:txBody>
                    <a:bodyPr/>
                    <a:lstStyle/>
                    <a:p>
                      <a:r>
                        <a:rPr kumimoji="1" lang="ja-JP" altLang="en-US" sz="1050" dirty="0"/>
                        <a:t>ジャイロ角が指定角に到達</a:t>
                      </a:r>
                      <a:endParaRPr kumimoji="1" lang="ja-JP" altLang="en-US" sz="1050" dirty="0">
                        <a:latin typeface="+mn-ea"/>
                        <a:ea typeface="+mn-ea"/>
                      </a:endParaRPr>
                    </a:p>
                  </a:txBody>
                  <a:tcPr anchor="ctr"/>
                </a:tc>
                <a:extLst>
                  <a:ext uri="{0D108BD9-81ED-4DB2-BD59-A6C34878D82A}">
                    <a16:rowId xmlns:a16="http://schemas.microsoft.com/office/drawing/2014/main" val="177065102"/>
                  </a:ext>
                </a:extLst>
              </a:tr>
              <a:tr h="216600">
                <a:tc>
                  <a:txBody>
                    <a:bodyPr/>
                    <a:lstStyle/>
                    <a:p>
                      <a:r>
                        <a:rPr kumimoji="1" lang="en-US" altLang="ja-JP" sz="1050" dirty="0"/>
                        <a:t>13</a:t>
                      </a:r>
                      <a:endParaRPr kumimoji="1" lang="ja-JP" altLang="en-US" sz="1050" dirty="0">
                        <a:latin typeface="+mn-ea"/>
                        <a:ea typeface="+mn-ea"/>
                      </a:endParaRPr>
                    </a:p>
                  </a:txBody>
                  <a:tcPr anchor="ctr"/>
                </a:tc>
                <a:tc>
                  <a:txBody>
                    <a:bodyPr/>
                    <a:lstStyle/>
                    <a:p>
                      <a:r>
                        <a:rPr kumimoji="1" lang="ja-JP" altLang="en-US" sz="1050" dirty="0"/>
                        <a:t>直進走行</a:t>
                      </a:r>
                      <a:endParaRPr kumimoji="1" lang="ja-JP" altLang="en-US" sz="1050" dirty="0">
                        <a:latin typeface="+mn-ea"/>
                        <a:ea typeface="+mn-ea"/>
                      </a:endParaRPr>
                    </a:p>
                  </a:txBody>
                  <a:tcPr anchor="ctr"/>
                </a:tc>
                <a:tc>
                  <a:txBody>
                    <a:bodyPr/>
                    <a:lstStyle/>
                    <a:p>
                      <a:r>
                        <a:rPr kumimoji="1" lang="ja-JP" altLang="en-US" sz="1050" dirty="0"/>
                        <a:t>距離が指定値に到達且つ黒色を検知</a:t>
                      </a:r>
                      <a:endParaRPr kumimoji="1" lang="ja-JP" altLang="en-US" sz="1050" dirty="0">
                        <a:latin typeface="+mn-ea"/>
                        <a:ea typeface="+mn-ea"/>
                      </a:endParaRPr>
                    </a:p>
                  </a:txBody>
                  <a:tcPr anchor="ctr"/>
                </a:tc>
                <a:extLst>
                  <a:ext uri="{0D108BD9-81ED-4DB2-BD59-A6C34878D82A}">
                    <a16:rowId xmlns:a16="http://schemas.microsoft.com/office/drawing/2014/main" val="149786051"/>
                  </a:ext>
                </a:extLst>
              </a:tr>
            </a:tbl>
          </a:graphicData>
        </a:graphic>
      </p:graphicFrame>
      <p:pic>
        <p:nvPicPr>
          <p:cNvPr id="13" name="図 12">
            <a:extLst>
              <a:ext uri="{FF2B5EF4-FFF2-40B4-BE49-F238E27FC236}">
                <a16:creationId xmlns:a16="http://schemas.microsoft.com/office/drawing/2014/main" id="{725D019E-92B3-4055-934C-F822703C054A}"/>
              </a:ext>
            </a:extLst>
          </p:cNvPr>
          <p:cNvPicPr>
            <a:picLocks noChangeAspect="1"/>
          </p:cNvPicPr>
          <p:nvPr/>
        </p:nvPicPr>
        <p:blipFill>
          <a:blip r:embed="rId6"/>
          <a:stretch>
            <a:fillRect/>
          </a:stretch>
        </p:blipFill>
        <p:spPr>
          <a:xfrm>
            <a:off x="12744251" y="233338"/>
            <a:ext cx="2198619" cy="395394"/>
          </a:xfrm>
          <a:prstGeom prst="rect">
            <a:avLst/>
          </a:prstGeom>
        </p:spPr>
      </p:pic>
      <p:graphicFrame>
        <p:nvGraphicFramePr>
          <p:cNvPr id="56" name="表 55">
            <a:extLst>
              <a:ext uri="{FF2B5EF4-FFF2-40B4-BE49-F238E27FC236}">
                <a16:creationId xmlns:a16="http://schemas.microsoft.com/office/drawing/2014/main" id="{74624041-B338-497D-8968-2A20FD402902}"/>
              </a:ext>
            </a:extLst>
          </p:cNvPr>
          <p:cNvGraphicFramePr>
            <a:graphicFrameLocks noGrp="1"/>
          </p:cNvGraphicFramePr>
          <p:nvPr>
            <p:extLst>
              <p:ext uri="{D42A27DB-BD31-4B8C-83A1-F6EECF244321}">
                <p14:modId xmlns:p14="http://schemas.microsoft.com/office/powerpoint/2010/main" val="3004363811"/>
              </p:ext>
            </p:extLst>
          </p:nvPr>
        </p:nvGraphicFramePr>
        <p:xfrm>
          <a:off x="4439104" y="6795047"/>
          <a:ext cx="7178661" cy="3408903"/>
        </p:xfrm>
        <a:graphic>
          <a:graphicData uri="http://schemas.openxmlformats.org/drawingml/2006/table">
            <a:tbl>
              <a:tblPr firstCol="1" bandRow="1">
                <a:tableStyleId>{93296810-A885-4BE3-A3E7-6D5BEEA58F35}</a:tableStyleId>
              </a:tblPr>
              <a:tblGrid>
                <a:gridCol w="1424510">
                  <a:extLst>
                    <a:ext uri="{9D8B030D-6E8A-4147-A177-3AD203B41FA5}">
                      <a16:colId xmlns:a16="http://schemas.microsoft.com/office/drawing/2014/main" val="3732976162"/>
                    </a:ext>
                  </a:extLst>
                </a:gridCol>
                <a:gridCol w="5754151">
                  <a:extLst>
                    <a:ext uri="{9D8B030D-6E8A-4147-A177-3AD203B41FA5}">
                      <a16:colId xmlns:a16="http://schemas.microsoft.com/office/drawing/2014/main" val="236676912"/>
                    </a:ext>
                  </a:extLst>
                </a:gridCol>
              </a:tblGrid>
              <a:tr h="533568">
                <a:tc>
                  <a:txBody>
                    <a:bodyPr/>
                    <a:lstStyle/>
                    <a:p>
                      <a:pPr algn="ctr"/>
                      <a:r>
                        <a:rPr lang="ja-JP" altLang="en-US" sz="1050" dirty="0"/>
                        <a:t>ユースケース</a:t>
                      </a:r>
                      <a:endParaRPr kumimoji="1" lang="ja-JP" altLang="en-US" sz="1050" dirty="0">
                        <a:latin typeface="+mn-ea"/>
                        <a:ea typeface="+mn-ea"/>
                      </a:endParaRPr>
                    </a:p>
                  </a:txBody>
                  <a:tcPr anchor="ctr"/>
                </a:tc>
                <a:tc>
                  <a:txBody>
                    <a:bodyPr/>
                    <a:lstStyle/>
                    <a:p>
                      <a:pPr algn="l"/>
                      <a:r>
                        <a:rPr lang="ja-JP" altLang="en-US" sz="1050" dirty="0"/>
                        <a:t>ダブルループを攻略する</a:t>
                      </a:r>
                      <a:endParaRPr kumimoji="1" lang="ja-JP" altLang="en-US" sz="1050" dirty="0">
                        <a:latin typeface="+mn-ea"/>
                        <a:ea typeface="+mn-ea"/>
                      </a:endParaRPr>
                    </a:p>
                  </a:txBody>
                  <a:tcPr anchor="ctr"/>
                </a:tc>
                <a:extLst>
                  <a:ext uri="{0D108BD9-81ED-4DB2-BD59-A6C34878D82A}">
                    <a16:rowId xmlns:a16="http://schemas.microsoft.com/office/drawing/2014/main" val="3858209410"/>
                  </a:ext>
                </a:extLst>
              </a:tr>
              <a:tr h="326069">
                <a:tc>
                  <a:txBody>
                    <a:bodyPr/>
                    <a:lstStyle/>
                    <a:p>
                      <a:pPr algn="ctr"/>
                      <a:r>
                        <a:rPr lang="ja-JP" altLang="en-US" sz="1050" dirty="0"/>
                        <a:t>概要</a:t>
                      </a:r>
                      <a:endParaRPr kumimoji="1" lang="ja-JP" altLang="en-US" sz="1050" dirty="0">
                        <a:latin typeface="+mn-ea"/>
                        <a:ea typeface="+mn-ea"/>
                      </a:endParaRPr>
                    </a:p>
                  </a:txBody>
                  <a:tcPr anchor="ctr"/>
                </a:tc>
                <a:tc>
                  <a:txBody>
                    <a:bodyPr/>
                    <a:lstStyle/>
                    <a:p>
                      <a:pPr algn="l"/>
                      <a:r>
                        <a:rPr kumimoji="1" lang="ja-JP" altLang="en-US" sz="1050" dirty="0"/>
                        <a:t>走行体がすべてのチェックポイントを通過し、安定した走行をする</a:t>
                      </a:r>
                      <a:endParaRPr kumimoji="1" lang="ja-JP" altLang="en-US" sz="1050" dirty="0">
                        <a:latin typeface="+mn-ea"/>
                        <a:ea typeface="+mn-ea"/>
                      </a:endParaRPr>
                    </a:p>
                  </a:txBody>
                  <a:tcPr anchor="ctr"/>
                </a:tc>
                <a:extLst>
                  <a:ext uri="{0D108BD9-81ED-4DB2-BD59-A6C34878D82A}">
                    <a16:rowId xmlns:a16="http://schemas.microsoft.com/office/drawing/2014/main" val="2884650420"/>
                  </a:ext>
                </a:extLst>
              </a:tr>
              <a:tr h="326069">
                <a:tc>
                  <a:txBody>
                    <a:bodyPr/>
                    <a:lstStyle/>
                    <a:p>
                      <a:pPr algn="ctr"/>
                      <a:r>
                        <a:rPr lang="ja-JP" altLang="en-US" sz="1050" dirty="0"/>
                        <a:t>アクター</a:t>
                      </a:r>
                      <a:endParaRPr kumimoji="1" lang="ja-JP" altLang="en-US" sz="1050" dirty="0">
                        <a:latin typeface="+mn-ea"/>
                        <a:ea typeface="+mn-ea"/>
                      </a:endParaRPr>
                    </a:p>
                  </a:txBody>
                  <a:tcPr anchor="ctr"/>
                </a:tc>
                <a:tc>
                  <a:txBody>
                    <a:bodyPr/>
                    <a:lstStyle/>
                    <a:p>
                      <a:pPr algn="l"/>
                      <a:r>
                        <a:rPr kumimoji="1" lang="ja-JP" altLang="en-US" sz="1050" dirty="0"/>
                        <a:t>競技者</a:t>
                      </a:r>
                      <a:endParaRPr kumimoji="1" lang="ja-JP" altLang="en-US" sz="1050" dirty="0">
                        <a:latin typeface="+mn-ea"/>
                        <a:ea typeface="+mn-ea"/>
                      </a:endParaRPr>
                    </a:p>
                  </a:txBody>
                  <a:tcPr anchor="ctr"/>
                </a:tc>
                <a:extLst>
                  <a:ext uri="{0D108BD9-81ED-4DB2-BD59-A6C34878D82A}">
                    <a16:rowId xmlns:a16="http://schemas.microsoft.com/office/drawing/2014/main" val="1637770047"/>
                  </a:ext>
                </a:extLst>
              </a:tr>
              <a:tr h="326069">
                <a:tc>
                  <a:txBody>
                    <a:bodyPr/>
                    <a:lstStyle/>
                    <a:p>
                      <a:pPr algn="ctr"/>
                      <a:r>
                        <a:rPr lang="ja-JP" altLang="en-US" sz="1050" dirty="0"/>
                        <a:t>事前情報</a:t>
                      </a:r>
                      <a:endParaRPr kumimoji="1" lang="ja-JP" altLang="en-US" sz="1050" dirty="0">
                        <a:latin typeface="+mn-ea"/>
                        <a:ea typeface="+mn-ea"/>
                      </a:endParaRPr>
                    </a:p>
                  </a:txBody>
                  <a:tcPr anchor="ctr"/>
                </a:tc>
                <a:tc>
                  <a:txBody>
                    <a:bodyPr/>
                    <a:lstStyle/>
                    <a:p>
                      <a:pPr algn="l"/>
                      <a:r>
                        <a:rPr kumimoji="1" lang="en-US" altLang="ja-JP" sz="1050" dirty="0"/>
                        <a:t>LAP</a:t>
                      </a:r>
                      <a:r>
                        <a:rPr kumimoji="1" lang="ja-JP" altLang="en-US" sz="1050" dirty="0"/>
                        <a:t>ゲートを通過し、青線を検知した</a:t>
                      </a:r>
                      <a:endParaRPr kumimoji="1" lang="ja-JP" altLang="en-US" sz="1050" dirty="0">
                        <a:latin typeface="+mn-ea"/>
                        <a:ea typeface="+mn-ea"/>
                      </a:endParaRPr>
                    </a:p>
                  </a:txBody>
                  <a:tcPr anchor="ctr"/>
                </a:tc>
                <a:extLst>
                  <a:ext uri="{0D108BD9-81ED-4DB2-BD59-A6C34878D82A}">
                    <a16:rowId xmlns:a16="http://schemas.microsoft.com/office/drawing/2014/main" val="3528058186"/>
                  </a:ext>
                </a:extLst>
              </a:tr>
              <a:tr h="533568">
                <a:tc>
                  <a:txBody>
                    <a:bodyPr/>
                    <a:lstStyle/>
                    <a:p>
                      <a:pPr algn="ctr"/>
                      <a:r>
                        <a:rPr lang="ja-JP" altLang="en-US" sz="1050" dirty="0"/>
                        <a:t>事後情報</a:t>
                      </a:r>
                      <a:endParaRPr kumimoji="1" lang="ja-JP" altLang="en-US" sz="1050" dirty="0">
                        <a:latin typeface="+mn-ea"/>
                        <a:ea typeface="+mn-ea"/>
                      </a:endParaRPr>
                    </a:p>
                  </a:txBody>
                  <a:tcPr anchor="ctr"/>
                </a:tc>
                <a:tc>
                  <a:txBody>
                    <a:bodyPr/>
                    <a:lstStyle/>
                    <a:p>
                      <a:pPr algn="l"/>
                      <a:r>
                        <a:rPr kumimoji="1" lang="ja-JP" altLang="en-US" sz="1050" dirty="0"/>
                        <a:t>走行体がダブルループを抜け、スマートキャリー前の黒線を検知した</a:t>
                      </a:r>
                      <a:endParaRPr kumimoji="1" lang="ja-JP" altLang="en-US" sz="1050" dirty="0">
                        <a:latin typeface="+mn-ea"/>
                        <a:ea typeface="+mn-ea"/>
                      </a:endParaRPr>
                    </a:p>
                  </a:txBody>
                  <a:tcPr anchor="ctr"/>
                </a:tc>
                <a:extLst>
                  <a:ext uri="{0D108BD9-81ED-4DB2-BD59-A6C34878D82A}">
                    <a16:rowId xmlns:a16="http://schemas.microsoft.com/office/drawing/2014/main" val="2633211927"/>
                  </a:ext>
                </a:extLst>
              </a:tr>
              <a:tr h="1363560">
                <a:tc>
                  <a:txBody>
                    <a:bodyPr/>
                    <a:lstStyle/>
                    <a:p>
                      <a:pPr algn="ctr"/>
                      <a:r>
                        <a:rPr lang="ja-JP" altLang="en-US" sz="1050" dirty="0"/>
                        <a:t>基本フロー </a:t>
                      </a:r>
                      <a:endParaRPr kumimoji="1" lang="ja-JP" altLang="en-US" sz="1050" dirty="0">
                        <a:latin typeface="+mn-ea"/>
                        <a:ea typeface="+mn-ea"/>
                      </a:endParaRPr>
                    </a:p>
                  </a:txBody>
                  <a:tcPr anchor="ctr"/>
                </a:tc>
                <a:tc>
                  <a:txBody>
                    <a:bodyPr/>
                    <a:lstStyle/>
                    <a:p>
                      <a:pPr algn="l"/>
                      <a:r>
                        <a:rPr kumimoji="1" lang="en-US" altLang="ja-JP" sz="1050" dirty="0"/>
                        <a:t>1. </a:t>
                      </a:r>
                      <a:r>
                        <a:rPr kumimoji="1" lang="ja-JP" altLang="en-US" sz="1050" dirty="0"/>
                        <a:t>走行体が青色を検知し、シナリオ実行</a:t>
                      </a:r>
                    </a:p>
                    <a:p>
                      <a:pPr algn="l"/>
                      <a:r>
                        <a:rPr kumimoji="1" lang="en-US" altLang="ja-JP" sz="1050" dirty="0"/>
                        <a:t>2.</a:t>
                      </a:r>
                      <a:r>
                        <a:rPr kumimoji="1" lang="ja-JP" altLang="en-US" sz="1050" dirty="0"/>
                        <a:t> シーンに合わせて走行方法を切り替える</a:t>
                      </a:r>
                      <a:r>
                        <a:rPr kumimoji="1" lang="en-US" altLang="ja-JP" sz="1050" dirty="0"/>
                        <a:t>[UC_2]</a:t>
                      </a:r>
                    </a:p>
                    <a:p>
                      <a:pPr algn="l"/>
                      <a:r>
                        <a:rPr kumimoji="1" lang="en-US" altLang="ja-JP" sz="1050" dirty="0"/>
                        <a:t>3. </a:t>
                      </a:r>
                      <a:r>
                        <a:rPr kumimoji="1" lang="ja-JP" altLang="en-US" sz="1050" dirty="0"/>
                        <a:t>指定の走行方法で走行する</a:t>
                      </a:r>
                      <a:r>
                        <a:rPr kumimoji="1" lang="en-US" altLang="ja-JP" sz="1050" dirty="0"/>
                        <a:t>[UC_7]</a:t>
                      </a:r>
                      <a:r>
                        <a:rPr kumimoji="1" lang="ja-JP" altLang="en-US" sz="1050" dirty="0"/>
                        <a:t>～</a:t>
                      </a:r>
                      <a:r>
                        <a:rPr kumimoji="1" lang="en-US" altLang="ja-JP" sz="1050" dirty="0"/>
                        <a:t>[UC_9]</a:t>
                      </a:r>
                    </a:p>
                    <a:p>
                      <a:pPr algn="l"/>
                      <a:r>
                        <a:rPr kumimoji="1" lang="en-US" altLang="ja-JP" sz="1050" dirty="0"/>
                        <a:t>4.</a:t>
                      </a:r>
                      <a:r>
                        <a:rPr kumimoji="1" lang="ja-JP" altLang="en-US" sz="1050" dirty="0"/>
                        <a:t> シーンの終了判定を行う</a:t>
                      </a:r>
                      <a:r>
                        <a:rPr kumimoji="1" lang="en-US" altLang="ja-JP" sz="1050" dirty="0"/>
                        <a:t>[UC_3]</a:t>
                      </a:r>
                      <a:r>
                        <a:rPr kumimoji="1" lang="ja-JP" altLang="en-US" sz="1050" dirty="0"/>
                        <a:t>～</a:t>
                      </a:r>
                      <a:r>
                        <a:rPr kumimoji="1" lang="en-US" altLang="ja-JP" sz="1050" dirty="0"/>
                        <a:t>[UC_6]</a:t>
                      </a:r>
                    </a:p>
                    <a:p>
                      <a:pPr algn="l"/>
                      <a:r>
                        <a:rPr kumimoji="1" lang="en-US" altLang="ja-JP" sz="1050" dirty="0"/>
                        <a:t>5.</a:t>
                      </a:r>
                      <a:r>
                        <a:rPr kumimoji="1" lang="ja-JP" altLang="en-US" sz="1050" dirty="0"/>
                        <a:t> シーンを切り替える</a:t>
                      </a:r>
                      <a:r>
                        <a:rPr kumimoji="1" lang="en-US" altLang="ja-JP" sz="1050" dirty="0"/>
                        <a:t>[UC_1]</a:t>
                      </a:r>
                    </a:p>
                    <a:p>
                      <a:pPr algn="l"/>
                      <a:r>
                        <a:rPr kumimoji="1" lang="en-US" altLang="ja-JP" sz="1050" dirty="0"/>
                        <a:t>6. </a:t>
                      </a:r>
                      <a:r>
                        <a:rPr kumimoji="1" lang="ja-JP" altLang="en-US" sz="1050" dirty="0"/>
                        <a:t>シーン</a:t>
                      </a:r>
                      <a:r>
                        <a:rPr kumimoji="1" lang="en-US" altLang="ja-JP" sz="1050" dirty="0"/>
                        <a:t>13</a:t>
                      </a:r>
                      <a:r>
                        <a:rPr kumimoji="1" lang="ja-JP" altLang="en-US" sz="1050" dirty="0"/>
                        <a:t>終了まで</a:t>
                      </a:r>
                      <a:r>
                        <a:rPr kumimoji="1" lang="en-US" altLang="ja-JP" sz="1050" dirty="0"/>
                        <a:t>2</a:t>
                      </a:r>
                      <a:r>
                        <a:rPr kumimoji="1" lang="ja-JP" altLang="en-US" sz="1050" dirty="0"/>
                        <a:t>～</a:t>
                      </a:r>
                      <a:r>
                        <a:rPr kumimoji="1" lang="en-US" altLang="ja-JP" sz="1050" dirty="0"/>
                        <a:t>5</a:t>
                      </a:r>
                      <a:r>
                        <a:rPr kumimoji="1" lang="ja-JP" altLang="en-US" sz="1050" dirty="0"/>
                        <a:t>を繰り返す</a:t>
                      </a:r>
                      <a:endParaRPr kumimoji="1" lang="ja-JP" altLang="en-US" sz="1050" dirty="0">
                        <a:latin typeface="+mn-ea"/>
                        <a:ea typeface="+mn-ea"/>
                      </a:endParaRPr>
                    </a:p>
                  </a:txBody>
                  <a:tcPr anchor="ctr"/>
                </a:tc>
                <a:extLst>
                  <a:ext uri="{0D108BD9-81ED-4DB2-BD59-A6C34878D82A}">
                    <a16:rowId xmlns:a16="http://schemas.microsoft.com/office/drawing/2014/main" val="3775302129"/>
                  </a:ext>
                </a:extLst>
              </a:tr>
            </a:tbl>
          </a:graphicData>
        </a:graphic>
      </p:graphicFrame>
      <p:sp>
        <p:nvSpPr>
          <p:cNvPr id="58" name="テキスト ボックス 57">
            <a:extLst>
              <a:ext uri="{FF2B5EF4-FFF2-40B4-BE49-F238E27FC236}">
                <a16:creationId xmlns:a16="http://schemas.microsoft.com/office/drawing/2014/main" id="{9499E883-289F-4FA1-AA85-8298BD2C139E}"/>
              </a:ext>
            </a:extLst>
          </p:cNvPr>
          <p:cNvSpPr txBox="1"/>
          <p:nvPr/>
        </p:nvSpPr>
        <p:spPr>
          <a:xfrm>
            <a:off x="6965265" y="6524799"/>
            <a:ext cx="1872208" cy="276999"/>
          </a:xfrm>
          <a:prstGeom prst="rect">
            <a:avLst/>
          </a:prstGeom>
          <a:noFill/>
        </p:spPr>
        <p:txBody>
          <a:bodyPr wrap="square" rtlCol="0">
            <a:spAutoFit/>
          </a:bodyPr>
          <a:lstStyle/>
          <a:p>
            <a:pPr algn="ctr"/>
            <a:r>
              <a:rPr lang="ja-JP" altLang="en-US" sz="1200" dirty="0">
                <a:latin typeface="+mn-ea"/>
                <a:ea typeface="+mn-ea"/>
              </a:rPr>
              <a:t>表</a:t>
            </a:r>
            <a:r>
              <a:rPr lang="en-US" altLang="ja-JP" sz="1200" dirty="0">
                <a:latin typeface="+mn-ea"/>
                <a:ea typeface="+mn-ea"/>
              </a:rPr>
              <a:t>1.2 </a:t>
            </a:r>
            <a:r>
              <a:rPr lang="ja-JP" altLang="en-US" sz="1200" dirty="0">
                <a:latin typeface="+mn-ea"/>
                <a:ea typeface="+mn-ea"/>
              </a:rPr>
              <a:t>ユースケース記述</a:t>
            </a:r>
            <a:endParaRPr kumimoji="1" lang="ja-JP" altLang="en-US" sz="1200" dirty="0">
              <a:latin typeface="+mn-ea"/>
              <a:ea typeface="+mn-ea"/>
            </a:endParaRPr>
          </a:p>
        </p:txBody>
      </p:sp>
      <p:sp>
        <p:nvSpPr>
          <p:cNvPr id="59" name="テキスト ボックス 58">
            <a:extLst>
              <a:ext uri="{FF2B5EF4-FFF2-40B4-BE49-F238E27FC236}">
                <a16:creationId xmlns:a16="http://schemas.microsoft.com/office/drawing/2014/main" id="{58032678-E92D-47AA-8022-BD753D9872F8}"/>
              </a:ext>
            </a:extLst>
          </p:cNvPr>
          <p:cNvSpPr txBox="1"/>
          <p:nvPr/>
        </p:nvSpPr>
        <p:spPr>
          <a:xfrm>
            <a:off x="594965" y="6814887"/>
            <a:ext cx="2808312" cy="276999"/>
          </a:xfrm>
          <a:prstGeom prst="rect">
            <a:avLst/>
          </a:prstGeom>
          <a:noFill/>
        </p:spPr>
        <p:txBody>
          <a:bodyPr wrap="square" rtlCol="0">
            <a:spAutoFit/>
          </a:bodyPr>
          <a:lstStyle/>
          <a:p>
            <a:pPr algn="ctr"/>
            <a:r>
              <a:rPr lang="ja-JP" altLang="en-US" sz="1200" dirty="0">
                <a:latin typeface="+mn-ea"/>
                <a:ea typeface="+mn-ea"/>
              </a:rPr>
              <a:t>表</a:t>
            </a:r>
            <a:r>
              <a:rPr lang="en-US" altLang="ja-JP" sz="1200" dirty="0">
                <a:latin typeface="+mn-ea"/>
                <a:ea typeface="+mn-ea"/>
              </a:rPr>
              <a:t>1.1 </a:t>
            </a:r>
            <a:r>
              <a:rPr lang="ja-JP" altLang="en-US" sz="1200" dirty="0">
                <a:latin typeface="+mn-ea"/>
                <a:ea typeface="+mn-ea"/>
              </a:rPr>
              <a:t>シーンごとの走行方法と条件</a:t>
            </a:r>
            <a:endParaRPr kumimoji="1" lang="ja-JP" altLang="en-US" sz="1200" dirty="0">
              <a:latin typeface="+mn-ea"/>
              <a:ea typeface="+mn-ea"/>
            </a:endParaRPr>
          </a:p>
        </p:txBody>
      </p:sp>
      <p:sp>
        <p:nvSpPr>
          <p:cNvPr id="60" name="テキスト ボックス 59">
            <a:extLst>
              <a:ext uri="{FF2B5EF4-FFF2-40B4-BE49-F238E27FC236}">
                <a16:creationId xmlns:a16="http://schemas.microsoft.com/office/drawing/2014/main" id="{A42C04B1-4797-41F8-A743-869776D34BED}"/>
              </a:ext>
            </a:extLst>
          </p:cNvPr>
          <p:cNvSpPr txBox="1"/>
          <p:nvPr/>
        </p:nvSpPr>
        <p:spPr>
          <a:xfrm>
            <a:off x="6497213" y="6165552"/>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1.2 </a:t>
            </a:r>
            <a:r>
              <a:rPr lang="ja-JP" altLang="en-US" sz="1200" dirty="0">
                <a:latin typeface="+mn-ea"/>
                <a:ea typeface="+mn-ea"/>
              </a:rPr>
              <a:t>ユースケース図</a:t>
            </a:r>
            <a:endParaRPr kumimoji="1" lang="ja-JP" altLang="en-US" sz="1200" dirty="0">
              <a:latin typeface="+mn-ea"/>
              <a:ea typeface="+mn-ea"/>
            </a:endParaRPr>
          </a:p>
        </p:txBody>
      </p:sp>
      <p:sp>
        <p:nvSpPr>
          <p:cNvPr id="61" name="テキスト ボックス 60">
            <a:extLst>
              <a:ext uri="{FF2B5EF4-FFF2-40B4-BE49-F238E27FC236}">
                <a16:creationId xmlns:a16="http://schemas.microsoft.com/office/drawing/2014/main" id="{2945D715-D73A-46E3-A6D7-83AA6B7EF95F}"/>
              </a:ext>
            </a:extLst>
          </p:cNvPr>
          <p:cNvSpPr txBox="1"/>
          <p:nvPr/>
        </p:nvSpPr>
        <p:spPr>
          <a:xfrm>
            <a:off x="676477" y="6448091"/>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1.1 </a:t>
            </a:r>
            <a:r>
              <a:rPr lang="ja-JP" altLang="en-US" sz="1200" dirty="0">
                <a:latin typeface="+mn-ea"/>
                <a:ea typeface="+mn-ea"/>
              </a:rPr>
              <a:t>走行経路と区間分け</a:t>
            </a:r>
            <a:endParaRPr kumimoji="1" lang="ja-JP" altLang="en-US" sz="1200" dirty="0">
              <a:latin typeface="+mn-ea"/>
              <a:ea typeface="+mn-ea"/>
            </a:endParaRPr>
          </a:p>
        </p:txBody>
      </p:sp>
      <p:sp>
        <p:nvSpPr>
          <p:cNvPr id="2" name="テキスト ボックス 1">
            <a:extLst>
              <a:ext uri="{FF2B5EF4-FFF2-40B4-BE49-F238E27FC236}">
                <a16:creationId xmlns:a16="http://schemas.microsoft.com/office/drawing/2014/main" id="{A143145F-26CA-4AD8-A961-ECB4CD857F18}"/>
              </a:ext>
            </a:extLst>
          </p:cNvPr>
          <p:cNvSpPr txBox="1"/>
          <p:nvPr/>
        </p:nvSpPr>
        <p:spPr>
          <a:xfrm>
            <a:off x="51061" y="920569"/>
            <a:ext cx="4224408" cy="2407262"/>
          </a:xfrm>
          <a:prstGeom prst="rect">
            <a:avLst/>
          </a:prstGeom>
          <a:noFill/>
        </p:spPr>
        <p:txBody>
          <a:bodyPr wrap="square" rtlCol="0">
            <a:spAutoFit/>
          </a:bodyPr>
          <a:lstStyle/>
          <a:p>
            <a:r>
              <a:rPr kumimoji="1" lang="en-US" altLang="ja-JP" b="1" dirty="0">
                <a:latin typeface="+mn-ea"/>
                <a:ea typeface="+mn-ea"/>
              </a:rPr>
              <a:t>1.1 </a:t>
            </a:r>
            <a:r>
              <a:rPr kumimoji="1" lang="ja-JP" altLang="en-US" b="1" dirty="0">
                <a:latin typeface="+mn-ea"/>
                <a:ea typeface="+mn-ea"/>
              </a:rPr>
              <a:t>基本戦略</a:t>
            </a:r>
            <a:endParaRPr kumimoji="1" lang="en-US" altLang="ja-JP" b="1" dirty="0">
              <a:latin typeface="+mn-ea"/>
              <a:ea typeface="+mn-ea"/>
            </a:endParaRPr>
          </a:p>
          <a:p>
            <a:r>
              <a:rPr kumimoji="1" lang="ja-JP" altLang="en-US" sz="1200" dirty="0">
                <a:latin typeface="+mn-ea"/>
                <a:ea typeface="+mn-ea"/>
              </a:rPr>
              <a:t>走行目標を達成するために、攻略ルートを図</a:t>
            </a:r>
            <a:r>
              <a:rPr kumimoji="1" lang="en-US" altLang="ja-JP" sz="1200" dirty="0">
                <a:latin typeface="+mn-ea"/>
                <a:ea typeface="+mn-ea"/>
              </a:rPr>
              <a:t>1.1</a:t>
            </a:r>
            <a:r>
              <a:rPr lang="ja-JP" altLang="en-US" sz="1200" dirty="0">
                <a:latin typeface="+mn-ea"/>
                <a:ea typeface="+mn-ea"/>
              </a:rPr>
              <a:t>で示す</a:t>
            </a:r>
            <a:r>
              <a:rPr kumimoji="1" lang="en-US" altLang="ja-JP" sz="1200" dirty="0">
                <a:latin typeface="+mn-ea"/>
                <a:ea typeface="+mn-ea"/>
              </a:rPr>
              <a:t>13</a:t>
            </a:r>
            <a:r>
              <a:rPr kumimoji="1" lang="ja-JP" altLang="en-US" sz="1200" dirty="0">
                <a:latin typeface="+mn-ea"/>
                <a:ea typeface="+mn-ea"/>
              </a:rPr>
              <a:t>個の区間</a:t>
            </a:r>
            <a:r>
              <a:rPr lang="ja-JP" altLang="en-US" sz="1200" dirty="0">
                <a:latin typeface="+mn-ea"/>
                <a:ea typeface="+mn-ea"/>
              </a:rPr>
              <a:t>（以下「シーン」）</a:t>
            </a:r>
            <a:r>
              <a:rPr kumimoji="1" lang="ja-JP" altLang="en-US" sz="1200" dirty="0">
                <a:latin typeface="+mn-ea"/>
                <a:ea typeface="+mn-ea"/>
              </a:rPr>
              <a:t>に分割し、分割し</a:t>
            </a:r>
            <a:r>
              <a:rPr lang="ja-JP" altLang="en-US" sz="1200" dirty="0">
                <a:latin typeface="+mn-ea"/>
                <a:ea typeface="+mn-ea"/>
              </a:rPr>
              <a:t>た</a:t>
            </a:r>
            <a:r>
              <a:rPr lang="en-US" altLang="ja-JP" sz="1200" dirty="0">
                <a:latin typeface="+mn-ea"/>
                <a:ea typeface="+mn-ea"/>
              </a:rPr>
              <a:t>13</a:t>
            </a:r>
            <a:r>
              <a:rPr lang="ja-JP" altLang="en-US" sz="1200" dirty="0">
                <a:latin typeface="+mn-ea"/>
                <a:ea typeface="+mn-ea"/>
              </a:rPr>
              <a:t>個のシーンの走行方法と終了条件を表</a:t>
            </a:r>
            <a:r>
              <a:rPr lang="en-US" altLang="ja-JP" sz="1200" dirty="0">
                <a:latin typeface="+mn-ea"/>
                <a:ea typeface="+mn-ea"/>
              </a:rPr>
              <a:t>1.1</a:t>
            </a:r>
            <a:r>
              <a:rPr lang="ja-JP" altLang="en-US" sz="1200" dirty="0">
                <a:latin typeface="+mn-ea"/>
                <a:ea typeface="+mn-ea"/>
              </a:rPr>
              <a:t>に示す。</a:t>
            </a:r>
            <a:endParaRPr lang="en-US" altLang="ja-JP" sz="1200" dirty="0">
              <a:latin typeface="+mn-ea"/>
              <a:ea typeface="+mn-ea"/>
            </a:endParaRPr>
          </a:p>
          <a:p>
            <a:r>
              <a:rPr kumimoji="1" lang="ja-JP" altLang="en-US" sz="1200" dirty="0">
                <a:latin typeface="+mn-ea"/>
                <a:ea typeface="+mn-ea"/>
              </a:rPr>
              <a:t>ラインが交差する箇所ではライントレースが難しいため、旋回走行と直進走行を組み合わせてラインを無視する走行とする。</a:t>
            </a:r>
            <a:r>
              <a:rPr lang="ja-JP" altLang="en-US" sz="1200" dirty="0">
                <a:latin typeface="+mn-ea"/>
                <a:ea typeface="+mn-ea"/>
              </a:rPr>
              <a:t>カーブ部分ではチェックポイントがあるため、確実に通過できるようライントレースとする。</a:t>
            </a:r>
            <a:endParaRPr lang="en-US" altLang="ja-JP" sz="1200" dirty="0">
              <a:latin typeface="+mn-ea"/>
              <a:ea typeface="+mn-ea"/>
            </a:endParaRPr>
          </a:p>
          <a:p>
            <a:r>
              <a:rPr lang="ja-JP" altLang="en-US" sz="1200" dirty="0">
                <a:latin typeface="+mn-ea"/>
                <a:ea typeface="+mn-ea"/>
              </a:rPr>
              <a:t>判定条件について、交差部分はラインカラーが青色のため、青色を検知すると旋回走行、直進走行を行う。ライントレース復帰は黒色ライン検知だけでなく、距離判定を設けて、複数条件で高度かつ安定した走行を実現する。</a:t>
            </a:r>
            <a:endParaRPr kumimoji="1" lang="ja-JP" altLang="en-US" sz="1200" dirty="0">
              <a:latin typeface="+mn-ea"/>
              <a:ea typeface="+mn-ea"/>
            </a:endParaRPr>
          </a:p>
        </p:txBody>
      </p:sp>
      <p:sp>
        <p:nvSpPr>
          <p:cNvPr id="39" name="テキスト ボックス 38">
            <a:extLst>
              <a:ext uri="{FF2B5EF4-FFF2-40B4-BE49-F238E27FC236}">
                <a16:creationId xmlns:a16="http://schemas.microsoft.com/office/drawing/2014/main" id="{2BA803EC-2E75-4FF5-8AEA-F79A2FE5F9C5}"/>
              </a:ext>
            </a:extLst>
          </p:cNvPr>
          <p:cNvSpPr txBox="1"/>
          <p:nvPr/>
        </p:nvSpPr>
        <p:spPr>
          <a:xfrm>
            <a:off x="4446517" y="917998"/>
            <a:ext cx="7079696" cy="745269"/>
          </a:xfrm>
          <a:prstGeom prst="rect">
            <a:avLst/>
          </a:prstGeom>
          <a:noFill/>
        </p:spPr>
        <p:txBody>
          <a:bodyPr wrap="square" rtlCol="0">
            <a:spAutoFit/>
          </a:bodyPr>
          <a:lstStyle/>
          <a:p>
            <a:r>
              <a:rPr kumimoji="1" lang="en-US" altLang="ja-JP" b="1" dirty="0">
                <a:latin typeface="+mn-ea"/>
                <a:ea typeface="+mn-ea"/>
              </a:rPr>
              <a:t>1.2 </a:t>
            </a:r>
            <a:r>
              <a:rPr kumimoji="1" lang="ja-JP" altLang="en-US" b="1" dirty="0">
                <a:latin typeface="+mn-ea"/>
                <a:ea typeface="+mn-ea"/>
              </a:rPr>
              <a:t>要求機能とリスク分析</a:t>
            </a:r>
            <a:endParaRPr kumimoji="1" lang="en-US" altLang="ja-JP" b="1" dirty="0">
              <a:latin typeface="+mn-ea"/>
              <a:ea typeface="+mn-ea"/>
            </a:endParaRPr>
          </a:p>
          <a:p>
            <a:r>
              <a:rPr lang="ja-JP" altLang="en-US" sz="1200" dirty="0">
                <a:latin typeface="+mn-ea"/>
                <a:ea typeface="+mn-ea"/>
              </a:rPr>
              <a:t>基本戦略を実現するために、必要な機能を抽出し、リスクとその緩和策を整理した結果を図</a:t>
            </a:r>
            <a:r>
              <a:rPr lang="en-US" altLang="ja-JP" sz="1200" dirty="0">
                <a:latin typeface="+mn-ea"/>
                <a:ea typeface="+mn-ea"/>
              </a:rPr>
              <a:t>1.2</a:t>
            </a:r>
            <a:r>
              <a:rPr lang="ja-JP" altLang="en-US" sz="1200" dirty="0">
                <a:latin typeface="+mn-ea"/>
                <a:ea typeface="+mn-ea"/>
              </a:rPr>
              <a:t>に示す。またユースケースの記述を表</a:t>
            </a:r>
            <a:r>
              <a:rPr lang="en-US" altLang="ja-JP" sz="1200" dirty="0">
                <a:latin typeface="+mn-ea"/>
                <a:ea typeface="+mn-ea"/>
              </a:rPr>
              <a:t>1.2</a:t>
            </a:r>
            <a:r>
              <a:rPr lang="ja-JP" altLang="en-US" sz="1200" dirty="0">
                <a:latin typeface="+mn-ea"/>
                <a:ea typeface="+mn-ea"/>
              </a:rPr>
              <a:t>に示す。</a:t>
            </a:r>
            <a:endParaRPr kumimoji="1" lang="ja-JP" altLang="en-US" sz="1200" dirty="0">
              <a:latin typeface="+mn-ea"/>
              <a:ea typeface="+mn-ea"/>
            </a:endParaRPr>
          </a:p>
        </p:txBody>
      </p:sp>
      <p:cxnSp>
        <p:nvCxnSpPr>
          <p:cNvPr id="6" name="直線コネクタ 5">
            <a:extLst>
              <a:ext uri="{FF2B5EF4-FFF2-40B4-BE49-F238E27FC236}">
                <a16:creationId xmlns:a16="http://schemas.microsoft.com/office/drawing/2014/main" id="{636856D6-9793-4BDA-9EFD-1CEC11459A92}"/>
              </a:ext>
            </a:extLst>
          </p:cNvPr>
          <p:cNvCxnSpPr>
            <a:cxnSpLocks/>
          </p:cNvCxnSpPr>
          <p:nvPr/>
        </p:nvCxnSpPr>
        <p:spPr>
          <a:xfrm>
            <a:off x="4357815" y="881410"/>
            <a:ext cx="0" cy="9766367"/>
          </a:xfrm>
          <a:prstGeom prst="line">
            <a:avLst/>
          </a:prstGeom>
          <a:ln w="38100">
            <a:solidFill>
              <a:srgbClr val="92D05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D1D04DC9-4932-4EF5-8250-1C6C918F7413}"/>
              </a:ext>
            </a:extLst>
          </p:cNvPr>
          <p:cNvCxnSpPr>
            <a:cxnSpLocks/>
          </p:cNvCxnSpPr>
          <p:nvPr/>
        </p:nvCxnSpPr>
        <p:spPr>
          <a:xfrm>
            <a:off x="11706466" y="882260"/>
            <a:ext cx="0" cy="9809553"/>
          </a:xfrm>
          <a:prstGeom prst="line">
            <a:avLst/>
          </a:prstGeom>
          <a:ln w="38100">
            <a:solidFill>
              <a:srgbClr val="92D050"/>
            </a:solidFill>
            <a:prstDash val="sysDash"/>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5A4D9863-92A4-4450-8E2B-163638304252}"/>
              </a:ext>
            </a:extLst>
          </p:cNvPr>
          <p:cNvSpPr txBox="1"/>
          <p:nvPr/>
        </p:nvSpPr>
        <p:spPr>
          <a:xfrm>
            <a:off x="11668326" y="921798"/>
            <a:ext cx="3539682" cy="745269"/>
          </a:xfrm>
          <a:prstGeom prst="rect">
            <a:avLst/>
          </a:prstGeom>
          <a:noFill/>
        </p:spPr>
        <p:txBody>
          <a:bodyPr wrap="square" rtlCol="0">
            <a:spAutoFit/>
          </a:bodyPr>
          <a:lstStyle/>
          <a:p>
            <a:r>
              <a:rPr lang="en-US" altLang="ja-JP" b="1" dirty="0">
                <a:latin typeface="+mn-ea"/>
                <a:ea typeface="+mn-ea"/>
              </a:rPr>
              <a:t> </a:t>
            </a:r>
            <a:r>
              <a:rPr kumimoji="1" lang="en-US" altLang="ja-JP" b="1" dirty="0">
                <a:latin typeface="+mn-ea"/>
                <a:ea typeface="+mn-ea"/>
              </a:rPr>
              <a:t>1.3 </a:t>
            </a:r>
            <a:r>
              <a:rPr kumimoji="1" lang="ja-JP" altLang="en-US" b="1" dirty="0">
                <a:latin typeface="+mn-ea"/>
                <a:ea typeface="+mn-ea"/>
              </a:rPr>
              <a:t>機能の流れ（基本フロー）</a:t>
            </a:r>
            <a:endParaRPr kumimoji="1" lang="en-US" altLang="ja-JP" b="1" dirty="0">
              <a:latin typeface="+mn-ea"/>
              <a:ea typeface="+mn-ea"/>
            </a:endParaRPr>
          </a:p>
          <a:p>
            <a:r>
              <a:rPr lang="ja-JP" altLang="en-US" sz="1200" dirty="0">
                <a:latin typeface="+mn-ea"/>
                <a:ea typeface="+mn-ea"/>
              </a:rPr>
              <a:t> 表</a:t>
            </a:r>
            <a:r>
              <a:rPr lang="en-US" altLang="ja-JP" sz="1200" dirty="0">
                <a:latin typeface="+mn-ea"/>
                <a:ea typeface="+mn-ea"/>
              </a:rPr>
              <a:t>1.2</a:t>
            </a:r>
            <a:r>
              <a:rPr lang="ja-JP" altLang="en-US" sz="1200" dirty="0">
                <a:latin typeface="+mn-ea"/>
                <a:ea typeface="+mn-ea"/>
              </a:rPr>
              <a:t>の</a:t>
            </a:r>
            <a:r>
              <a:rPr kumimoji="1" lang="ja-JP" altLang="en-US" sz="1200" dirty="0">
                <a:latin typeface="+mn-ea"/>
                <a:ea typeface="+mn-ea"/>
              </a:rPr>
              <a:t>基本フローで示した各機能の一連の</a:t>
            </a:r>
            <a:endParaRPr kumimoji="1" lang="en-US" altLang="ja-JP" sz="1200" dirty="0">
              <a:latin typeface="+mn-ea"/>
              <a:ea typeface="+mn-ea"/>
            </a:endParaRPr>
          </a:p>
          <a:p>
            <a:r>
              <a:rPr lang="en-US" altLang="ja-JP" sz="1200" dirty="0">
                <a:latin typeface="+mn-ea"/>
                <a:ea typeface="+mn-ea"/>
              </a:rPr>
              <a:t> </a:t>
            </a:r>
            <a:r>
              <a:rPr kumimoji="1" lang="ja-JP" altLang="en-US" sz="1200" dirty="0">
                <a:latin typeface="+mn-ea"/>
                <a:ea typeface="+mn-ea"/>
              </a:rPr>
              <a:t>流れをアクティビティ図として図</a:t>
            </a:r>
            <a:r>
              <a:rPr kumimoji="1" lang="en-US" altLang="ja-JP" sz="1200" dirty="0">
                <a:latin typeface="+mn-ea"/>
                <a:ea typeface="+mn-ea"/>
              </a:rPr>
              <a:t>1.3</a:t>
            </a:r>
            <a:r>
              <a:rPr kumimoji="1" lang="ja-JP" altLang="en-US" sz="1200" dirty="0">
                <a:latin typeface="+mn-ea"/>
                <a:ea typeface="+mn-ea"/>
              </a:rPr>
              <a:t>に示す。</a:t>
            </a:r>
          </a:p>
        </p:txBody>
      </p:sp>
      <p:sp>
        <p:nvSpPr>
          <p:cNvPr id="52" name="テキスト ボックス 51">
            <a:extLst>
              <a:ext uri="{FF2B5EF4-FFF2-40B4-BE49-F238E27FC236}">
                <a16:creationId xmlns:a16="http://schemas.microsoft.com/office/drawing/2014/main" id="{1D3F4877-3E04-4F32-B1A9-D3745042CD6E}"/>
              </a:ext>
            </a:extLst>
          </p:cNvPr>
          <p:cNvSpPr txBox="1"/>
          <p:nvPr/>
        </p:nvSpPr>
        <p:spPr>
          <a:xfrm>
            <a:off x="12034011" y="9295804"/>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1.3 </a:t>
            </a:r>
            <a:r>
              <a:rPr lang="ja-JP" altLang="en-US" sz="1200" dirty="0">
                <a:latin typeface="+mn-ea"/>
                <a:ea typeface="+mn-ea"/>
              </a:rPr>
              <a:t>アクティビティ図</a:t>
            </a:r>
            <a:endParaRPr kumimoji="1" lang="ja-JP" altLang="en-US" sz="1200" dirty="0">
              <a:latin typeface="+mn-ea"/>
              <a:ea typeface="+mn-ea"/>
            </a:endParaRPr>
          </a:p>
        </p:txBody>
      </p:sp>
      <p:grpSp>
        <p:nvGrpSpPr>
          <p:cNvPr id="8" name="グループ化 7">
            <a:extLst>
              <a:ext uri="{FF2B5EF4-FFF2-40B4-BE49-F238E27FC236}">
                <a16:creationId xmlns:a16="http://schemas.microsoft.com/office/drawing/2014/main" id="{EC6F74DF-37BC-4244-8988-CA30F57F2B9E}"/>
              </a:ext>
            </a:extLst>
          </p:cNvPr>
          <p:cNvGrpSpPr/>
          <p:nvPr/>
        </p:nvGrpSpPr>
        <p:grpSpPr>
          <a:xfrm>
            <a:off x="554049" y="3338208"/>
            <a:ext cx="3300411" cy="3103750"/>
            <a:chOff x="305817" y="3333443"/>
            <a:chExt cx="3300411" cy="3103750"/>
          </a:xfrm>
        </p:grpSpPr>
        <p:grpSp>
          <p:nvGrpSpPr>
            <p:cNvPr id="3" name="グループ化 2">
              <a:extLst>
                <a:ext uri="{FF2B5EF4-FFF2-40B4-BE49-F238E27FC236}">
                  <a16:creationId xmlns:a16="http://schemas.microsoft.com/office/drawing/2014/main" id="{A72D6F08-9E1A-430D-A11F-717744D85AC9}"/>
                </a:ext>
              </a:extLst>
            </p:cNvPr>
            <p:cNvGrpSpPr>
              <a:grpSpLocks noChangeAspect="1"/>
            </p:cNvGrpSpPr>
            <p:nvPr/>
          </p:nvGrpSpPr>
          <p:grpSpPr>
            <a:xfrm>
              <a:off x="305817" y="3333443"/>
              <a:ext cx="3300411" cy="3103750"/>
              <a:chOff x="4711700" y="2667633"/>
              <a:chExt cx="5695950" cy="5356547"/>
            </a:xfrm>
          </p:grpSpPr>
          <p:pic>
            <p:nvPicPr>
              <p:cNvPr id="71" name="図 70">
                <a:extLst>
                  <a:ext uri="{FF2B5EF4-FFF2-40B4-BE49-F238E27FC236}">
                    <a16:creationId xmlns:a16="http://schemas.microsoft.com/office/drawing/2014/main" id="{B2D78395-8688-462A-B54F-F62009041A76}"/>
                  </a:ext>
                </a:extLst>
              </p:cNvPr>
              <p:cNvPicPr>
                <a:picLocks noChangeAspect="1"/>
              </p:cNvPicPr>
              <p:nvPr/>
            </p:nvPicPr>
            <p:blipFill rotWithShape="1">
              <a:blip r:embed="rId7"/>
              <a:srcRect t="6173" r="-335"/>
              <a:stretch/>
            </p:blipFill>
            <p:spPr>
              <a:xfrm>
                <a:off x="4711700" y="2667633"/>
                <a:ext cx="5695950" cy="5356547"/>
              </a:xfrm>
              <a:prstGeom prst="rect">
                <a:avLst/>
              </a:prstGeom>
            </p:spPr>
          </p:pic>
          <p:sp>
            <p:nvSpPr>
              <p:cNvPr id="72" name="矢印: 右 71">
                <a:extLst>
                  <a:ext uri="{FF2B5EF4-FFF2-40B4-BE49-F238E27FC236}">
                    <a16:creationId xmlns:a16="http://schemas.microsoft.com/office/drawing/2014/main" id="{78A66710-5E15-429E-9048-DE6625D7B02A}"/>
                  </a:ext>
                </a:extLst>
              </p:cNvPr>
              <p:cNvSpPr/>
              <p:nvPr/>
            </p:nvSpPr>
            <p:spPr>
              <a:xfrm rot="17501662">
                <a:off x="4933677" y="4782962"/>
                <a:ext cx="2331507" cy="155225"/>
              </a:xfrm>
              <a:prstGeom prst="rightArrow">
                <a:avLst/>
              </a:prstGeom>
              <a:solidFill>
                <a:srgbClr val="F45AD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73" name="フリーフォーム: 図形 72">
                <a:extLst>
                  <a:ext uri="{FF2B5EF4-FFF2-40B4-BE49-F238E27FC236}">
                    <a16:creationId xmlns:a16="http://schemas.microsoft.com/office/drawing/2014/main" id="{FA1DF020-80DD-4228-BCE5-4841E5CFDA66}"/>
                  </a:ext>
                </a:extLst>
              </p:cNvPr>
              <p:cNvSpPr/>
              <p:nvPr/>
            </p:nvSpPr>
            <p:spPr>
              <a:xfrm>
                <a:off x="6691298" y="3546735"/>
                <a:ext cx="1951557" cy="1528976"/>
              </a:xfrm>
              <a:custGeom>
                <a:avLst/>
                <a:gdLst>
                  <a:gd name="connsiteX0" fmla="*/ 0 w 1952625"/>
                  <a:gd name="connsiteY0" fmla="*/ 76200 h 1800225"/>
                  <a:gd name="connsiteX1" fmla="*/ 504825 w 1952625"/>
                  <a:gd name="connsiteY1" fmla="*/ 0 h 1800225"/>
                  <a:gd name="connsiteX2" fmla="*/ 990600 w 1952625"/>
                  <a:gd name="connsiteY2" fmla="*/ 123825 h 1800225"/>
                  <a:gd name="connsiteX3" fmla="*/ 1419225 w 1952625"/>
                  <a:gd name="connsiteY3" fmla="*/ 361950 h 1800225"/>
                  <a:gd name="connsiteX4" fmla="*/ 1704975 w 1952625"/>
                  <a:gd name="connsiteY4" fmla="*/ 695325 h 1800225"/>
                  <a:gd name="connsiteX5" fmla="*/ 1895475 w 1952625"/>
                  <a:gd name="connsiteY5" fmla="*/ 1123950 h 1800225"/>
                  <a:gd name="connsiteX6" fmla="*/ 1952625 w 1952625"/>
                  <a:gd name="connsiteY6" fmla="*/ 1562100 h 1800225"/>
                  <a:gd name="connsiteX7" fmla="*/ 1885950 w 1952625"/>
                  <a:gd name="connsiteY7" fmla="*/ 1800225 h 180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2625" h="1800225">
                    <a:moveTo>
                      <a:pt x="0" y="76200"/>
                    </a:moveTo>
                    <a:lnTo>
                      <a:pt x="504825" y="0"/>
                    </a:lnTo>
                    <a:lnTo>
                      <a:pt x="990600" y="123825"/>
                    </a:lnTo>
                    <a:lnTo>
                      <a:pt x="1419225" y="361950"/>
                    </a:lnTo>
                    <a:lnTo>
                      <a:pt x="1704975" y="695325"/>
                    </a:lnTo>
                    <a:lnTo>
                      <a:pt x="1895475" y="1123950"/>
                    </a:lnTo>
                    <a:lnTo>
                      <a:pt x="1952625" y="1562100"/>
                    </a:lnTo>
                    <a:lnTo>
                      <a:pt x="1885950" y="1800225"/>
                    </a:lnTo>
                  </a:path>
                </a:pathLst>
              </a:custGeom>
              <a:noFill/>
              <a:ln w="57150">
                <a:solidFill>
                  <a:srgbClr val="00B0F0"/>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74" name="矢印: 右 73">
                <a:extLst>
                  <a:ext uri="{FF2B5EF4-FFF2-40B4-BE49-F238E27FC236}">
                    <a16:creationId xmlns:a16="http://schemas.microsoft.com/office/drawing/2014/main" id="{69A45B66-3AF4-4223-8B4C-25A1B3DB948F}"/>
                  </a:ext>
                </a:extLst>
              </p:cNvPr>
              <p:cNvSpPr/>
              <p:nvPr/>
            </p:nvSpPr>
            <p:spPr>
              <a:xfrm rot="11098178">
                <a:off x="7891110" y="5365305"/>
                <a:ext cx="930052" cy="161266"/>
              </a:xfrm>
              <a:prstGeom prst="rightArrow">
                <a:avLst/>
              </a:prstGeom>
              <a:solidFill>
                <a:srgbClr val="F45AD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75" name="フリーフォーム: 図形 74">
                <a:extLst>
                  <a:ext uri="{FF2B5EF4-FFF2-40B4-BE49-F238E27FC236}">
                    <a16:creationId xmlns:a16="http://schemas.microsoft.com/office/drawing/2014/main" id="{8B2560F6-30D2-4F36-97EC-AAB9E94DACAC}"/>
                  </a:ext>
                </a:extLst>
              </p:cNvPr>
              <p:cNvSpPr/>
              <p:nvPr/>
            </p:nvSpPr>
            <p:spPr>
              <a:xfrm>
                <a:off x="8048031" y="5515308"/>
                <a:ext cx="2033487" cy="2160451"/>
              </a:xfrm>
              <a:custGeom>
                <a:avLst/>
                <a:gdLst>
                  <a:gd name="connsiteX0" fmla="*/ 0 w 1914525"/>
                  <a:gd name="connsiteY0" fmla="*/ 1695450 h 2143125"/>
                  <a:gd name="connsiteX1" fmla="*/ 276225 w 1914525"/>
                  <a:gd name="connsiteY1" fmla="*/ 1971675 h 2143125"/>
                  <a:gd name="connsiteX2" fmla="*/ 723900 w 1914525"/>
                  <a:gd name="connsiteY2" fmla="*/ 2143125 h 2143125"/>
                  <a:gd name="connsiteX3" fmla="*/ 1238250 w 1914525"/>
                  <a:gd name="connsiteY3" fmla="*/ 2076450 h 2143125"/>
                  <a:gd name="connsiteX4" fmla="*/ 1609725 w 1914525"/>
                  <a:gd name="connsiteY4" fmla="*/ 1828800 h 2143125"/>
                  <a:gd name="connsiteX5" fmla="*/ 1819275 w 1914525"/>
                  <a:gd name="connsiteY5" fmla="*/ 1543050 h 2143125"/>
                  <a:gd name="connsiteX6" fmla="*/ 1914525 w 1914525"/>
                  <a:gd name="connsiteY6" fmla="*/ 1095375 h 2143125"/>
                  <a:gd name="connsiteX7" fmla="*/ 1838325 w 1914525"/>
                  <a:gd name="connsiteY7" fmla="*/ 647700 h 2143125"/>
                  <a:gd name="connsiteX8" fmla="*/ 1638300 w 1914525"/>
                  <a:gd name="connsiteY8" fmla="*/ 352425 h 2143125"/>
                  <a:gd name="connsiteX9" fmla="*/ 1247775 w 1914525"/>
                  <a:gd name="connsiteY9" fmla="*/ 76200 h 2143125"/>
                  <a:gd name="connsiteX10" fmla="*/ 933450 w 1914525"/>
                  <a:gd name="connsiteY10" fmla="*/ 0 h 2143125"/>
                  <a:gd name="connsiteX11" fmla="*/ 752475 w 1914525"/>
                  <a:gd name="connsiteY11" fmla="*/ 19050 h 214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4525" h="2143125">
                    <a:moveTo>
                      <a:pt x="0" y="1695450"/>
                    </a:moveTo>
                    <a:lnTo>
                      <a:pt x="276225" y="1971675"/>
                    </a:lnTo>
                    <a:lnTo>
                      <a:pt x="723900" y="2143125"/>
                    </a:lnTo>
                    <a:lnTo>
                      <a:pt x="1238250" y="2076450"/>
                    </a:lnTo>
                    <a:lnTo>
                      <a:pt x="1609725" y="1828800"/>
                    </a:lnTo>
                    <a:lnTo>
                      <a:pt x="1819275" y="1543050"/>
                    </a:lnTo>
                    <a:lnTo>
                      <a:pt x="1914525" y="1095375"/>
                    </a:lnTo>
                    <a:lnTo>
                      <a:pt x="1838325" y="647700"/>
                    </a:lnTo>
                    <a:lnTo>
                      <a:pt x="1638300" y="352425"/>
                    </a:lnTo>
                    <a:lnTo>
                      <a:pt x="1247775" y="76200"/>
                    </a:lnTo>
                    <a:lnTo>
                      <a:pt x="933450" y="0"/>
                    </a:lnTo>
                    <a:lnTo>
                      <a:pt x="752475" y="19050"/>
                    </a:lnTo>
                  </a:path>
                </a:pathLst>
              </a:custGeom>
              <a:noFill/>
              <a:ln w="57150">
                <a:solidFill>
                  <a:srgbClr val="00B0F0"/>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76" name="フリーフォーム: 図形 75">
                <a:extLst>
                  <a:ext uri="{FF2B5EF4-FFF2-40B4-BE49-F238E27FC236}">
                    <a16:creationId xmlns:a16="http://schemas.microsoft.com/office/drawing/2014/main" id="{9486298D-0A0B-4A40-B6B7-653CC985DD84}"/>
                  </a:ext>
                </a:extLst>
              </p:cNvPr>
              <p:cNvSpPr/>
              <p:nvPr/>
            </p:nvSpPr>
            <p:spPr>
              <a:xfrm>
                <a:off x="6119798" y="5971091"/>
                <a:ext cx="1600201" cy="423583"/>
              </a:xfrm>
              <a:custGeom>
                <a:avLst/>
                <a:gdLst>
                  <a:gd name="connsiteX0" fmla="*/ 1600200 w 1600200"/>
                  <a:gd name="connsiteY0" fmla="*/ 304800 h 447675"/>
                  <a:gd name="connsiteX1" fmla="*/ 1419225 w 1600200"/>
                  <a:gd name="connsiteY1" fmla="*/ 381000 h 447675"/>
                  <a:gd name="connsiteX2" fmla="*/ 1104900 w 1600200"/>
                  <a:gd name="connsiteY2" fmla="*/ 447675 h 447675"/>
                  <a:gd name="connsiteX3" fmla="*/ 752475 w 1600200"/>
                  <a:gd name="connsiteY3" fmla="*/ 428625 h 447675"/>
                  <a:gd name="connsiteX4" fmla="*/ 476250 w 1600200"/>
                  <a:gd name="connsiteY4" fmla="*/ 333375 h 447675"/>
                  <a:gd name="connsiteX5" fmla="*/ 276225 w 1600200"/>
                  <a:gd name="connsiteY5" fmla="*/ 247650 h 447675"/>
                  <a:gd name="connsiteX6" fmla="*/ 76200 w 1600200"/>
                  <a:gd name="connsiteY6" fmla="*/ 95250 h 447675"/>
                  <a:gd name="connsiteX7" fmla="*/ 0 w 1600200"/>
                  <a:gd name="connsiteY7" fmla="*/ 0 h 44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0200" h="447675">
                    <a:moveTo>
                      <a:pt x="1600200" y="304800"/>
                    </a:moveTo>
                    <a:lnTo>
                      <a:pt x="1419225" y="381000"/>
                    </a:lnTo>
                    <a:lnTo>
                      <a:pt x="1104900" y="447675"/>
                    </a:lnTo>
                    <a:lnTo>
                      <a:pt x="752475" y="428625"/>
                    </a:lnTo>
                    <a:lnTo>
                      <a:pt x="476250" y="333375"/>
                    </a:lnTo>
                    <a:lnTo>
                      <a:pt x="276225" y="247650"/>
                    </a:lnTo>
                    <a:lnTo>
                      <a:pt x="76200" y="95250"/>
                    </a:lnTo>
                    <a:lnTo>
                      <a:pt x="0" y="0"/>
                    </a:lnTo>
                  </a:path>
                </a:pathLst>
              </a:custGeom>
              <a:noFill/>
              <a:ln w="57150">
                <a:solidFill>
                  <a:srgbClr val="00B0F0"/>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77" name="テキスト ボックス 10">
                <a:extLst>
                  <a:ext uri="{FF2B5EF4-FFF2-40B4-BE49-F238E27FC236}">
                    <a16:creationId xmlns:a16="http://schemas.microsoft.com/office/drawing/2014/main" id="{0DA3103F-4969-4637-9A38-6E6DF3DB3BD7}"/>
                  </a:ext>
                </a:extLst>
              </p:cNvPr>
              <p:cNvSpPr txBox="1"/>
              <p:nvPr/>
            </p:nvSpPr>
            <p:spPr>
              <a:xfrm>
                <a:off x="6543112" y="3143602"/>
                <a:ext cx="361948" cy="36026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400" b="1" dirty="0">
                    <a:solidFill>
                      <a:srgbClr val="00B0F0"/>
                    </a:solidFill>
                  </a:rPr>
                  <a:t>③</a:t>
                </a:r>
              </a:p>
            </p:txBody>
          </p:sp>
          <p:sp>
            <p:nvSpPr>
              <p:cNvPr id="78" name="テキスト ボックス 11">
                <a:extLst>
                  <a:ext uri="{FF2B5EF4-FFF2-40B4-BE49-F238E27FC236}">
                    <a16:creationId xmlns:a16="http://schemas.microsoft.com/office/drawing/2014/main" id="{3E37986B-1DFA-477A-968E-81FE9BD65B9A}"/>
                  </a:ext>
                </a:extLst>
              </p:cNvPr>
              <p:cNvSpPr txBox="1"/>
              <p:nvPr/>
            </p:nvSpPr>
            <p:spPr>
              <a:xfrm>
                <a:off x="7542798" y="6930147"/>
                <a:ext cx="361948" cy="34906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1400" b="1" dirty="0">
                    <a:solidFill>
                      <a:srgbClr val="00B0F0"/>
                    </a:solidFill>
                  </a:rPr>
                  <a:t>⑥</a:t>
                </a:r>
                <a:endParaRPr kumimoji="1" lang="ja-JP" altLang="en-US" sz="1400" b="1" dirty="0">
                  <a:solidFill>
                    <a:srgbClr val="00B0F0"/>
                  </a:solidFill>
                </a:endParaRPr>
              </a:p>
            </p:txBody>
          </p:sp>
          <p:sp>
            <p:nvSpPr>
              <p:cNvPr id="79" name="テキスト ボックス 12">
                <a:extLst>
                  <a:ext uri="{FF2B5EF4-FFF2-40B4-BE49-F238E27FC236}">
                    <a16:creationId xmlns:a16="http://schemas.microsoft.com/office/drawing/2014/main" id="{A9C3F63C-54EA-44FE-8EC4-B9C1B1CCCD6E}"/>
                  </a:ext>
                </a:extLst>
              </p:cNvPr>
              <p:cNvSpPr txBox="1"/>
              <p:nvPr/>
            </p:nvSpPr>
            <p:spPr>
              <a:xfrm>
                <a:off x="6853226" y="5899970"/>
                <a:ext cx="352424" cy="36811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400" b="1" dirty="0">
                    <a:solidFill>
                      <a:srgbClr val="00B0F0"/>
                    </a:solidFill>
                  </a:rPr>
                  <a:t>⑩</a:t>
                </a:r>
              </a:p>
            </p:txBody>
          </p:sp>
          <p:sp>
            <p:nvSpPr>
              <p:cNvPr id="80" name="テキスト ボックス 13">
                <a:extLst>
                  <a:ext uri="{FF2B5EF4-FFF2-40B4-BE49-F238E27FC236}">
                    <a16:creationId xmlns:a16="http://schemas.microsoft.com/office/drawing/2014/main" id="{2C95CFDD-EB81-4CCC-8F3E-7C9B26434A3B}"/>
                  </a:ext>
                </a:extLst>
              </p:cNvPr>
              <p:cNvSpPr txBox="1"/>
              <p:nvPr/>
            </p:nvSpPr>
            <p:spPr>
              <a:xfrm>
                <a:off x="5826124" y="5191836"/>
                <a:ext cx="353544" cy="37763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400" b="1" dirty="0">
                    <a:solidFill>
                      <a:srgbClr val="F45AD3"/>
                    </a:solidFill>
                  </a:rPr>
                  <a:t>②</a:t>
                </a:r>
              </a:p>
            </p:txBody>
          </p:sp>
          <p:sp>
            <p:nvSpPr>
              <p:cNvPr id="81" name="テキスト ボックス 14">
                <a:extLst>
                  <a:ext uri="{FF2B5EF4-FFF2-40B4-BE49-F238E27FC236}">
                    <a16:creationId xmlns:a16="http://schemas.microsoft.com/office/drawing/2014/main" id="{E10098B8-F060-49CD-8C6D-9B585E85B33F}"/>
                  </a:ext>
                </a:extLst>
              </p:cNvPr>
              <p:cNvSpPr txBox="1"/>
              <p:nvPr/>
            </p:nvSpPr>
            <p:spPr>
              <a:xfrm>
                <a:off x="8028038" y="4720872"/>
                <a:ext cx="351356" cy="36811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1400" b="1" dirty="0">
                    <a:solidFill>
                      <a:srgbClr val="F45AD3"/>
                    </a:solidFill>
                  </a:rPr>
                  <a:t>⑤</a:t>
                </a:r>
                <a:endParaRPr kumimoji="1" lang="ja-JP" altLang="en-US" sz="1400" b="1" dirty="0">
                  <a:solidFill>
                    <a:srgbClr val="F45AD3"/>
                  </a:solidFill>
                </a:endParaRPr>
              </a:p>
            </p:txBody>
          </p:sp>
          <p:sp>
            <p:nvSpPr>
              <p:cNvPr id="82" name="テキスト ボックス 15">
                <a:extLst>
                  <a:ext uri="{FF2B5EF4-FFF2-40B4-BE49-F238E27FC236}">
                    <a16:creationId xmlns:a16="http://schemas.microsoft.com/office/drawing/2014/main" id="{BD612C3B-F872-4D64-9FCF-746C9DC4761D}"/>
                  </a:ext>
                </a:extLst>
              </p:cNvPr>
              <p:cNvSpPr txBox="1"/>
              <p:nvPr/>
            </p:nvSpPr>
            <p:spPr>
              <a:xfrm>
                <a:off x="8765791" y="4579515"/>
                <a:ext cx="352423" cy="36811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400" b="1" dirty="0">
                    <a:solidFill>
                      <a:srgbClr val="7030A0"/>
                    </a:solidFill>
                  </a:rPr>
                  <a:t>④</a:t>
                </a:r>
              </a:p>
            </p:txBody>
          </p:sp>
          <p:sp>
            <p:nvSpPr>
              <p:cNvPr id="83" name="テキスト ボックス 16">
                <a:extLst>
                  <a:ext uri="{FF2B5EF4-FFF2-40B4-BE49-F238E27FC236}">
                    <a16:creationId xmlns:a16="http://schemas.microsoft.com/office/drawing/2014/main" id="{59D5E22D-4A8D-431E-B10A-640B4BEA7813}"/>
                  </a:ext>
                </a:extLst>
              </p:cNvPr>
              <p:cNvSpPr txBox="1"/>
              <p:nvPr/>
            </p:nvSpPr>
            <p:spPr>
              <a:xfrm>
                <a:off x="4714575" y="4685179"/>
                <a:ext cx="352424" cy="36811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400" b="1" dirty="0">
                    <a:solidFill>
                      <a:srgbClr val="7030A0"/>
                    </a:solidFill>
                  </a:rPr>
                  <a:t>⑫</a:t>
                </a:r>
              </a:p>
            </p:txBody>
          </p:sp>
          <p:sp>
            <p:nvSpPr>
              <p:cNvPr id="84" name="矢印: 右 83">
                <a:extLst>
                  <a:ext uri="{FF2B5EF4-FFF2-40B4-BE49-F238E27FC236}">
                    <a16:creationId xmlns:a16="http://schemas.microsoft.com/office/drawing/2014/main" id="{05ED9FF0-A318-4730-A320-22040A4C4EB5}"/>
                  </a:ext>
                </a:extLst>
              </p:cNvPr>
              <p:cNvSpPr/>
              <p:nvPr/>
            </p:nvSpPr>
            <p:spPr>
              <a:xfrm rot="5947128">
                <a:off x="7562338" y="5741751"/>
                <a:ext cx="576387" cy="138106"/>
              </a:xfrm>
              <a:prstGeom prst="rightArrow">
                <a:avLst/>
              </a:prstGeom>
              <a:solidFill>
                <a:srgbClr val="F45AD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85" name="矢印: 右 84">
                <a:extLst>
                  <a:ext uri="{FF2B5EF4-FFF2-40B4-BE49-F238E27FC236}">
                    <a16:creationId xmlns:a16="http://schemas.microsoft.com/office/drawing/2014/main" id="{36798710-B7D2-4D13-B1F5-78F11110ECF6}"/>
                  </a:ext>
                </a:extLst>
              </p:cNvPr>
              <p:cNvSpPr/>
              <p:nvPr/>
            </p:nvSpPr>
            <p:spPr>
              <a:xfrm rot="13430872">
                <a:off x="5014724" y="5518689"/>
                <a:ext cx="1192577" cy="161806"/>
              </a:xfrm>
              <a:prstGeom prst="rightArrow">
                <a:avLst/>
              </a:prstGeom>
              <a:solidFill>
                <a:srgbClr val="F45AD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86" name="矢印: 右 85">
                <a:extLst>
                  <a:ext uri="{FF2B5EF4-FFF2-40B4-BE49-F238E27FC236}">
                    <a16:creationId xmlns:a16="http://schemas.microsoft.com/office/drawing/2014/main" id="{BA9E0B4E-B78E-4BA2-A88B-947C0DAD4100}"/>
                  </a:ext>
                </a:extLst>
              </p:cNvPr>
              <p:cNvSpPr/>
              <p:nvPr/>
            </p:nvSpPr>
            <p:spPr>
              <a:xfrm rot="17236717">
                <a:off x="4723321" y="4468318"/>
                <a:ext cx="1405165" cy="197897"/>
              </a:xfrm>
              <a:prstGeom prst="rightArrow">
                <a:avLst/>
              </a:prstGeom>
              <a:solidFill>
                <a:srgbClr val="F45AD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87" name="矢印: 右 86">
                <a:extLst>
                  <a:ext uri="{FF2B5EF4-FFF2-40B4-BE49-F238E27FC236}">
                    <a16:creationId xmlns:a16="http://schemas.microsoft.com/office/drawing/2014/main" id="{86D2B007-42C0-4DB5-A263-3D6CDEA39854}"/>
                  </a:ext>
                </a:extLst>
              </p:cNvPr>
              <p:cNvSpPr/>
              <p:nvPr/>
            </p:nvSpPr>
            <p:spPr>
              <a:xfrm rot="6372372">
                <a:off x="7428270" y="5886420"/>
                <a:ext cx="1795093" cy="162037"/>
              </a:xfrm>
              <a:prstGeom prst="rightArrow">
                <a:avLst/>
              </a:prstGeom>
              <a:solidFill>
                <a:srgbClr val="F45AD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88" name="テキスト ボックス 23">
                <a:extLst>
                  <a:ext uri="{FF2B5EF4-FFF2-40B4-BE49-F238E27FC236}">
                    <a16:creationId xmlns:a16="http://schemas.microsoft.com/office/drawing/2014/main" id="{B323613B-FC68-4769-B7D4-E400304A3060}"/>
                  </a:ext>
                </a:extLst>
              </p:cNvPr>
              <p:cNvSpPr txBox="1"/>
              <p:nvPr/>
            </p:nvSpPr>
            <p:spPr>
              <a:xfrm>
                <a:off x="7346326" y="5429274"/>
                <a:ext cx="352424" cy="36811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400" b="1" dirty="0">
                    <a:solidFill>
                      <a:srgbClr val="F45AD3"/>
                    </a:solidFill>
                  </a:rPr>
                  <a:t>⑨</a:t>
                </a:r>
              </a:p>
            </p:txBody>
          </p:sp>
          <p:sp>
            <p:nvSpPr>
              <p:cNvPr id="89" name="テキスト ボックス 24">
                <a:extLst>
                  <a:ext uri="{FF2B5EF4-FFF2-40B4-BE49-F238E27FC236}">
                    <a16:creationId xmlns:a16="http://schemas.microsoft.com/office/drawing/2014/main" id="{389D9089-E69E-45C0-9067-6D55DF36C83D}"/>
                  </a:ext>
                </a:extLst>
              </p:cNvPr>
              <p:cNvSpPr txBox="1"/>
              <p:nvPr/>
            </p:nvSpPr>
            <p:spPr>
              <a:xfrm>
                <a:off x="8488408" y="5465576"/>
                <a:ext cx="352424" cy="36811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1400" b="1" dirty="0">
                    <a:solidFill>
                      <a:srgbClr val="F45AD3"/>
                    </a:solidFill>
                  </a:rPr>
                  <a:t>⑦</a:t>
                </a:r>
                <a:endParaRPr kumimoji="1" lang="ja-JP" altLang="en-US" sz="1400" b="1" dirty="0">
                  <a:solidFill>
                    <a:srgbClr val="F45AD3"/>
                  </a:solidFill>
                </a:endParaRPr>
              </a:p>
            </p:txBody>
          </p:sp>
          <p:sp>
            <p:nvSpPr>
              <p:cNvPr id="90" name="テキスト ボックス 25">
                <a:extLst>
                  <a:ext uri="{FF2B5EF4-FFF2-40B4-BE49-F238E27FC236}">
                    <a16:creationId xmlns:a16="http://schemas.microsoft.com/office/drawing/2014/main" id="{F28FE32E-7D86-4946-A195-FED794EE25FF}"/>
                  </a:ext>
                </a:extLst>
              </p:cNvPr>
              <p:cNvSpPr txBox="1"/>
              <p:nvPr/>
            </p:nvSpPr>
            <p:spPr>
              <a:xfrm>
                <a:off x="4953033" y="4191633"/>
                <a:ext cx="352424" cy="37763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1400" b="1" dirty="0">
                    <a:solidFill>
                      <a:srgbClr val="F45AD3"/>
                    </a:solidFill>
                  </a:rPr>
                  <a:t>⑬</a:t>
                </a:r>
                <a:endParaRPr kumimoji="1" lang="ja-JP" altLang="en-US" sz="1400" b="1" dirty="0">
                  <a:solidFill>
                    <a:srgbClr val="F45AD3"/>
                  </a:solidFill>
                </a:endParaRPr>
              </a:p>
            </p:txBody>
          </p:sp>
          <p:sp>
            <p:nvSpPr>
              <p:cNvPr id="91" name="テキスト ボックス 26">
                <a:extLst>
                  <a:ext uri="{FF2B5EF4-FFF2-40B4-BE49-F238E27FC236}">
                    <a16:creationId xmlns:a16="http://schemas.microsoft.com/office/drawing/2014/main" id="{D41A7147-4E6E-4F2D-918E-6FEAC2E74AC9}"/>
                  </a:ext>
                </a:extLst>
              </p:cNvPr>
              <p:cNvSpPr txBox="1"/>
              <p:nvPr/>
            </p:nvSpPr>
            <p:spPr>
              <a:xfrm>
                <a:off x="5627895" y="5974647"/>
                <a:ext cx="349702" cy="36811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400" b="1" dirty="0">
                    <a:solidFill>
                      <a:srgbClr val="F45AD3"/>
                    </a:solidFill>
                  </a:rPr>
                  <a:t>⑪</a:t>
                </a:r>
              </a:p>
            </p:txBody>
          </p:sp>
          <p:sp>
            <p:nvSpPr>
              <p:cNvPr id="92" name="テキスト ボックス 27">
                <a:extLst>
                  <a:ext uri="{FF2B5EF4-FFF2-40B4-BE49-F238E27FC236}">
                    <a16:creationId xmlns:a16="http://schemas.microsoft.com/office/drawing/2014/main" id="{ABCF60D9-8E46-4737-960C-1CEA5061D0F4}"/>
                  </a:ext>
                </a:extLst>
              </p:cNvPr>
              <p:cNvSpPr txBox="1"/>
              <p:nvPr/>
            </p:nvSpPr>
            <p:spPr>
              <a:xfrm>
                <a:off x="5148038" y="6037510"/>
                <a:ext cx="353545" cy="37763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400" b="1" dirty="0">
                    <a:solidFill>
                      <a:srgbClr val="7030A0"/>
                    </a:solidFill>
                  </a:rPr>
                  <a:t>①</a:t>
                </a:r>
              </a:p>
            </p:txBody>
          </p:sp>
          <p:sp>
            <p:nvSpPr>
              <p:cNvPr id="93" name="矢印: 環状 92">
                <a:extLst>
                  <a:ext uri="{FF2B5EF4-FFF2-40B4-BE49-F238E27FC236}">
                    <a16:creationId xmlns:a16="http://schemas.microsoft.com/office/drawing/2014/main" id="{6976C4E4-FCE5-4B85-BAC3-D93C5FEB19F0}"/>
                  </a:ext>
                </a:extLst>
              </p:cNvPr>
              <p:cNvSpPr/>
              <p:nvPr/>
            </p:nvSpPr>
            <p:spPr>
              <a:xfrm rot="19234811">
                <a:off x="5291004" y="5648660"/>
                <a:ext cx="443014" cy="531000"/>
              </a:xfrm>
              <a:prstGeom prst="circular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solidFill>
                    <a:schemeClr val="tx1"/>
                  </a:solidFill>
                </a:endParaRPr>
              </a:p>
            </p:txBody>
          </p:sp>
          <p:sp>
            <p:nvSpPr>
              <p:cNvPr id="94" name="矢印: 環状 93">
                <a:extLst>
                  <a:ext uri="{FF2B5EF4-FFF2-40B4-BE49-F238E27FC236}">
                    <a16:creationId xmlns:a16="http://schemas.microsoft.com/office/drawing/2014/main" id="{0F96E2A1-72D0-4A76-90C6-AB85C5357EAA}"/>
                  </a:ext>
                </a:extLst>
              </p:cNvPr>
              <p:cNvSpPr/>
              <p:nvPr/>
            </p:nvSpPr>
            <p:spPr>
              <a:xfrm rot="19116847" flipH="1">
                <a:off x="7678056" y="5116918"/>
                <a:ext cx="443014" cy="531000"/>
              </a:xfrm>
              <a:prstGeom prst="circular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solidFill>
                    <a:schemeClr val="tx1"/>
                  </a:solidFill>
                </a:endParaRPr>
              </a:p>
            </p:txBody>
          </p:sp>
          <p:sp>
            <p:nvSpPr>
              <p:cNvPr id="95" name="矢印: 環状 94">
                <a:extLst>
                  <a:ext uri="{FF2B5EF4-FFF2-40B4-BE49-F238E27FC236}">
                    <a16:creationId xmlns:a16="http://schemas.microsoft.com/office/drawing/2014/main" id="{9324C1ED-476E-4B6E-808D-09897E277CBA}"/>
                  </a:ext>
                </a:extLst>
              </p:cNvPr>
              <p:cNvSpPr/>
              <p:nvPr/>
            </p:nvSpPr>
            <p:spPr>
              <a:xfrm rot="15639660">
                <a:off x="4876800" y="5036634"/>
                <a:ext cx="443014" cy="531000"/>
              </a:xfrm>
              <a:prstGeom prst="circular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solidFill>
                    <a:schemeClr val="tx1"/>
                  </a:solidFill>
                </a:endParaRPr>
              </a:p>
            </p:txBody>
          </p:sp>
          <p:sp>
            <p:nvSpPr>
              <p:cNvPr id="46" name="テキスト ボックス 15">
                <a:extLst>
                  <a:ext uri="{FF2B5EF4-FFF2-40B4-BE49-F238E27FC236}">
                    <a16:creationId xmlns:a16="http://schemas.microsoft.com/office/drawing/2014/main" id="{EA3DD146-88DF-48FB-832B-46B52407D37C}"/>
                  </a:ext>
                </a:extLst>
              </p:cNvPr>
              <p:cNvSpPr txBox="1"/>
              <p:nvPr/>
            </p:nvSpPr>
            <p:spPr>
              <a:xfrm>
                <a:off x="7569854" y="4718768"/>
                <a:ext cx="352424" cy="36811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ja-JP" altLang="en-US" sz="1400" b="1" dirty="0">
                    <a:solidFill>
                      <a:srgbClr val="7030A0"/>
                    </a:solidFill>
                  </a:rPr>
                  <a:t>⑧</a:t>
                </a:r>
              </a:p>
            </p:txBody>
          </p:sp>
        </p:grpSp>
        <p:sp>
          <p:nvSpPr>
            <p:cNvPr id="45" name="矢印: 環状 44">
              <a:extLst>
                <a:ext uri="{FF2B5EF4-FFF2-40B4-BE49-F238E27FC236}">
                  <a16:creationId xmlns:a16="http://schemas.microsoft.com/office/drawing/2014/main" id="{0232633D-9322-405C-9F77-5B02DC658EE2}"/>
                </a:ext>
              </a:extLst>
            </p:cNvPr>
            <p:cNvSpPr/>
            <p:nvPr/>
          </p:nvSpPr>
          <p:spPr>
            <a:xfrm rot="6645960">
              <a:off x="2516830" y="4583254"/>
              <a:ext cx="259620" cy="311183"/>
            </a:xfrm>
            <a:prstGeom prst="circular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solidFill>
                  <a:schemeClr val="tx1"/>
                </a:solidFill>
              </a:endParaRPr>
            </a:p>
          </p:txBody>
        </p:sp>
      </p:grpSp>
    </p:spTree>
    <p:extLst>
      <p:ext uri="{BB962C8B-B14F-4D97-AF65-F5344CB8AC3E}">
        <p14:creationId xmlns:p14="http://schemas.microsoft.com/office/powerpoint/2010/main" val="307818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9770D5BD-F143-4369-8679-9DB1C844D9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3750" y="1858613"/>
            <a:ext cx="10937510" cy="8604000"/>
          </a:xfrm>
          <a:prstGeom prst="rect">
            <a:avLst/>
          </a:prstGeom>
        </p:spPr>
      </p:pic>
      <p:sp>
        <p:nvSpPr>
          <p:cNvPr id="7" name="タイトル 4">
            <a:extLst>
              <a:ext uri="{FF2B5EF4-FFF2-40B4-BE49-F238E27FC236}">
                <a16:creationId xmlns:a16="http://schemas.microsoft.com/office/drawing/2014/main" id="{43FB7FD1-80E4-4289-88D5-97AAFBB7BA37}"/>
              </a:ext>
            </a:extLst>
          </p:cNvPr>
          <p:cNvSpPr txBox="1">
            <a:spLocks/>
          </p:cNvSpPr>
          <p:nvPr/>
        </p:nvSpPr>
        <p:spPr>
          <a:xfrm>
            <a:off x="0" y="0"/>
            <a:ext cx="15119350" cy="881410"/>
          </a:xfrm>
          <a:prstGeom prst="rect">
            <a:avLst/>
          </a:prstGeom>
          <a:solidFill>
            <a:schemeClr val="accent6">
              <a:lumMod val="40000"/>
              <a:lumOff val="60000"/>
            </a:schemeClr>
          </a:solidFill>
        </p:spPr>
        <p:txBody>
          <a:bodyPr vert="horz" lIns="91440" tIns="45720" rIns="91440" bIns="45720" rtlCol="0" anchor="ctr">
            <a:normAutofit/>
          </a:bodyPr>
          <a:lstStyle>
            <a:lvl1pPr algn="l" defTabSz="1425550" rtl="0" eaLnBrk="1" latinLnBrk="0" hangingPunct="1">
              <a:lnSpc>
                <a:spcPct val="90000"/>
              </a:lnSpc>
              <a:spcBef>
                <a:spcPct val="0"/>
              </a:spcBef>
              <a:buNone/>
              <a:defRPr kumimoji="1" sz="6860" kern="1200">
                <a:solidFill>
                  <a:schemeClr val="tx1"/>
                </a:solidFill>
                <a:latin typeface="+mj-lt"/>
                <a:ea typeface="+mj-ea"/>
                <a:cs typeface="+mj-cs"/>
              </a:defRPr>
            </a:lvl1pPr>
          </a:lstStyle>
          <a:p>
            <a:pPr fontAlgn="auto">
              <a:spcAft>
                <a:spcPts val="0"/>
              </a:spcAft>
            </a:pPr>
            <a:r>
              <a:rPr lang="ja-JP" altLang="en-US" sz="3200" b="1" dirty="0">
                <a:effectLst>
                  <a:outerShdw blurRad="38100" dist="38100" dir="2700000" algn="tl">
                    <a:srgbClr val="000000">
                      <a:alpha val="43137"/>
                    </a:srgbClr>
                  </a:outerShdw>
                </a:effectLst>
              </a:rPr>
              <a:t>　２．構造モデル</a:t>
            </a:r>
          </a:p>
        </p:txBody>
      </p:sp>
      <p:pic>
        <p:nvPicPr>
          <p:cNvPr id="4" name="図 3">
            <a:extLst>
              <a:ext uri="{FF2B5EF4-FFF2-40B4-BE49-F238E27FC236}">
                <a16:creationId xmlns:a16="http://schemas.microsoft.com/office/drawing/2014/main" id="{75653DA2-0F8D-448A-ADF8-A7D742B694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990" y="6550992"/>
            <a:ext cx="2619788" cy="3863822"/>
          </a:xfrm>
          <a:prstGeom prst="rect">
            <a:avLst/>
          </a:prstGeom>
        </p:spPr>
      </p:pic>
      <p:pic>
        <p:nvPicPr>
          <p:cNvPr id="8" name="図 7">
            <a:extLst>
              <a:ext uri="{FF2B5EF4-FFF2-40B4-BE49-F238E27FC236}">
                <a16:creationId xmlns:a16="http://schemas.microsoft.com/office/drawing/2014/main" id="{C8717149-D2D2-4105-A720-EECD046922FF}"/>
              </a:ext>
            </a:extLst>
          </p:cNvPr>
          <p:cNvPicPr>
            <a:picLocks noChangeAspect="1"/>
          </p:cNvPicPr>
          <p:nvPr/>
        </p:nvPicPr>
        <p:blipFill>
          <a:blip r:embed="rId4"/>
          <a:stretch>
            <a:fillRect/>
          </a:stretch>
        </p:blipFill>
        <p:spPr>
          <a:xfrm>
            <a:off x="12744251" y="233338"/>
            <a:ext cx="2198619" cy="395394"/>
          </a:xfrm>
          <a:prstGeom prst="rect">
            <a:avLst/>
          </a:prstGeom>
        </p:spPr>
      </p:pic>
      <p:cxnSp>
        <p:nvCxnSpPr>
          <p:cNvPr id="5" name="直線コネクタ 4">
            <a:extLst>
              <a:ext uri="{FF2B5EF4-FFF2-40B4-BE49-F238E27FC236}">
                <a16:creationId xmlns:a16="http://schemas.microsoft.com/office/drawing/2014/main" id="{20590B11-3BCD-4319-AA3F-824974087030}"/>
              </a:ext>
            </a:extLst>
          </p:cNvPr>
          <p:cNvCxnSpPr>
            <a:cxnSpLocks/>
          </p:cNvCxnSpPr>
          <p:nvPr/>
        </p:nvCxnSpPr>
        <p:spPr>
          <a:xfrm>
            <a:off x="4024772" y="906810"/>
            <a:ext cx="0" cy="9738395"/>
          </a:xfrm>
          <a:prstGeom prst="line">
            <a:avLst/>
          </a:prstGeom>
          <a:ln w="38100">
            <a:solidFill>
              <a:srgbClr val="92D050"/>
            </a:solidFill>
            <a:prstDash val="sysDash"/>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D1426BCE-541C-4FB7-AAE1-2DFF5028E827}"/>
              </a:ext>
            </a:extLst>
          </p:cNvPr>
          <p:cNvSpPr txBox="1"/>
          <p:nvPr/>
        </p:nvSpPr>
        <p:spPr>
          <a:xfrm>
            <a:off x="4092234" y="927455"/>
            <a:ext cx="10909349" cy="929935"/>
          </a:xfrm>
          <a:prstGeom prst="rect">
            <a:avLst/>
          </a:prstGeom>
          <a:noFill/>
        </p:spPr>
        <p:txBody>
          <a:bodyPr wrap="square" rtlCol="0">
            <a:spAutoFit/>
          </a:bodyPr>
          <a:lstStyle/>
          <a:p>
            <a:r>
              <a:rPr kumimoji="1" lang="en-US" altLang="ja-JP" b="1" dirty="0">
                <a:latin typeface="+mn-ea"/>
                <a:ea typeface="+mn-ea"/>
              </a:rPr>
              <a:t>2.2 </a:t>
            </a:r>
            <a:r>
              <a:rPr kumimoji="1" lang="ja-JP" altLang="en-US" b="1" dirty="0">
                <a:latin typeface="+mn-ea"/>
                <a:ea typeface="+mn-ea"/>
              </a:rPr>
              <a:t>クラス構造</a:t>
            </a:r>
            <a:endParaRPr kumimoji="1" lang="en-US" altLang="ja-JP" b="1" dirty="0">
              <a:latin typeface="+mn-ea"/>
              <a:ea typeface="+mn-ea"/>
            </a:endParaRPr>
          </a:p>
          <a:p>
            <a:r>
              <a:rPr lang="ja-JP" altLang="en-US" sz="1200" dirty="0">
                <a:latin typeface="+mn-ea"/>
                <a:ea typeface="+mn-ea"/>
              </a:rPr>
              <a:t>表</a:t>
            </a:r>
            <a:r>
              <a:rPr lang="en-US" altLang="ja-JP" sz="1200" dirty="0">
                <a:latin typeface="+mn-ea"/>
                <a:ea typeface="+mn-ea"/>
              </a:rPr>
              <a:t>1.2</a:t>
            </a:r>
            <a:r>
              <a:rPr lang="ja-JP" altLang="en-US" sz="1200" dirty="0">
                <a:latin typeface="+mn-ea"/>
                <a:ea typeface="+mn-ea"/>
              </a:rPr>
              <a:t>の</a:t>
            </a:r>
            <a:r>
              <a:rPr kumimoji="1" lang="ja-JP" altLang="en-US" sz="1200" dirty="0">
                <a:latin typeface="+mn-ea"/>
                <a:ea typeface="+mn-ea"/>
              </a:rPr>
              <a:t>基本フローで示した各機能の一連の流れをクラス図として図</a:t>
            </a:r>
            <a:r>
              <a:rPr lang="en-US" altLang="ja-JP" sz="1200" dirty="0">
                <a:latin typeface="+mn-ea"/>
                <a:ea typeface="+mn-ea"/>
              </a:rPr>
              <a:t>2.2</a:t>
            </a:r>
            <a:r>
              <a:rPr kumimoji="1" lang="ja-JP" altLang="en-US" sz="1200" dirty="0">
                <a:latin typeface="+mn-ea"/>
                <a:ea typeface="+mn-ea"/>
              </a:rPr>
              <a:t>に</a:t>
            </a:r>
            <a:r>
              <a:rPr lang="ja-JP" altLang="en-US" sz="1200" dirty="0">
                <a:latin typeface="+mn-ea"/>
                <a:ea typeface="+mn-ea"/>
              </a:rPr>
              <a:t>示す。シーン管理クラスで各シーンの終了条件（走行距離条件、反射光条件、角度条件、カラー条件）を持ち、現在のシーン終了条件に応じてシーン終了を判断する。走行管理クラスで各シーンの走行パラメータ（直進走行、旋回走行、ライントレース）を持ち、現在のシーンに応じた走行パラメータを設定し、走行を実行する。</a:t>
            </a:r>
            <a:endParaRPr kumimoji="1" lang="ja-JP" altLang="en-US" sz="1200" dirty="0">
              <a:latin typeface="+mn-ea"/>
              <a:ea typeface="+mn-ea"/>
            </a:endParaRPr>
          </a:p>
        </p:txBody>
      </p:sp>
      <p:sp>
        <p:nvSpPr>
          <p:cNvPr id="10" name="テキスト ボックス 9">
            <a:extLst>
              <a:ext uri="{FF2B5EF4-FFF2-40B4-BE49-F238E27FC236}">
                <a16:creationId xmlns:a16="http://schemas.microsoft.com/office/drawing/2014/main" id="{37641BDE-819F-4C95-876C-36C2F353FE71}"/>
              </a:ext>
            </a:extLst>
          </p:cNvPr>
          <p:cNvSpPr txBox="1"/>
          <p:nvPr/>
        </p:nvSpPr>
        <p:spPr>
          <a:xfrm>
            <a:off x="16465" y="932210"/>
            <a:ext cx="3940839" cy="929935"/>
          </a:xfrm>
          <a:prstGeom prst="rect">
            <a:avLst/>
          </a:prstGeom>
          <a:noFill/>
        </p:spPr>
        <p:txBody>
          <a:bodyPr wrap="square" rtlCol="0">
            <a:spAutoFit/>
          </a:bodyPr>
          <a:lstStyle/>
          <a:p>
            <a:r>
              <a:rPr lang="en-US" altLang="ja-JP" b="1" dirty="0">
                <a:latin typeface="+mn-ea"/>
                <a:ea typeface="+mn-ea"/>
              </a:rPr>
              <a:t>2</a:t>
            </a:r>
            <a:r>
              <a:rPr kumimoji="1" lang="en-US" altLang="ja-JP" b="1" dirty="0">
                <a:latin typeface="+mn-ea"/>
                <a:ea typeface="+mn-ea"/>
              </a:rPr>
              <a:t>.1 </a:t>
            </a:r>
            <a:r>
              <a:rPr kumimoji="1" lang="ja-JP" altLang="en-US" b="1" dirty="0">
                <a:latin typeface="+mn-ea"/>
                <a:ea typeface="+mn-ea"/>
              </a:rPr>
              <a:t>パッケージ構造</a:t>
            </a:r>
            <a:endParaRPr kumimoji="1" lang="en-US" altLang="ja-JP" b="1" dirty="0">
              <a:latin typeface="+mn-ea"/>
              <a:ea typeface="+mn-ea"/>
            </a:endParaRPr>
          </a:p>
          <a:p>
            <a:r>
              <a:rPr lang="ja-JP" altLang="en-US" sz="1200" dirty="0">
                <a:latin typeface="+mn-ea"/>
                <a:ea typeface="+mn-ea"/>
              </a:rPr>
              <a:t>ユースケースで導出した機能から役割を整理した内容を表</a:t>
            </a:r>
            <a:r>
              <a:rPr lang="en-US" altLang="ja-JP" sz="1200" dirty="0">
                <a:latin typeface="+mn-ea"/>
                <a:ea typeface="+mn-ea"/>
              </a:rPr>
              <a:t>2.1</a:t>
            </a:r>
            <a:r>
              <a:rPr lang="ja-JP" altLang="en-US" sz="1200" dirty="0">
                <a:latin typeface="+mn-ea"/>
                <a:ea typeface="+mn-ea"/>
              </a:rPr>
              <a:t>に示す</a:t>
            </a:r>
            <a:r>
              <a:rPr kumimoji="1" lang="ja-JP" altLang="en-US" sz="1200" dirty="0">
                <a:latin typeface="+mn-ea"/>
                <a:ea typeface="+mn-ea"/>
              </a:rPr>
              <a:t>。また整理した役割を</a:t>
            </a:r>
            <a:r>
              <a:rPr kumimoji="1" lang="en-US" altLang="ja-JP" sz="1200" dirty="0">
                <a:latin typeface="+mn-ea"/>
                <a:ea typeface="+mn-ea"/>
              </a:rPr>
              <a:t>5</a:t>
            </a:r>
            <a:r>
              <a:rPr kumimoji="1" lang="ja-JP" altLang="en-US" sz="1200" dirty="0">
                <a:latin typeface="+mn-ea"/>
                <a:ea typeface="+mn-ea"/>
              </a:rPr>
              <a:t>つのパッケージにまとめ、対応関係を図</a:t>
            </a:r>
            <a:r>
              <a:rPr lang="en-US" altLang="ja-JP" sz="1200" dirty="0">
                <a:latin typeface="+mn-ea"/>
                <a:ea typeface="+mn-ea"/>
              </a:rPr>
              <a:t>2.1</a:t>
            </a:r>
            <a:r>
              <a:rPr lang="ja-JP" altLang="en-US" sz="1200" dirty="0">
                <a:latin typeface="+mn-ea"/>
                <a:ea typeface="+mn-ea"/>
              </a:rPr>
              <a:t>に示す。</a:t>
            </a:r>
            <a:endParaRPr kumimoji="1" lang="ja-JP" altLang="en-US" sz="1200" dirty="0">
              <a:latin typeface="+mn-ea"/>
              <a:ea typeface="+mn-ea"/>
            </a:endParaRPr>
          </a:p>
        </p:txBody>
      </p:sp>
      <p:graphicFrame>
        <p:nvGraphicFramePr>
          <p:cNvPr id="3" name="表 2">
            <a:extLst>
              <a:ext uri="{FF2B5EF4-FFF2-40B4-BE49-F238E27FC236}">
                <a16:creationId xmlns:a16="http://schemas.microsoft.com/office/drawing/2014/main" id="{6561187A-9856-465D-8335-9D7285B07FA6}"/>
              </a:ext>
            </a:extLst>
          </p:cNvPr>
          <p:cNvGraphicFramePr>
            <a:graphicFrameLocks noGrp="1"/>
          </p:cNvGraphicFramePr>
          <p:nvPr>
            <p:extLst>
              <p:ext uri="{D42A27DB-BD31-4B8C-83A1-F6EECF244321}">
                <p14:modId xmlns:p14="http://schemas.microsoft.com/office/powerpoint/2010/main" val="2524710300"/>
              </p:ext>
            </p:extLst>
          </p:nvPr>
        </p:nvGraphicFramePr>
        <p:xfrm>
          <a:off x="16465" y="2135384"/>
          <a:ext cx="3945112" cy="4343400"/>
        </p:xfrm>
        <a:graphic>
          <a:graphicData uri="http://schemas.openxmlformats.org/drawingml/2006/table">
            <a:tbl>
              <a:tblPr firstRow="1" bandRow="1">
                <a:tableStyleId>{93296810-A885-4BE3-A3E7-6D5BEEA58F35}</a:tableStyleId>
              </a:tblPr>
              <a:tblGrid>
                <a:gridCol w="817880">
                  <a:extLst>
                    <a:ext uri="{9D8B030D-6E8A-4147-A177-3AD203B41FA5}">
                      <a16:colId xmlns:a16="http://schemas.microsoft.com/office/drawing/2014/main" val="351344073"/>
                    </a:ext>
                  </a:extLst>
                </a:gridCol>
                <a:gridCol w="1972802">
                  <a:extLst>
                    <a:ext uri="{9D8B030D-6E8A-4147-A177-3AD203B41FA5}">
                      <a16:colId xmlns:a16="http://schemas.microsoft.com/office/drawing/2014/main" val="260574431"/>
                    </a:ext>
                  </a:extLst>
                </a:gridCol>
                <a:gridCol w="1154430">
                  <a:extLst>
                    <a:ext uri="{9D8B030D-6E8A-4147-A177-3AD203B41FA5}">
                      <a16:colId xmlns:a16="http://schemas.microsoft.com/office/drawing/2014/main" val="2969164621"/>
                    </a:ext>
                  </a:extLst>
                </a:gridCol>
              </a:tblGrid>
              <a:tr h="226355">
                <a:tc>
                  <a:txBody>
                    <a:bodyPr/>
                    <a:lstStyle/>
                    <a:p>
                      <a:pPr algn="ctr"/>
                      <a:r>
                        <a:rPr kumimoji="1" lang="en-US" altLang="ja-JP" sz="1050" dirty="0">
                          <a:latin typeface="+mn-ea"/>
                          <a:ea typeface="+mn-ea"/>
                        </a:rPr>
                        <a:t>UC_ID</a:t>
                      </a:r>
                      <a:endParaRPr kumimoji="1" lang="ja-JP" altLang="en-US" sz="1050" dirty="0">
                        <a:latin typeface="+mn-ea"/>
                        <a:ea typeface="+mn-ea"/>
                      </a:endParaRPr>
                    </a:p>
                  </a:txBody>
                  <a:tcPr anchor="ctr"/>
                </a:tc>
                <a:tc>
                  <a:txBody>
                    <a:bodyPr/>
                    <a:lstStyle/>
                    <a:p>
                      <a:pPr algn="ctr"/>
                      <a:r>
                        <a:rPr kumimoji="1" lang="ja-JP" altLang="en-US" sz="1050" dirty="0">
                          <a:latin typeface="+mn-ea"/>
                          <a:ea typeface="+mn-ea"/>
                        </a:rPr>
                        <a:t>ユースケース</a:t>
                      </a:r>
                    </a:p>
                  </a:txBody>
                  <a:tcPr anchor="ctr"/>
                </a:tc>
                <a:tc>
                  <a:txBody>
                    <a:bodyPr/>
                    <a:lstStyle/>
                    <a:p>
                      <a:pPr algn="ctr"/>
                      <a:r>
                        <a:rPr kumimoji="1" lang="ja-JP" altLang="en-US" sz="1050" dirty="0">
                          <a:latin typeface="+mn-ea"/>
                          <a:ea typeface="+mn-ea"/>
                        </a:rPr>
                        <a:t>役割</a:t>
                      </a:r>
                      <a:endParaRPr kumimoji="1" lang="en-US" altLang="ja-JP" sz="1050" dirty="0">
                        <a:latin typeface="+mn-ea"/>
                        <a:ea typeface="+mn-ea"/>
                      </a:endParaRPr>
                    </a:p>
                    <a:p>
                      <a:pPr algn="ctr"/>
                      <a:r>
                        <a:rPr kumimoji="1" lang="ja-JP" altLang="en-US" sz="1050" dirty="0">
                          <a:latin typeface="+mn-ea"/>
                          <a:ea typeface="+mn-ea"/>
                        </a:rPr>
                        <a:t>（パッケージ）</a:t>
                      </a:r>
                    </a:p>
                  </a:txBody>
                  <a:tcPr anchor="ctr"/>
                </a:tc>
                <a:extLst>
                  <a:ext uri="{0D108BD9-81ED-4DB2-BD59-A6C34878D82A}">
                    <a16:rowId xmlns:a16="http://schemas.microsoft.com/office/drawing/2014/main" val="582883310"/>
                  </a:ext>
                </a:extLst>
              </a:tr>
              <a:tr h="135813">
                <a:tc>
                  <a:txBody>
                    <a:bodyPr/>
                    <a:lstStyle/>
                    <a:p>
                      <a:pPr algn="ctr"/>
                      <a:r>
                        <a:rPr kumimoji="1" lang="en-US" altLang="ja-JP" sz="1050" dirty="0">
                          <a:latin typeface="+mn-ea"/>
                          <a:ea typeface="+mn-ea"/>
                        </a:rPr>
                        <a:t>UC_1</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シーンを切り替える</a:t>
                      </a:r>
                    </a:p>
                  </a:txBody>
                  <a:tcPr anchor="ctr"/>
                </a:tc>
                <a:tc>
                  <a:txBody>
                    <a:bodyPr/>
                    <a:lstStyle/>
                    <a:p>
                      <a:pPr algn="ctr"/>
                      <a:r>
                        <a:rPr kumimoji="1" lang="ja-JP" altLang="en-US" sz="1050" dirty="0">
                          <a:latin typeface="+mn-ea"/>
                          <a:ea typeface="+mn-ea"/>
                        </a:rPr>
                        <a:t>攻略</a:t>
                      </a:r>
                    </a:p>
                  </a:txBody>
                  <a:tcPr anchor="ctr"/>
                </a:tc>
                <a:extLst>
                  <a:ext uri="{0D108BD9-81ED-4DB2-BD59-A6C34878D82A}">
                    <a16:rowId xmlns:a16="http://schemas.microsoft.com/office/drawing/2014/main" val="2415062479"/>
                  </a:ext>
                </a:extLst>
              </a:tr>
              <a:tr h="135813">
                <a:tc>
                  <a:txBody>
                    <a:bodyPr/>
                    <a:lstStyle/>
                    <a:p>
                      <a:pPr algn="ctr"/>
                      <a:r>
                        <a:rPr kumimoji="1" lang="en-US" altLang="ja-JP" sz="1050" dirty="0">
                          <a:latin typeface="+mn-ea"/>
                          <a:ea typeface="+mn-ea"/>
                        </a:rPr>
                        <a:t>UC_2</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シーンに応じた走行をする</a:t>
                      </a:r>
                    </a:p>
                  </a:txBody>
                  <a:tcPr anchor="ctr"/>
                </a:tc>
                <a:tc>
                  <a:txBody>
                    <a:bodyPr/>
                    <a:lstStyle/>
                    <a:p>
                      <a:pPr algn="ctr"/>
                      <a:r>
                        <a:rPr kumimoji="1" lang="ja-JP" altLang="en-US" sz="1050" dirty="0">
                          <a:latin typeface="+mn-ea"/>
                          <a:ea typeface="+mn-ea"/>
                        </a:rPr>
                        <a:t>攻略</a:t>
                      </a:r>
                    </a:p>
                  </a:txBody>
                  <a:tcPr anchor="ctr"/>
                </a:tc>
                <a:extLst>
                  <a:ext uri="{0D108BD9-81ED-4DB2-BD59-A6C34878D82A}">
                    <a16:rowId xmlns:a16="http://schemas.microsoft.com/office/drawing/2014/main" val="1568580836"/>
                  </a:ext>
                </a:extLst>
              </a:tr>
              <a:tr h="135813">
                <a:tc>
                  <a:txBody>
                    <a:bodyPr/>
                    <a:lstStyle/>
                    <a:p>
                      <a:pPr algn="ctr"/>
                      <a:r>
                        <a:rPr kumimoji="1" lang="en-US" altLang="ja-JP" sz="1050" dirty="0">
                          <a:latin typeface="+mn-ea"/>
                          <a:ea typeface="+mn-ea"/>
                        </a:rPr>
                        <a:t>UC_3</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ラインカラーを判定する</a:t>
                      </a:r>
                    </a:p>
                  </a:txBody>
                  <a:tcPr anchor="ctr"/>
                </a:tc>
                <a:tc>
                  <a:txBody>
                    <a:bodyPr/>
                    <a:lstStyle/>
                    <a:p>
                      <a:pPr algn="ctr"/>
                      <a:r>
                        <a:rPr kumimoji="1" lang="ja-JP" altLang="en-US" sz="1050" dirty="0">
                          <a:latin typeface="+mn-ea"/>
                          <a:ea typeface="+mn-ea"/>
                        </a:rPr>
                        <a:t>判定</a:t>
                      </a:r>
                    </a:p>
                  </a:txBody>
                  <a:tcPr anchor="ctr"/>
                </a:tc>
                <a:extLst>
                  <a:ext uri="{0D108BD9-81ED-4DB2-BD59-A6C34878D82A}">
                    <a16:rowId xmlns:a16="http://schemas.microsoft.com/office/drawing/2014/main" val="423461857"/>
                  </a:ext>
                </a:extLst>
              </a:tr>
              <a:tr h="135813">
                <a:tc>
                  <a:txBody>
                    <a:bodyPr/>
                    <a:lstStyle/>
                    <a:p>
                      <a:pPr algn="ctr"/>
                      <a:r>
                        <a:rPr kumimoji="1" lang="en-US" altLang="ja-JP" sz="1050" dirty="0">
                          <a:latin typeface="+mn-ea"/>
                          <a:ea typeface="+mn-ea"/>
                        </a:rPr>
                        <a:t>UC_4</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反射光判定する</a:t>
                      </a:r>
                    </a:p>
                  </a:txBody>
                  <a:tcPr anchor="ctr"/>
                </a:tc>
                <a:tc>
                  <a:txBody>
                    <a:bodyPr/>
                    <a:lstStyle/>
                    <a:p>
                      <a:pPr algn="ctr"/>
                      <a:r>
                        <a:rPr kumimoji="1" lang="ja-JP" altLang="en-US" sz="1050" dirty="0">
                          <a:latin typeface="+mn-ea"/>
                          <a:ea typeface="+mn-ea"/>
                        </a:rPr>
                        <a:t>判定</a:t>
                      </a:r>
                    </a:p>
                  </a:txBody>
                  <a:tcPr anchor="ctr"/>
                </a:tc>
                <a:extLst>
                  <a:ext uri="{0D108BD9-81ED-4DB2-BD59-A6C34878D82A}">
                    <a16:rowId xmlns:a16="http://schemas.microsoft.com/office/drawing/2014/main" val="297557042"/>
                  </a:ext>
                </a:extLst>
              </a:tr>
              <a:tr h="135813">
                <a:tc>
                  <a:txBody>
                    <a:bodyPr/>
                    <a:lstStyle/>
                    <a:p>
                      <a:pPr algn="ctr"/>
                      <a:r>
                        <a:rPr kumimoji="1" lang="en-US" altLang="ja-JP" sz="1050" dirty="0">
                          <a:latin typeface="+mn-ea"/>
                          <a:ea typeface="+mn-ea"/>
                        </a:rPr>
                        <a:t>UC_5</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走行距離判定する</a:t>
                      </a:r>
                    </a:p>
                  </a:txBody>
                  <a:tcPr anchor="ctr"/>
                </a:tc>
                <a:tc>
                  <a:txBody>
                    <a:bodyPr/>
                    <a:lstStyle/>
                    <a:p>
                      <a:pPr algn="ctr"/>
                      <a:r>
                        <a:rPr kumimoji="1" lang="ja-JP" altLang="en-US" sz="1050" dirty="0">
                          <a:latin typeface="+mn-ea"/>
                          <a:ea typeface="+mn-ea"/>
                        </a:rPr>
                        <a:t>判定</a:t>
                      </a:r>
                    </a:p>
                  </a:txBody>
                  <a:tcPr anchor="ctr"/>
                </a:tc>
                <a:extLst>
                  <a:ext uri="{0D108BD9-81ED-4DB2-BD59-A6C34878D82A}">
                    <a16:rowId xmlns:a16="http://schemas.microsoft.com/office/drawing/2014/main" val="3377331427"/>
                  </a:ext>
                </a:extLst>
              </a:tr>
              <a:tr h="135813">
                <a:tc>
                  <a:txBody>
                    <a:bodyPr/>
                    <a:lstStyle/>
                    <a:p>
                      <a:pPr algn="ctr"/>
                      <a:r>
                        <a:rPr kumimoji="1" lang="en-US" altLang="ja-JP" sz="1050" dirty="0">
                          <a:latin typeface="+mn-ea"/>
                          <a:ea typeface="+mn-ea"/>
                        </a:rPr>
                        <a:t>UC_6</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角度判定する</a:t>
                      </a:r>
                    </a:p>
                  </a:txBody>
                  <a:tcPr anchor="ctr"/>
                </a:tc>
                <a:tc>
                  <a:txBody>
                    <a:bodyPr/>
                    <a:lstStyle/>
                    <a:p>
                      <a:pPr algn="ctr"/>
                      <a:r>
                        <a:rPr kumimoji="1" lang="ja-JP" altLang="en-US" sz="1050" dirty="0">
                          <a:latin typeface="+mn-ea"/>
                          <a:ea typeface="+mn-ea"/>
                        </a:rPr>
                        <a:t>判定</a:t>
                      </a:r>
                    </a:p>
                  </a:txBody>
                  <a:tcPr anchor="ctr"/>
                </a:tc>
                <a:extLst>
                  <a:ext uri="{0D108BD9-81ED-4DB2-BD59-A6C34878D82A}">
                    <a16:rowId xmlns:a16="http://schemas.microsoft.com/office/drawing/2014/main" val="1162328093"/>
                  </a:ext>
                </a:extLst>
              </a:tr>
              <a:tr h="135813">
                <a:tc>
                  <a:txBody>
                    <a:bodyPr/>
                    <a:lstStyle/>
                    <a:p>
                      <a:pPr algn="ctr"/>
                      <a:r>
                        <a:rPr kumimoji="1" lang="en-US" altLang="ja-JP" sz="1050" dirty="0">
                          <a:latin typeface="+mn-ea"/>
                          <a:ea typeface="+mn-ea"/>
                        </a:rPr>
                        <a:t>UC_7</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直進走行する</a:t>
                      </a:r>
                    </a:p>
                  </a:txBody>
                  <a:tcPr anchor="ctr"/>
                </a:tc>
                <a:tc>
                  <a:txBody>
                    <a:bodyPr/>
                    <a:lstStyle/>
                    <a:p>
                      <a:pPr algn="ctr"/>
                      <a:r>
                        <a:rPr kumimoji="1" lang="ja-JP" altLang="en-US" sz="1050" dirty="0">
                          <a:latin typeface="+mn-ea"/>
                          <a:ea typeface="+mn-ea"/>
                        </a:rPr>
                        <a:t>走行</a:t>
                      </a:r>
                    </a:p>
                  </a:txBody>
                  <a:tcPr anchor="ctr"/>
                </a:tc>
                <a:extLst>
                  <a:ext uri="{0D108BD9-81ED-4DB2-BD59-A6C34878D82A}">
                    <a16:rowId xmlns:a16="http://schemas.microsoft.com/office/drawing/2014/main" val="1265053777"/>
                  </a:ext>
                </a:extLst>
              </a:tr>
              <a:tr h="135813">
                <a:tc>
                  <a:txBody>
                    <a:bodyPr/>
                    <a:lstStyle/>
                    <a:p>
                      <a:pPr algn="ctr"/>
                      <a:r>
                        <a:rPr kumimoji="1" lang="en-US" altLang="ja-JP" sz="1050" dirty="0">
                          <a:latin typeface="+mn-ea"/>
                          <a:ea typeface="+mn-ea"/>
                        </a:rPr>
                        <a:t>UC_8</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旋回走行する</a:t>
                      </a:r>
                    </a:p>
                  </a:txBody>
                  <a:tcPr anchor="ctr"/>
                </a:tc>
                <a:tc>
                  <a:txBody>
                    <a:bodyPr/>
                    <a:lstStyle/>
                    <a:p>
                      <a:pPr algn="ctr"/>
                      <a:r>
                        <a:rPr kumimoji="1" lang="ja-JP" altLang="en-US" sz="1050" dirty="0">
                          <a:latin typeface="+mn-ea"/>
                          <a:ea typeface="+mn-ea"/>
                        </a:rPr>
                        <a:t>走行</a:t>
                      </a:r>
                    </a:p>
                  </a:txBody>
                  <a:tcPr anchor="ctr"/>
                </a:tc>
                <a:extLst>
                  <a:ext uri="{0D108BD9-81ED-4DB2-BD59-A6C34878D82A}">
                    <a16:rowId xmlns:a16="http://schemas.microsoft.com/office/drawing/2014/main" val="3274497098"/>
                  </a:ext>
                </a:extLst>
              </a:tr>
              <a:tr h="135813">
                <a:tc>
                  <a:txBody>
                    <a:bodyPr/>
                    <a:lstStyle/>
                    <a:p>
                      <a:pPr algn="ctr"/>
                      <a:r>
                        <a:rPr kumimoji="1" lang="en-US" altLang="ja-JP" sz="1050" dirty="0">
                          <a:latin typeface="+mn-ea"/>
                          <a:ea typeface="+mn-ea"/>
                        </a:rPr>
                        <a:t>UC_9</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ライントレース</a:t>
                      </a:r>
                    </a:p>
                  </a:txBody>
                  <a:tcPr anchor="ctr"/>
                </a:tc>
                <a:tc>
                  <a:txBody>
                    <a:bodyPr/>
                    <a:lstStyle/>
                    <a:p>
                      <a:pPr algn="ctr"/>
                      <a:r>
                        <a:rPr kumimoji="1" lang="ja-JP" altLang="en-US" sz="1050" dirty="0">
                          <a:latin typeface="+mn-ea"/>
                          <a:ea typeface="+mn-ea"/>
                        </a:rPr>
                        <a:t>走行</a:t>
                      </a:r>
                    </a:p>
                  </a:txBody>
                  <a:tcPr anchor="ctr"/>
                </a:tc>
                <a:extLst>
                  <a:ext uri="{0D108BD9-81ED-4DB2-BD59-A6C34878D82A}">
                    <a16:rowId xmlns:a16="http://schemas.microsoft.com/office/drawing/2014/main" val="956645133"/>
                  </a:ext>
                </a:extLst>
              </a:tr>
              <a:tr h="135813">
                <a:tc>
                  <a:txBody>
                    <a:bodyPr/>
                    <a:lstStyle/>
                    <a:p>
                      <a:pPr algn="ctr"/>
                      <a:r>
                        <a:rPr kumimoji="1" lang="ja-JP" altLang="en-US" sz="1050" dirty="0">
                          <a:latin typeface="+mn-ea"/>
                          <a:ea typeface="+mn-ea"/>
                        </a:rPr>
                        <a:t>緩和</a:t>
                      </a:r>
                      <a:r>
                        <a:rPr kumimoji="1" lang="en-US" altLang="ja-JP" sz="1050" dirty="0">
                          <a:latin typeface="+mn-ea"/>
                          <a:ea typeface="+mn-ea"/>
                        </a:rPr>
                        <a:t>UC_1</a:t>
                      </a:r>
                      <a:endParaRPr kumimoji="1" lang="ja-JP" altLang="en-US" sz="1050" dirty="0">
                        <a:latin typeface="+mn-ea"/>
                        <a:ea typeface="+mn-ea"/>
                      </a:endParaRPr>
                    </a:p>
                  </a:txBody>
                  <a:tcPr anchor="ctr"/>
                </a:tc>
                <a:tc>
                  <a:txBody>
                    <a:bodyPr/>
                    <a:lstStyle/>
                    <a:p>
                      <a:pPr algn="l"/>
                      <a:r>
                        <a:rPr kumimoji="1" lang="en-US" altLang="ja-JP" sz="1050" dirty="0">
                          <a:latin typeface="+mn-ea"/>
                          <a:ea typeface="+mn-ea"/>
                        </a:rPr>
                        <a:t>HSV</a:t>
                      </a:r>
                      <a:r>
                        <a:rPr kumimoji="1" lang="ja-JP" altLang="en-US" sz="1050" dirty="0">
                          <a:latin typeface="+mn-ea"/>
                          <a:ea typeface="+mn-ea"/>
                        </a:rPr>
                        <a:t>値計算</a:t>
                      </a:r>
                    </a:p>
                  </a:txBody>
                  <a:tcPr anchor="ctr"/>
                </a:tc>
                <a:tc>
                  <a:txBody>
                    <a:bodyPr/>
                    <a:lstStyle/>
                    <a:p>
                      <a:pPr algn="ctr"/>
                      <a:r>
                        <a:rPr kumimoji="1" lang="ja-JP" altLang="en-US" sz="1050" dirty="0">
                          <a:latin typeface="+mn-ea"/>
                          <a:ea typeface="+mn-ea"/>
                        </a:rPr>
                        <a:t>演算</a:t>
                      </a:r>
                    </a:p>
                  </a:txBody>
                  <a:tcPr anchor="ctr"/>
                </a:tc>
                <a:extLst>
                  <a:ext uri="{0D108BD9-81ED-4DB2-BD59-A6C34878D82A}">
                    <a16:rowId xmlns:a16="http://schemas.microsoft.com/office/drawing/2014/main" val="851179873"/>
                  </a:ext>
                </a:extLst>
              </a:tr>
              <a:tr h="135813">
                <a:tc>
                  <a:txBody>
                    <a:bodyPr/>
                    <a:lstStyle/>
                    <a:p>
                      <a:pPr algn="ctr"/>
                      <a:r>
                        <a:rPr kumimoji="1" lang="ja-JP" altLang="en-US" sz="1050" dirty="0">
                          <a:latin typeface="+mn-ea"/>
                          <a:ea typeface="+mn-ea"/>
                        </a:rPr>
                        <a:t>緩和</a:t>
                      </a:r>
                      <a:r>
                        <a:rPr kumimoji="1" lang="en-US" altLang="ja-JP" sz="1050" dirty="0">
                          <a:latin typeface="+mn-ea"/>
                          <a:ea typeface="+mn-ea"/>
                        </a:rPr>
                        <a:t>UC_2</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走行距離計算</a:t>
                      </a:r>
                      <a:endParaRPr kumimoji="1" lang="en-US" altLang="ja-JP" sz="1050" dirty="0">
                        <a:latin typeface="+mn-ea"/>
                        <a:ea typeface="+mn-ea"/>
                      </a:endParaRPr>
                    </a:p>
                  </a:txBody>
                  <a:tcPr anchor="ctr"/>
                </a:tc>
                <a:tc>
                  <a:txBody>
                    <a:bodyPr/>
                    <a:lstStyle/>
                    <a:p>
                      <a:pPr algn="ctr"/>
                      <a:r>
                        <a:rPr kumimoji="1" lang="ja-JP" altLang="en-US" sz="1050" dirty="0">
                          <a:latin typeface="+mn-ea"/>
                          <a:ea typeface="+mn-ea"/>
                        </a:rPr>
                        <a:t>演算</a:t>
                      </a:r>
                    </a:p>
                  </a:txBody>
                  <a:tcPr anchor="ctr"/>
                </a:tc>
                <a:extLst>
                  <a:ext uri="{0D108BD9-81ED-4DB2-BD59-A6C34878D82A}">
                    <a16:rowId xmlns:a16="http://schemas.microsoft.com/office/drawing/2014/main" val="503654986"/>
                  </a:ext>
                </a:extLst>
              </a:tr>
              <a:tr h="135813">
                <a:tc>
                  <a:txBody>
                    <a:bodyPr/>
                    <a:lstStyle/>
                    <a:p>
                      <a:pPr algn="ctr"/>
                      <a:r>
                        <a:rPr kumimoji="1" lang="ja-JP" altLang="en-US" sz="1050" dirty="0">
                          <a:latin typeface="+mn-ea"/>
                          <a:ea typeface="+mn-ea"/>
                        </a:rPr>
                        <a:t>緩和</a:t>
                      </a:r>
                      <a:r>
                        <a:rPr kumimoji="1" lang="en-US" altLang="ja-JP" sz="1050" dirty="0">
                          <a:latin typeface="+mn-ea"/>
                          <a:ea typeface="+mn-ea"/>
                        </a:rPr>
                        <a:t>UC_3</a:t>
                      </a:r>
                      <a:endParaRPr kumimoji="1" lang="ja-JP" altLang="en-US" sz="1050" dirty="0">
                        <a:latin typeface="+mn-ea"/>
                        <a:ea typeface="+mn-ea"/>
                      </a:endParaRPr>
                    </a:p>
                  </a:txBody>
                  <a:tcPr anchor="ctr"/>
                </a:tc>
                <a:tc>
                  <a:txBody>
                    <a:bodyPr/>
                    <a:lstStyle/>
                    <a:p>
                      <a:pPr algn="l"/>
                      <a:r>
                        <a:rPr kumimoji="1" lang="ja-JP" altLang="en-US" sz="1050" dirty="0">
                          <a:latin typeface="+mn-ea"/>
                          <a:ea typeface="+mn-ea"/>
                        </a:rPr>
                        <a:t>角度計算</a:t>
                      </a:r>
                    </a:p>
                  </a:txBody>
                  <a:tcPr anchor="ctr"/>
                </a:tc>
                <a:tc>
                  <a:txBody>
                    <a:bodyPr/>
                    <a:lstStyle/>
                    <a:p>
                      <a:pPr algn="ctr"/>
                      <a:r>
                        <a:rPr kumimoji="1" lang="ja-JP" altLang="en-US" sz="1050" dirty="0">
                          <a:latin typeface="+mn-ea"/>
                          <a:ea typeface="+mn-ea"/>
                        </a:rPr>
                        <a:t>演算</a:t>
                      </a:r>
                    </a:p>
                  </a:txBody>
                  <a:tcPr anchor="ctr"/>
                </a:tc>
                <a:extLst>
                  <a:ext uri="{0D108BD9-81ED-4DB2-BD59-A6C34878D82A}">
                    <a16:rowId xmlns:a16="http://schemas.microsoft.com/office/drawing/2014/main" val="2003192922"/>
                  </a:ext>
                </a:extLst>
              </a:tr>
              <a:tr h="135813">
                <a:tc>
                  <a:txBody>
                    <a:bodyPr/>
                    <a:lstStyle/>
                    <a:p>
                      <a:pPr algn="ctr"/>
                      <a:r>
                        <a:rPr kumimoji="1" lang="ja-JP" altLang="en-US" sz="1050" dirty="0">
                          <a:latin typeface="+mn-ea"/>
                          <a:ea typeface="+mn-ea"/>
                        </a:rPr>
                        <a:t>緩和</a:t>
                      </a:r>
                      <a:r>
                        <a:rPr kumimoji="1" lang="en-US" altLang="ja-JP" sz="1050" dirty="0">
                          <a:latin typeface="+mn-ea"/>
                          <a:ea typeface="+mn-ea"/>
                        </a:rPr>
                        <a:t>UC_4</a:t>
                      </a:r>
                      <a:endParaRPr kumimoji="1" lang="ja-JP" altLang="en-US" sz="1050" dirty="0">
                        <a:latin typeface="+mn-ea"/>
                        <a:ea typeface="+mn-ea"/>
                      </a:endParaRPr>
                    </a:p>
                  </a:txBody>
                  <a:tcPr anchor="ctr"/>
                </a:tc>
                <a:tc>
                  <a:txBody>
                    <a:bodyPr/>
                    <a:lstStyle/>
                    <a:p>
                      <a:pPr algn="l"/>
                      <a:r>
                        <a:rPr kumimoji="1" lang="en-US" altLang="ja-JP" sz="1050" dirty="0">
                          <a:latin typeface="+mn-ea"/>
                          <a:ea typeface="+mn-ea"/>
                        </a:rPr>
                        <a:t>PWM</a:t>
                      </a:r>
                      <a:r>
                        <a:rPr kumimoji="1" lang="ja-JP" altLang="en-US" sz="1050" dirty="0">
                          <a:latin typeface="+mn-ea"/>
                          <a:ea typeface="+mn-ea"/>
                        </a:rPr>
                        <a:t>制御</a:t>
                      </a:r>
                    </a:p>
                  </a:txBody>
                  <a:tcPr anchor="ctr"/>
                </a:tc>
                <a:tc>
                  <a:txBody>
                    <a:bodyPr/>
                    <a:lstStyle/>
                    <a:p>
                      <a:pPr algn="ctr"/>
                      <a:r>
                        <a:rPr kumimoji="1" lang="ja-JP" altLang="en-US" sz="1050" dirty="0">
                          <a:latin typeface="+mn-ea"/>
                          <a:ea typeface="+mn-ea"/>
                        </a:rPr>
                        <a:t>演算</a:t>
                      </a:r>
                    </a:p>
                  </a:txBody>
                  <a:tcPr anchor="ctr"/>
                </a:tc>
                <a:extLst>
                  <a:ext uri="{0D108BD9-81ED-4DB2-BD59-A6C34878D82A}">
                    <a16:rowId xmlns:a16="http://schemas.microsoft.com/office/drawing/2014/main" val="3075842053"/>
                  </a:ext>
                </a:extLst>
              </a:tr>
              <a:tr h="135813">
                <a:tc>
                  <a:txBody>
                    <a:bodyPr/>
                    <a:lstStyle/>
                    <a:p>
                      <a:pPr algn="ctr"/>
                      <a:r>
                        <a:rPr kumimoji="1" lang="ja-JP" altLang="en-US" sz="1050" dirty="0">
                          <a:latin typeface="+mn-ea"/>
                          <a:ea typeface="+mn-ea"/>
                        </a:rPr>
                        <a:t>緩和</a:t>
                      </a:r>
                      <a:r>
                        <a:rPr kumimoji="1" lang="en-US" altLang="ja-JP" sz="1050" dirty="0">
                          <a:latin typeface="+mn-ea"/>
                          <a:ea typeface="+mn-ea"/>
                        </a:rPr>
                        <a:t>UC_5</a:t>
                      </a:r>
                      <a:endParaRPr kumimoji="1" lang="ja-JP" altLang="en-US" sz="1050" dirty="0">
                        <a:latin typeface="+mn-ea"/>
                        <a:ea typeface="+mn-ea"/>
                      </a:endParaRPr>
                    </a:p>
                  </a:txBody>
                  <a:tcPr anchor="ctr"/>
                </a:tc>
                <a:tc>
                  <a:txBody>
                    <a:bodyPr/>
                    <a:lstStyle/>
                    <a:p>
                      <a:pPr algn="l"/>
                      <a:r>
                        <a:rPr kumimoji="1" lang="en-US" altLang="ja-JP" sz="1050" dirty="0">
                          <a:latin typeface="+mn-ea"/>
                          <a:ea typeface="+mn-ea"/>
                        </a:rPr>
                        <a:t>PID</a:t>
                      </a:r>
                      <a:r>
                        <a:rPr kumimoji="1" lang="ja-JP" altLang="en-US" sz="1050" dirty="0">
                          <a:latin typeface="+mn-ea"/>
                          <a:ea typeface="+mn-ea"/>
                        </a:rPr>
                        <a:t>制御</a:t>
                      </a:r>
                    </a:p>
                  </a:txBody>
                  <a:tcPr anchor="ctr"/>
                </a:tc>
                <a:tc>
                  <a:txBody>
                    <a:bodyPr/>
                    <a:lstStyle/>
                    <a:p>
                      <a:pPr algn="ctr"/>
                      <a:r>
                        <a:rPr kumimoji="1" lang="ja-JP" altLang="en-US" sz="1050" dirty="0">
                          <a:latin typeface="+mn-ea"/>
                          <a:ea typeface="+mn-ea"/>
                        </a:rPr>
                        <a:t>演算</a:t>
                      </a:r>
                    </a:p>
                  </a:txBody>
                  <a:tcPr anchor="ctr"/>
                </a:tc>
                <a:extLst>
                  <a:ext uri="{0D108BD9-81ED-4DB2-BD59-A6C34878D82A}">
                    <a16:rowId xmlns:a16="http://schemas.microsoft.com/office/drawing/2014/main" val="191041786"/>
                  </a:ext>
                </a:extLst>
              </a:tr>
              <a:tr h="226355">
                <a:tc>
                  <a:txBody>
                    <a:bodyPr/>
                    <a:lstStyle/>
                    <a:p>
                      <a:pPr algn="ctr"/>
                      <a:r>
                        <a:rPr kumimoji="1" lang="ja-JP" altLang="en-US" sz="1050" dirty="0">
                          <a:latin typeface="+mn-ea"/>
                          <a:ea typeface="+mn-ea"/>
                        </a:rPr>
                        <a:t>その他</a:t>
                      </a:r>
                    </a:p>
                  </a:txBody>
                  <a:tcPr anchor="ctr"/>
                </a:tc>
                <a:tc>
                  <a:txBody>
                    <a:bodyPr/>
                    <a:lstStyle/>
                    <a:p>
                      <a:pPr algn="l"/>
                      <a:r>
                        <a:rPr kumimoji="1" lang="ja-JP" altLang="en-US" sz="1050" dirty="0">
                          <a:latin typeface="+mn-ea"/>
                          <a:ea typeface="+mn-ea"/>
                        </a:rPr>
                        <a:t>モーター、カラーセンサー、ジャイロセンサーを制御する</a:t>
                      </a:r>
                    </a:p>
                  </a:txBody>
                  <a:tcPr anchor="ctr"/>
                </a:tc>
                <a:tc>
                  <a:txBody>
                    <a:bodyPr/>
                    <a:lstStyle/>
                    <a:p>
                      <a:pPr algn="ctr"/>
                      <a:r>
                        <a:rPr kumimoji="1" lang="ja-JP" altLang="en-US" sz="1050" dirty="0">
                          <a:latin typeface="+mn-ea"/>
                          <a:ea typeface="+mn-ea"/>
                        </a:rPr>
                        <a:t>デバイス</a:t>
                      </a:r>
                    </a:p>
                  </a:txBody>
                  <a:tcPr anchor="ctr"/>
                </a:tc>
                <a:extLst>
                  <a:ext uri="{0D108BD9-81ED-4DB2-BD59-A6C34878D82A}">
                    <a16:rowId xmlns:a16="http://schemas.microsoft.com/office/drawing/2014/main" val="3618151400"/>
                  </a:ext>
                </a:extLst>
              </a:tr>
            </a:tbl>
          </a:graphicData>
        </a:graphic>
      </p:graphicFrame>
      <p:sp>
        <p:nvSpPr>
          <p:cNvPr id="11" name="テキスト ボックス 10">
            <a:extLst>
              <a:ext uri="{FF2B5EF4-FFF2-40B4-BE49-F238E27FC236}">
                <a16:creationId xmlns:a16="http://schemas.microsoft.com/office/drawing/2014/main" id="{DFDADC20-3E35-42B6-8AFA-2098099C9477}"/>
              </a:ext>
            </a:extLst>
          </p:cNvPr>
          <p:cNvSpPr txBox="1"/>
          <p:nvPr/>
        </p:nvSpPr>
        <p:spPr>
          <a:xfrm>
            <a:off x="532875" y="10367190"/>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2.1 </a:t>
            </a:r>
            <a:r>
              <a:rPr lang="ja-JP" altLang="en-US" sz="1200" dirty="0">
                <a:latin typeface="+mn-ea"/>
                <a:ea typeface="+mn-ea"/>
              </a:rPr>
              <a:t>パッケージ図</a:t>
            </a:r>
            <a:endParaRPr kumimoji="1" lang="ja-JP" altLang="en-US" sz="1200" dirty="0">
              <a:latin typeface="+mn-ea"/>
              <a:ea typeface="+mn-ea"/>
            </a:endParaRPr>
          </a:p>
        </p:txBody>
      </p:sp>
      <p:sp>
        <p:nvSpPr>
          <p:cNvPr id="12" name="テキスト ボックス 11">
            <a:extLst>
              <a:ext uri="{FF2B5EF4-FFF2-40B4-BE49-F238E27FC236}">
                <a16:creationId xmlns:a16="http://schemas.microsoft.com/office/drawing/2014/main" id="{1D66213A-A3F8-4EE5-B04B-756F1D741446}"/>
              </a:ext>
            </a:extLst>
          </p:cNvPr>
          <p:cNvSpPr txBox="1"/>
          <p:nvPr/>
        </p:nvSpPr>
        <p:spPr>
          <a:xfrm>
            <a:off x="8142752" y="10391879"/>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2.2 </a:t>
            </a:r>
            <a:r>
              <a:rPr lang="ja-JP" altLang="en-US" sz="1200" dirty="0">
                <a:latin typeface="+mn-ea"/>
                <a:ea typeface="+mn-ea"/>
              </a:rPr>
              <a:t>クラス図</a:t>
            </a:r>
            <a:endParaRPr kumimoji="1" lang="ja-JP" altLang="en-US" sz="1200" dirty="0">
              <a:latin typeface="+mn-ea"/>
              <a:ea typeface="+mn-ea"/>
            </a:endParaRPr>
          </a:p>
        </p:txBody>
      </p:sp>
      <p:sp>
        <p:nvSpPr>
          <p:cNvPr id="13" name="テキスト ボックス 12">
            <a:extLst>
              <a:ext uri="{FF2B5EF4-FFF2-40B4-BE49-F238E27FC236}">
                <a16:creationId xmlns:a16="http://schemas.microsoft.com/office/drawing/2014/main" id="{79608D1C-F460-482C-A409-BA9BFE1A6899}"/>
              </a:ext>
            </a:extLst>
          </p:cNvPr>
          <p:cNvSpPr txBox="1"/>
          <p:nvPr/>
        </p:nvSpPr>
        <p:spPr>
          <a:xfrm>
            <a:off x="582728" y="1876640"/>
            <a:ext cx="2808312" cy="276999"/>
          </a:xfrm>
          <a:prstGeom prst="rect">
            <a:avLst/>
          </a:prstGeom>
          <a:noFill/>
        </p:spPr>
        <p:txBody>
          <a:bodyPr wrap="square" rtlCol="0">
            <a:spAutoFit/>
          </a:bodyPr>
          <a:lstStyle/>
          <a:p>
            <a:pPr algn="ctr"/>
            <a:r>
              <a:rPr lang="ja-JP" altLang="en-US" sz="1200" dirty="0">
                <a:latin typeface="+mn-ea"/>
                <a:ea typeface="+mn-ea"/>
              </a:rPr>
              <a:t>表</a:t>
            </a:r>
            <a:r>
              <a:rPr lang="en-US" altLang="ja-JP" sz="1200" dirty="0">
                <a:latin typeface="+mn-ea"/>
                <a:ea typeface="+mn-ea"/>
              </a:rPr>
              <a:t>2.1</a:t>
            </a:r>
            <a:r>
              <a:rPr lang="ja-JP" altLang="en-US" sz="1200" dirty="0">
                <a:latin typeface="+mn-ea"/>
                <a:ea typeface="+mn-ea"/>
              </a:rPr>
              <a:t> 機能と役割（パッケージ）</a:t>
            </a:r>
            <a:endParaRPr kumimoji="1" lang="ja-JP" altLang="en-US" sz="1200" dirty="0">
              <a:latin typeface="+mn-ea"/>
              <a:ea typeface="+mn-ea"/>
            </a:endParaRPr>
          </a:p>
        </p:txBody>
      </p:sp>
    </p:spTree>
    <p:extLst>
      <p:ext uri="{BB962C8B-B14F-4D97-AF65-F5344CB8AC3E}">
        <p14:creationId xmlns:p14="http://schemas.microsoft.com/office/powerpoint/2010/main" val="3609020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DF872E84-92E2-4505-8192-672571D3B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3385" y="994910"/>
            <a:ext cx="6735063" cy="3358800"/>
          </a:xfrm>
          <a:prstGeom prst="rect">
            <a:avLst/>
          </a:prstGeom>
        </p:spPr>
      </p:pic>
      <p:pic>
        <p:nvPicPr>
          <p:cNvPr id="15" name="図 14">
            <a:extLst>
              <a:ext uri="{FF2B5EF4-FFF2-40B4-BE49-F238E27FC236}">
                <a16:creationId xmlns:a16="http://schemas.microsoft.com/office/drawing/2014/main" id="{B7DEBAA3-C78F-40C1-9CF9-FA4CD3B9B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69" y="4616379"/>
            <a:ext cx="7306837" cy="5774400"/>
          </a:xfrm>
          <a:prstGeom prst="rect">
            <a:avLst/>
          </a:prstGeom>
        </p:spPr>
      </p:pic>
      <p:sp>
        <p:nvSpPr>
          <p:cNvPr id="9" name="タイトル 4">
            <a:extLst>
              <a:ext uri="{FF2B5EF4-FFF2-40B4-BE49-F238E27FC236}">
                <a16:creationId xmlns:a16="http://schemas.microsoft.com/office/drawing/2014/main" id="{43CA53B3-4B63-43FC-9032-C495253FCA4A}"/>
              </a:ext>
            </a:extLst>
          </p:cNvPr>
          <p:cNvSpPr>
            <a:spLocks noGrp="1"/>
          </p:cNvSpPr>
          <p:nvPr>
            <p:ph type="title"/>
          </p:nvPr>
        </p:nvSpPr>
        <p:spPr>
          <a:xfrm>
            <a:off x="0" y="0"/>
            <a:ext cx="15119350" cy="881410"/>
          </a:xfrm>
          <a:solidFill>
            <a:schemeClr val="accent6">
              <a:lumMod val="40000"/>
              <a:lumOff val="60000"/>
            </a:schemeClr>
          </a:solidFill>
        </p:spPr>
        <p:txBody>
          <a:bodyPr>
            <a:normAutofit/>
          </a:bodyPr>
          <a:lstStyle/>
          <a:p>
            <a:r>
              <a:rPr kumimoji="1" lang="ja-JP" altLang="en-US" sz="3200" b="1" dirty="0">
                <a:effectLst>
                  <a:outerShdw blurRad="38100" dist="38100" dir="2700000" algn="tl">
                    <a:srgbClr val="000000">
                      <a:alpha val="43137"/>
                    </a:srgbClr>
                  </a:outerShdw>
                </a:effectLst>
              </a:rPr>
              <a:t>　</a:t>
            </a:r>
            <a:r>
              <a:rPr lang="ja-JP" altLang="en-US" sz="3200" b="1" dirty="0">
                <a:effectLst>
                  <a:outerShdw blurRad="38100" dist="38100" dir="2700000" algn="tl">
                    <a:srgbClr val="000000">
                      <a:alpha val="43137"/>
                    </a:srgbClr>
                  </a:outerShdw>
                </a:effectLst>
              </a:rPr>
              <a:t>３．</a:t>
            </a:r>
            <a:r>
              <a:rPr kumimoji="1" lang="ja-JP" altLang="en-US" sz="3200" b="1" dirty="0">
                <a:effectLst>
                  <a:outerShdw blurRad="38100" dist="38100" dir="2700000" algn="tl">
                    <a:srgbClr val="000000">
                      <a:alpha val="43137"/>
                    </a:srgbClr>
                  </a:outerShdw>
                </a:effectLst>
              </a:rPr>
              <a:t>振舞いモデル</a:t>
            </a:r>
          </a:p>
        </p:txBody>
      </p:sp>
      <p:pic>
        <p:nvPicPr>
          <p:cNvPr id="51" name="図 50">
            <a:extLst>
              <a:ext uri="{FF2B5EF4-FFF2-40B4-BE49-F238E27FC236}">
                <a16:creationId xmlns:a16="http://schemas.microsoft.com/office/drawing/2014/main" id="{873797DB-6400-4B85-BC5A-937F12412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2488" y="1757106"/>
            <a:ext cx="4359118" cy="1677600"/>
          </a:xfrm>
          <a:prstGeom prst="rect">
            <a:avLst/>
          </a:prstGeom>
        </p:spPr>
      </p:pic>
      <p:pic>
        <p:nvPicPr>
          <p:cNvPr id="45" name="図 44">
            <a:extLst>
              <a:ext uri="{FF2B5EF4-FFF2-40B4-BE49-F238E27FC236}">
                <a16:creationId xmlns:a16="http://schemas.microsoft.com/office/drawing/2014/main" id="{D5DBB4E6-551F-4720-BC34-32C7F22078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82987" y="4757595"/>
            <a:ext cx="6868800" cy="1603882"/>
          </a:xfrm>
          <a:prstGeom prst="rect">
            <a:avLst/>
          </a:prstGeom>
        </p:spPr>
      </p:pic>
      <p:pic>
        <p:nvPicPr>
          <p:cNvPr id="43" name="図 42">
            <a:extLst>
              <a:ext uri="{FF2B5EF4-FFF2-40B4-BE49-F238E27FC236}">
                <a16:creationId xmlns:a16="http://schemas.microsoft.com/office/drawing/2014/main" id="{3D1496F8-283E-4BFC-9D5A-7631A3D391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84088" y="6657079"/>
            <a:ext cx="6868800" cy="1708483"/>
          </a:xfrm>
          <a:prstGeom prst="rect">
            <a:avLst/>
          </a:prstGeom>
        </p:spPr>
      </p:pic>
      <p:pic>
        <p:nvPicPr>
          <p:cNvPr id="41" name="図 40">
            <a:extLst>
              <a:ext uri="{FF2B5EF4-FFF2-40B4-BE49-F238E27FC236}">
                <a16:creationId xmlns:a16="http://schemas.microsoft.com/office/drawing/2014/main" id="{48410A2C-7175-458D-BE60-2CE9BE715E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84088" y="8760515"/>
            <a:ext cx="6867699" cy="1666491"/>
          </a:xfrm>
          <a:prstGeom prst="rect">
            <a:avLst/>
          </a:prstGeom>
        </p:spPr>
      </p:pic>
      <p:pic>
        <p:nvPicPr>
          <p:cNvPr id="10" name="図 9">
            <a:extLst>
              <a:ext uri="{FF2B5EF4-FFF2-40B4-BE49-F238E27FC236}">
                <a16:creationId xmlns:a16="http://schemas.microsoft.com/office/drawing/2014/main" id="{02480C85-FF80-4F21-A025-55C6D91C214C}"/>
              </a:ext>
            </a:extLst>
          </p:cNvPr>
          <p:cNvPicPr>
            <a:picLocks noChangeAspect="1"/>
          </p:cNvPicPr>
          <p:nvPr/>
        </p:nvPicPr>
        <p:blipFill>
          <a:blip r:embed="rId8"/>
          <a:stretch>
            <a:fillRect/>
          </a:stretch>
        </p:blipFill>
        <p:spPr>
          <a:xfrm>
            <a:off x="12744251" y="233338"/>
            <a:ext cx="2198619" cy="395394"/>
          </a:xfrm>
          <a:prstGeom prst="rect">
            <a:avLst/>
          </a:prstGeom>
        </p:spPr>
      </p:pic>
      <p:sp>
        <p:nvSpPr>
          <p:cNvPr id="11" name="テキスト ボックス 10">
            <a:extLst>
              <a:ext uri="{FF2B5EF4-FFF2-40B4-BE49-F238E27FC236}">
                <a16:creationId xmlns:a16="http://schemas.microsoft.com/office/drawing/2014/main" id="{BEFAB618-A577-4348-82B1-61991CDCD394}"/>
              </a:ext>
            </a:extLst>
          </p:cNvPr>
          <p:cNvSpPr txBox="1"/>
          <p:nvPr/>
        </p:nvSpPr>
        <p:spPr>
          <a:xfrm>
            <a:off x="-2" y="881411"/>
            <a:ext cx="7595755" cy="929935"/>
          </a:xfrm>
          <a:prstGeom prst="rect">
            <a:avLst/>
          </a:prstGeom>
          <a:noFill/>
        </p:spPr>
        <p:txBody>
          <a:bodyPr wrap="square" rtlCol="0">
            <a:spAutoFit/>
          </a:bodyPr>
          <a:lstStyle/>
          <a:p>
            <a:r>
              <a:rPr lang="en-US" altLang="ja-JP" b="1" dirty="0">
                <a:latin typeface="+mn-ea"/>
                <a:ea typeface="+mn-ea"/>
              </a:rPr>
              <a:t>3</a:t>
            </a:r>
            <a:r>
              <a:rPr kumimoji="1" lang="en-US" altLang="ja-JP" b="1" dirty="0">
                <a:latin typeface="+mn-ea"/>
                <a:ea typeface="+mn-ea"/>
              </a:rPr>
              <a:t>.1 </a:t>
            </a:r>
            <a:r>
              <a:rPr kumimoji="1" lang="ja-JP" altLang="en-US" b="1" dirty="0">
                <a:latin typeface="+mn-ea"/>
                <a:ea typeface="+mn-ea"/>
              </a:rPr>
              <a:t>状態遷移</a:t>
            </a:r>
            <a:endParaRPr kumimoji="1" lang="en-US" altLang="ja-JP" b="1" dirty="0">
              <a:latin typeface="+mn-ea"/>
              <a:ea typeface="+mn-ea"/>
            </a:endParaRPr>
          </a:p>
          <a:p>
            <a:r>
              <a:rPr kumimoji="1" lang="ja-JP" altLang="en-US" sz="1200" dirty="0">
                <a:latin typeface="+mn-ea"/>
                <a:ea typeface="+mn-ea"/>
              </a:rPr>
              <a:t>機能モデル、構造モデルをもとに、走行体の振る舞いを図</a:t>
            </a:r>
            <a:r>
              <a:rPr kumimoji="1" lang="en-US" altLang="ja-JP" sz="1200" dirty="0">
                <a:latin typeface="+mn-ea"/>
                <a:ea typeface="+mn-ea"/>
              </a:rPr>
              <a:t>3.1</a:t>
            </a:r>
            <a:r>
              <a:rPr kumimoji="1" lang="ja-JP" altLang="en-US" sz="1200" dirty="0">
                <a:latin typeface="+mn-ea"/>
                <a:ea typeface="+mn-ea"/>
              </a:rPr>
              <a:t>に示す。</a:t>
            </a:r>
            <a:endParaRPr kumimoji="1" lang="en-US" altLang="ja-JP" sz="1200" dirty="0">
              <a:latin typeface="+mn-ea"/>
              <a:ea typeface="+mn-ea"/>
            </a:endParaRPr>
          </a:p>
          <a:p>
            <a:r>
              <a:rPr kumimoji="1" lang="ja-JP" altLang="en-US" sz="1200" dirty="0">
                <a:latin typeface="+mn-ea"/>
                <a:ea typeface="+mn-ea"/>
              </a:rPr>
              <a:t>シーンの切り替わりをイベントとし、現在のシーン番号によってライントレース、直進走行、旋回走行が切り替わる。</a:t>
            </a:r>
          </a:p>
        </p:txBody>
      </p:sp>
      <p:sp>
        <p:nvSpPr>
          <p:cNvPr id="12" name="テキスト ボックス 11">
            <a:extLst>
              <a:ext uri="{FF2B5EF4-FFF2-40B4-BE49-F238E27FC236}">
                <a16:creationId xmlns:a16="http://schemas.microsoft.com/office/drawing/2014/main" id="{1C5A88CD-716D-4CA1-8721-D1CC622B2505}"/>
              </a:ext>
            </a:extLst>
          </p:cNvPr>
          <p:cNvSpPr txBox="1"/>
          <p:nvPr/>
        </p:nvSpPr>
        <p:spPr>
          <a:xfrm>
            <a:off x="113" y="3867476"/>
            <a:ext cx="7595755" cy="745269"/>
          </a:xfrm>
          <a:prstGeom prst="rect">
            <a:avLst/>
          </a:prstGeom>
          <a:noFill/>
        </p:spPr>
        <p:txBody>
          <a:bodyPr wrap="square" rtlCol="0">
            <a:spAutoFit/>
          </a:bodyPr>
          <a:lstStyle/>
          <a:p>
            <a:r>
              <a:rPr lang="en-US" altLang="ja-JP" b="1" dirty="0">
                <a:latin typeface="+mn-ea"/>
                <a:ea typeface="+mn-ea"/>
              </a:rPr>
              <a:t>3</a:t>
            </a:r>
            <a:r>
              <a:rPr kumimoji="1" lang="en-US" altLang="ja-JP" b="1" dirty="0">
                <a:latin typeface="+mn-ea"/>
                <a:ea typeface="+mn-ea"/>
              </a:rPr>
              <a:t>.2 </a:t>
            </a:r>
            <a:r>
              <a:rPr lang="ja-JP" altLang="en-US" b="1" dirty="0">
                <a:latin typeface="+mn-ea"/>
                <a:ea typeface="+mn-ea"/>
              </a:rPr>
              <a:t>走行体の振舞い</a:t>
            </a:r>
            <a:endParaRPr kumimoji="1" lang="en-US" altLang="ja-JP" b="1" dirty="0">
              <a:latin typeface="+mn-ea"/>
              <a:ea typeface="+mn-ea"/>
            </a:endParaRPr>
          </a:p>
          <a:p>
            <a:r>
              <a:rPr kumimoji="1" lang="ja-JP" altLang="en-US" sz="1200" dirty="0">
                <a:latin typeface="+mn-ea"/>
                <a:ea typeface="+mn-ea"/>
              </a:rPr>
              <a:t>シーン管理、走行管理と各走行機能のシーケンス図を図</a:t>
            </a:r>
            <a:r>
              <a:rPr lang="en-US" altLang="ja-JP" sz="1200" dirty="0">
                <a:latin typeface="+mn-ea"/>
                <a:ea typeface="+mn-ea"/>
              </a:rPr>
              <a:t>3.2</a:t>
            </a:r>
            <a:r>
              <a:rPr lang="ja-JP" altLang="en-US" sz="1200" dirty="0">
                <a:latin typeface="+mn-ea"/>
                <a:ea typeface="+mn-ea"/>
              </a:rPr>
              <a:t>～</a:t>
            </a:r>
            <a:r>
              <a:rPr lang="en-US" altLang="ja-JP" sz="1200" dirty="0">
                <a:latin typeface="+mn-ea"/>
                <a:ea typeface="+mn-ea"/>
              </a:rPr>
              <a:t>3.6</a:t>
            </a:r>
            <a:r>
              <a:rPr lang="ja-JP" altLang="en-US" sz="1200" dirty="0">
                <a:latin typeface="+mn-ea"/>
                <a:ea typeface="+mn-ea"/>
              </a:rPr>
              <a:t>に示す。</a:t>
            </a:r>
            <a:endParaRPr lang="en-US" altLang="ja-JP" sz="1200" dirty="0">
              <a:latin typeface="+mn-ea"/>
              <a:ea typeface="+mn-ea"/>
            </a:endParaRPr>
          </a:p>
          <a:p>
            <a:r>
              <a:rPr lang="ja-JP" altLang="en-US" sz="1200" b="1" dirty="0">
                <a:latin typeface="+mn-ea"/>
                <a:ea typeface="+mn-ea"/>
              </a:rPr>
              <a:t>紙面の都合上、判定パッケージ、演算パッケージ（</a:t>
            </a:r>
            <a:r>
              <a:rPr lang="en-US" altLang="ja-JP" sz="1200" b="1" dirty="0">
                <a:latin typeface="+mn-ea"/>
                <a:ea typeface="+mn-ea"/>
              </a:rPr>
              <a:t>PWM</a:t>
            </a:r>
            <a:r>
              <a:rPr lang="ja-JP" altLang="en-US" sz="1200" b="1" dirty="0">
                <a:latin typeface="+mn-ea"/>
                <a:ea typeface="+mn-ea"/>
              </a:rPr>
              <a:t>値計算は除く）のシーケンス図は割愛する。</a:t>
            </a:r>
            <a:endParaRPr kumimoji="1" lang="ja-JP" altLang="en-US" sz="1200" b="1" dirty="0">
              <a:latin typeface="+mn-ea"/>
              <a:ea typeface="+mn-ea"/>
            </a:endParaRPr>
          </a:p>
        </p:txBody>
      </p:sp>
      <p:cxnSp>
        <p:nvCxnSpPr>
          <p:cNvPr id="13" name="直線コネクタ 12">
            <a:extLst>
              <a:ext uri="{FF2B5EF4-FFF2-40B4-BE49-F238E27FC236}">
                <a16:creationId xmlns:a16="http://schemas.microsoft.com/office/drawing/2014/main" id="{C3C74503-B132-4833-824A-762D00A05C21}"/>
              </a:ext>
            </a:extLst>
          </p:cNvPr>
          <p:cNvCxnSpPr>
            <a:cxnSpLocks/>
          </p:cNvCxnSpPr>
          <p:nvPr/>
        </p:nvCxnSpPr>
        <p:spPr>
          <a:xfrm>
            <a:off x="0" y="3689722"/>
            <a:ext cx="7622541" cy="0"/>
          </a:xfrm>
          <a:prstGeom prst="line">
            <a:avLst/>
          </a:prstGeom>
          <a:ln w="38100">
            <a:solidFill>
              <a:srgbClr val="92D050"/>
            </a:solidFill>
            <a:prstDash val="sysDash"/>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7D9A159C-1D06-4EE1-871F-F79DCE2ECEC8}"/>
              </a:ext>
            </a:extLst>
          </p:cNvPr>
          <p:cNvCxnSpPr>
            <a:cxnSpLocks/>
          </p:cNvCxnSpPr>
          <p:nvPr/>
        </p:nvCxnSpPr>
        <p:spPr>
          <a:xfrm>
            <a:off x="7622541" y="881410"/>
            <a:ext cx="0" cy="2770508"/>
          </a:xfrm>
          <a:prstGeom prst="line">
            <a:avLst/>
          </a:prstGeom>
          <a:ln w="38100">
            <a:solidFill>
              <a:srgbClr val="92D050"/>
            </a:solidFill>
            <a:prstDash val="sysDash"/>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65166A0D-C053-4382-B380-A3371F78F636}"/>
              </a:ext>
            </a:extLst>
          </p:cNvPr>
          <p:cNvSpPr txBox="1"/>
          <p:nvPr/>
        </p:nvSpPr>
        <p:spPr>
          <a:xfrm>
            <a:off x="2372786" y="3374919"/>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3.1</a:t>
            </a:r>
            <a:r>
              <a:rPr lang="ja-JP" altLang="en-US" sz="1200" dirty="0">
                <a:latin typeface="+mn-ea"/>
                <a:ea typeface="+mn-ea"/>
              </a:rPr>
              <a:t> ステートマシン図</a:t>
            </a:r>
            <a:endParaRPr kumimoji="1" lang="ja-JP" altLang="en-US" sz="1200" dirty="0">
              <a:latin typeface="+mn-ea"/>
              <a:ea typeface="+mn-ea"/>
            </a:endParaRPr>
          </a:p>
        </p:txBody>
      </p:sp>
      <p:sp>
        <p:nvSpPr>
          <p:cNvPr id="20" name="テキスト ボックス 19">
            <a:extLst>
              <a:ext uri="{FF2B5EF4-FFF2-40B4-BE49-F238E27FC236}">
                <a16:creationId xmlns:a16="http://schemas.microsoft.com/office/drawing/2014/main" id="{50CCBCFC-D23C-4CBE-8BF6-446811942192}"/>
              </a:ext>
            </a:extLst>
          </p:cNvPr>
          <p:cNvSpPr txBox="1"/>
          <p:nvPr/>
        </p:nvSpPr>
        <p:spPr>
          <a:xfrm>
            <a:off x="2393719" y="10385939"/>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3.2</a:t>
            </a:r>
            <a:r>
              <a:rPr lang="ja-JP" altLang="en-US" sz="1200" dirty="0">
                <a:latin typeface="+mn-ea"/>
                <a:ea typeface="+mn-ea"/>
              </a:rPr>
              <a:t> シーン管理のシーケンス図</a:t>
            </a:r>
            <a:endParaRPr kumimoji="1" lang="ja-JP" altLang="en-US" sz="1200" dirty="0">
              <a:latin typeface="+mn-ea"/>
              <a:ea typeface="+mn-ea"/>
            </a:endParaRPr>
          </a:p>
        </p:txBody>
      </p:sp>
      <p:sp>
        <p:nvSpPr>
          <p:cNvPr id="21" name="テキスト ボックス 20">
            <a:extLst>
              <a:ext uri="{FF2B5EF4-FFF2-40B4-BE49-F238E27FC236}">
                <a16:creationId xmlns:a16="http://schemas.microsoft.com/office/drawing/2014/main" id="{F8663AC6-9EA2-4D62-A7B4-F2D4EF9BF9A1}"/>
              </a:ext>
            </a:extLst>
          </p:cNvPr>
          <p:cNvSpPr txBox="1"/>
          <p:nvPr/>
        </p:nvSpPr>
        <p:spPr>
          <a:xfrm>
            <a:off x="9775463" y="10287011"/>
            <a:ext cx="3150909"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3.6</a:t>
            </a:r>
            <a:r>
              <a:rPr lang="ja-JP" altLang="en-US" sz="1200" dirty="0">
                <a:latin typeface="+mn-ea"/>
                <a:ea typeface="+mn-ea"/>
              </a:rPr>
              <a:t> ライントレースのシーケンス図</a:t>
            </a:r>
            <a:endParaRPr kumimoji="1" lang="ja-JP" altLang="en-US" sz="1200" dirty="0">
              <a:latin typeface="+mn-ea"/>
              <a:ea typeface="+mn-ea"/>
            </a:endParaRPr>
          </a:p>
        </p:txBody>
      </p:sp>
      <p:sp>
        <p:nvSpPr>
          <p:cNvPr id="23" name="テキスト ボックス 22">
            <a:extLst>
              <a:ext uri="{FF2B5EF4-FFF2-40B4-BE49-F238E27FC236}">
                <a16:creationId xmlns:a16="http://schemas.microsoft.com/office/drawing/2014/main" id="{400EC5C3-FA1C-4A10-BF11-4F4F0BC0539C}"/>
              </a:ext>
            </a:extLst>
          </p:cNvPr>
          <p:cNvSpPr txBox="1"/>
          <p:nvPr/>
        </p:nvSpPr>
        <p:spPr>
          <a:xfrm>
            <a:off x="10034285" y="8248843"/>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3.5</a:t>
            </a:r>
            <a:r>
              <a:rPr lang="ja-JP" altLang="en-US" sz="1200" dirty="0">
                <a:latin typeface="+mn-ea"/>
                <a:ea typeface="+mn-ea"/>
              </a:rPr>
              <a:t> 直進走行のシーケンス図</a:t>
            </a:r>
            <a:endParaRPr kumimoji="1" lang="ja-JP" altLang="en-US" sz="1200" dirty="0">
              <a:latin typeface="+mn-ea"/>
              <a:ea typeface="+mn-ea"/>
            </a:endParaRPr>
          </a:p>
        </p:txBody>
      </p:sp>
      <p:sp>
        <p:nvSpPr>
          <p:cNvPr id="24" name="テキスト ボックス 23">
            <a:extLst>
              <a:ext uri="{FF2B5EF4-FFF2-40B4-BE49-F238E27FC236}">
                <a16:creationId xmlns:a16="http://schemas.microsoft.com/office/drawing/2014/main" id="{2ADB3BA2-CBC4-4EA4-A432-1355D570D939}"/>
              </a:ext>
            </a:extLst>
          </p:cNvPr>
          <p:cNvSpPr txBox="1"/>
          <p:nvPr/>
        </p:nvSpPr>
        <p:spPr>
          <a:xfrm>
            <a:off x="10088676" y="6255553"/>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3.4</a:t>
            </a:r>
            <a:r>
              <a:rPr lang="ja-JP" altLang="en-US" sz="1200" dirty="0">
                <a:latin typeface="+mn-ea"/>
                <a:ea typeface="+mn-ea"/>
              </a:rPr>
              <a:t> 旋回走行のシーケンス図</a:t>
            </a:r>
            <a:endParaRPr kumimoji="1" lang="ja-JP" altLang="en-US" sz="1200" dirty="0">
              <a:latin typeface="+mn-ea"/>
              <a:ea typeface="+mn-ea"/>
            </a:endParaRPr>
          </a:p>
        </p:txBody>
      </p:sp>
      <p:sp>
        <p:nvSpPr>
          <p:cNvPr id="25" name="テキスト ボックス 24">
            <a:extLst>
              <a:ext uri="{FF2B5EF4-FFF2-40B4-BE49-F238E27FC236}">
                <a16:creationId xmlns:a16="http://schemas.microsoft.com/office/drawing/2014/main" id="{9C0E8774-E3D9-4927-A782-B889051AE69B}"/>
              </a:ext>
            </a:extLst>
          </p:cNvPr>
          <p:cNvSpPr txBox="1"/>
          <p:nvPr/>
        </p:nvSpPr>
        <p:spPr>
          <a:xfrm>
            <a:off x="9946762" y="4361739"/>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3.3</a:t>
            </a:r>
            <a:r>
              <a:rPr lang="ja-JP" altLang="en-US" sz="1200" dirty="0">
                <a:latin typeface="+mn-ea"/>
                <a:ea typeface="+mn-ea"/>
              </a:rPr>
              <a:t> 走行管理のシーケンス図</a:t>
            </a:r>
            <a:endParaRPr kumimoji="1" lang="ja-JP" altLang="en-US" sz="1200" dirty="0">
              <a:latin typeface="+mn-ea"/>
              <a:ea typeface="+mn-ea"/>
            </a:endParaRPr>
          </a:p>
        </p:txBody>
      </p:sp>
    </p:spTree>
    <p:extLst>
      <p:ext uri="{BB962C8B-B14F-4D97-AF65-F5344CB8AC3E}">
        <p14:creationId xmlns:p14="http://schemas.microsoft.com/office/powerpoint/2010/main" val="1167203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図 18">
            <a:extLst>
              <a:ext uri="{FF2B5EF4-FFF2-40B4-BE49-F238E27FC236}">
                <a16:creationId xmlns:a16="http://schemas.microsoft.com/office/drawing/2014/main" id="{D4991645-95C1-47AB-A9A4-9EC3206D8B5B}"/>
              </a:ext>
            </a:extLst>
          </p:cNvPr>
          <p:cNvPicPr>
            <a:picLocks noChangeAspect="1"/>
          </p:cNvPicPr>
          <p:nvPr/>
        </p:nvPicPr>
        <p:blipFill>
          <a:blip r:embed="rId2"/>
          <a:stretch>
            <a:fillRect/>
          </a:stretch>
        </p:blipFill>
        <p:spPr>
          <a:xfrm>
            <a:off x="11995655" y="1373031"/>
            <a:ext cx="2917028" cy="3851830"/>
          </a:xfrm>
          <a:prstGeom prst="rect">
            <a:avLst/>
          </a:prstGeom>
        </p:spPr>
      </p:pic>
      <p:pic>
        <p:nvPicPr>
          <p:cNvPr id="17" name="図 16">
            <a:extLst>
              <a:ext uri="{FF2B5EF4-FFF2-40B4-BE49-F238E27FC236}">
                <a16:creationId xmlns:a16="http://schemas.microsoft.com/office/drawing/2014/main" id="{C7EA5797-8EE4-41C1-B303-973F4C2FE48F}"/>
              </a:ext>
            </a:extLst>
          </p:cNvPr>
          <p:cNvPicPr>
            <a:picLocks noChangeAspect="1"/>
          </p:cNvPicPr>
          <p:nvPr/>
        </p:nvPicPr>
        <p:blipFill>
          <a:blip r:embed="rId3"/>
          <a:stretch>
            <a:fillRect/>
          </a:stretch>
        </p:blipFill>
        <p:spPr>
          <a:xfrm>
            <a:off x="9425633" y="1383894"/>
            <a:ext cx="2650956" cy="3852000"/>
          </a:xfrm>
          <a:prstGeom prst="rect">
            <a:avLst/>
          </a:prstGeom>
        </p:spPr>
      </p:pic>
      <p:sp>
        <p:nvSpPr>
          <p:cNvPr id="9" name="タイトル 4">
            <a:extLst>
              <a:ext uri="{FF2B5EF4-FFF2-40B4-BE49-F238E27FC236}">
                <a16:creationId xmlns:a16="http://schemas.microsoft.com/office/drawing/2014/main" id="{43CA53B3-4B63-43FC-9032-C495253FCA4A}"/>
              </a:ext>
            </a:extLst>
          </p:cNvPr>
          <p:cNvSpPr>
            <a:spLocks noGrp="1"/>
          </p:cNvSpPr>
          <p:nvPr>
            <p:ph type="title"/>
          </p:nvPr>
        </p:nvSpPr>
        <p:spPr>
          <a:xfrm>
            <a:off x="0" y="0"/>
            <a:ext cx="15119350" cy="881410"/>
          </a:xfrm>
          <a:solidFill>
            <a:schemeClr val="accent6">
              <a:lumMod val="40000"/>
              <a:lumOff val="60000"/>
            </a:schemeClr>
          </a:solidFill>
        </p:spPr>
        <p:txBody>
          <a:bodyPr>
            <a:normAutofit/>
          </a:bodyPr>
          <a:lstStyle/>
          <a:p>
            <a:r>
              <a:rPr kumimoji="1" lang="ja-JP" altLang="en-US" sz="3200" b="1" dirty="0">
                <a:effectLst>
                  <a:outerShdw blurRad="38100" dist="38100" dir="2700000" algn="tl">
                    <a:srgbClr val="000000">
                      <a:alpha val="43137"/>
                    </a:srgbClr>
                  </a:outerShdw>
                </a:effectLst>
              </a:rPr>
              <a:t>　</a:t>
            </a:r>
            <a:r>
              <a:rPr lang="ja-JP" altLang="en-US" sz="3200" b="1" dirty="0">
                <a:effectLst>
                  <a:outerShdw blurRad="38100" dist="38100" dir="2700000" algn="tl">
                    <a:srgbClr val="000000">
                      <a:alpha val="43137"/>
                    </a:srgbClr>
                  </a:outerShdw>
                </a:effectLst>
              </a:rPr>
              <a:t>４．</a:t>
            </a:r>
            <a:r>
              <a:rPr kumimoji="1" lang="ja-JP" altLang="en-US" sz="3200" b="1" dirty="0">
                <a:effectLst>
                  <a:outerShdw blurRad="38100" dist="38100" dir="2700000" algn="tl">
                    <a:srgbClr val="000000">
                      <a:alpha val="43137"/>
                    </a:srgbClr>
                  </a:outerShdw>
                </a:effectLst>
              </a:rPr>
              <a:t>工夫点</a:t>
            </a:r>
          </a:p>
        </p:txBody>
      </p:sp>
      <p:pic>
        <p:nvPicPr>
          <p:cNvPr id="10" name="図 9">
            <a:extLst>
              <a:ext uri="{FF2B5EF4-FFF2-40B4-BE49-F238E27FC236}">
                <a16:creationId xmlns:a16="http://schemas.microsoft.com/office/drawing/2014/main" id="{02480C85-FF80-4F21-A025-55C6D91C214C}"/>
              </a:ext>
            </a:extLst>
          </p:cNvPr>
          <p:cNvPicPr>
            <a:picLocks noChangeAspect="1"/>
          </p:cNvPicPr>
          <p:nvPr/>
        </p:nvPicPr>
        <p:blipFill>
          <a:blip r:embed="rId4"/>
          <a:stretch>
            <a:fillRect/>
          </a:stretch>
        </p:blipFill>
        <p:spPr>
          <a:xfrm>
            <a:off x="12744251" y="233338"/>
            <a:ext cx="2198619" cy="395394"/>
          </a:xfrm>
          <a:prstGeom prst="rect">
            <a:avLst/>
          </a:prstGeom>
        </p:spPr>
      </p:pic>
      <p:sp>
        <p:nvSpPr>
          <p:cNvPr id="18" name="正方形/長方形 17">
            <a:extLst>
              <a:ext uri="{FF2B5EF4-FFF2-40B4-BE49-F238E27FC236}">
                <a16:creationId xmlns:a16="http://schemas.microsoft.com/office/drawing/2014/main" id="{DFFF3259-D3A1-4085-ABF8-DB8BD45E7A70}"/>
              </a:ext>
            </a:extLst>
          </p:cNvPr>
          <p:cNvSpPr/>
          <p:nvPr/>
        </p:nvSpPr>
        <p:spPr>
          <a:xfrm>
            <a:off x="103460" y="1495475"/>
            <a:ext cx="2947277" cy="3616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840" b="1" dirty="0">
                <a:solidFill>
                  <a:schemeClr val="tx1"/>
                </a:solidFill>
                <a:latin typeface="+mn-ea"/>
              </a:rPr>
              <a:t>4.1</a:t>
            </a:r>
            <a:r>
              <a:rPr kumimoji="1" lang="ja-JP" altLang="en-US" sz="1840" b="1" dirty="0">
                <a:solidFill>
                  <a:schemeClr val="tx1"/>
                </a:solidFill>
                <a:latin typeface="+mn-ea"/>
              </a:rPr>
              <a:t>　課題設定</a:t>
            </a:r>
          </a:p>
        </p:txBody>
      </p:sp>
      <p:sp>
        <p:nvSpPr>
          <p:cNvPr id="20" name="テキスト ボックス 19">
            <a:extLst>
              <a:ext uri="{FF2B5EF4-FFF2-40B4-BE49-F238E27FC236}">
                <a16:creationId xmlns:a16="http://schemas.microsoft.com/office/drawing/2014/main" id="{11BFBB3C-0C70-4E65-9372-C620E61E1853}"/>
              </a:ext>
            </a:extLst>
          </p:cNvPr>
          <p:cNvSpPr txBox="1"/>
          <p:nvPr/>
        </p:nvSpPr>
        <p:spPr>
          <a:xfrm>
            <a:off x="95522" y="1855515"/>
            <a:ext cx="9236856" cy="3414781"/>
          </a:xfrm>
          <a:prstGeom prst="rect">
            <a:avLst/>
          </a:prstGeom>
          <a:noFill/>
        </p:spPr>
        <p:txBody>
          <a:bodyPr wrap="square" rtlCol="0">
            <a:spAutoFit/>
          </a:bodyPr>
          <a:lstStyle/>
          <a:p>
            <a:r>
              <a:rPr lang="en-US" altLang="ja-JP" sz="1400" b="1" dirty="0">
                <a:latin typeface="+mn-ea"/>
                <a:ea typeface="+mn-ea"/>
              </a:rPr>
              <a:t>4.1.1 </a:t>
            </a:r>
            <a:r>
              <a:rPr lang="ja-JP" altLang="en-US" sz="1400" b="1" dirty="0">
                <a:latin typeface="+mn-ea"/>
                <a:ea typeface="+mn-ea"/>
              </a:rPr>
              <a:t>事象</a:t>
            </a:r>
            <a:endParaRPr lang="en-US" altLang="ja-JP" sz="1400" b="1" dirty="0">
              <a:latin typeface="+mn-ea"/>
              <a:ea typeface="+mn-ea"/>
            </a:endParaRPr>
          </a:p>
          <a:p>
            <a:r>
              <a:rPr lang="ja-JP" altLang="en-US" sz="1230" dirty="0">
                <a:latin typeface="+mn-ea"/>
                <a:ea typeface="+mn-ea"/>
              </a:rPr>
              <a:t>直進走行中に黒ラインを検知してライントレースへ切り替えた際に、ラインをオーバーシュートしそのままラインに復帰できなくなってしまう。</a:t>
            </a:r>
            <a:r>
              <a:rPr lang="en-US" altLang="ja-JP" sz="1230" dirty="0">
                <a:latin typeface="+mn-ea"/>
                <a:ea typeface="+mn-ea"/>
              </a:rPr>
              <a:t>(</a:t>
            </a:r>
            <a:r>
              <a:rPr lang="ja-JP" altLang="en-US" sz="1230" dirty="0">
                <a:latin typeface="+mn-ea"/>
                <a:ea typeface="+mn-ea"/>
              </a:rPr>
              <a:t>図</a:t>
            </a:r>
            <a:r>
              <a:rPr lang="en-US" altLang="ja-JP" sz="1230" dirty="0">
                <a:latin typeface="+mn-ea"/>
                <a:ea typeface="+mn-ea"/>
              </a:rPr>
              <a:t>4.1 </a:t>
            </a:r>
            <a:r>
              <a:rPr lang="ja-JP" altLang="en-US" sz="1230" dirty="0">
                <a:latin typeface="+mn-ea"/>
                <a:ea typeface="+mn-ea"/>
              </a:rPr>
              <a:t>参照</a:t>
            </a:r>
            <a:r>
              <a:rPr lang="en-US" altLang="ja-JP" sz="1230" dirty="0">
                <a:latin typeface="+mn-ea"/>
              </a:rPr>
              <a:t>)</a:t>
            </a:r>
          </a:p>
          <a:p>
            <a:endParaRPr kumimoji="1" lang="en-US" altLang="ja-JP" sz="1230" dirty="0">
              <a:latin typeface="+mn-ea"/>
              <a:ea typeface="+mn-ea"/>
            </a:endParaRPr>
          </a:p>
          <a:p>
            <a:r>
              <a:rPr lang="en-US" altLang="ja-JP" sz="1400" b="1" dirty="0">
                <a:latin typeface="+mn-ea"/>
                <a:ea typeface="+mn-ea"/>
              </a:rPr>
              <a:t>4.1.2 </a:t>
            </a:r>
            <a:r>
              <a:rPr lang="ja-JP" altLang="en-US" sz="1400" b="1" dirty="0">
                <a:latin typeface="+mn-ea"/>
                <a:ea typeface="+mn-ea"/>
              </a:rPr>
              <a:t>問題点</a:t>
            </a:r>
            <a:endParaRPr lang="en-US" altLang="ja-JP" sz="1400" b="1" dirty="0">
              <a:latin typeface="+mn-ea"/>
              <a:ea typeface="+mn-ea"/>
            </a:endParaRPr>
          </a:p>
          <a:p>
            <a:r>
              <a:rPr lang="ja-JP" altLang="en-US" sz="1230" dirty="0">
                <a:latin typeface="+mn-ea"/>
                <a:ea typeface="+mn-ea"/>
              </a:rPr>
              <a:t>黒ラインに対して進入時の角度が垂直に近い、また直進走行のスピードが速いほどライントレースへ切り替え時の急な方向転換に対応できず、大きくオーバーシュートしてしまうと考えられる。</a:t>
            </a:r>
            <a:endParaRPr lang="en-US" altLang="ja-JP" sz="1230" dirty="0">
              <a:latin typeface="+mn-ea"/>
              <a:ea typeface="+mn-ea"/>
            </a:endParaRPr>
          </a:p>
          <a:p>
            <a:r>
              <a:rPr lang="ja-JP" altLang="en-US" sz="1230" dirty="0">
                <a:latin typeface="+mn-ea"/>
                <a:ea typeface="+mn-ea"/>
              </a:rPr>
              <a:t>一次対応として直進走行の角度や距離を調整したが、走行のたびに発生する誤差の影響から根本解決に至らなかった。</a:t>
            </a:r>
            <a:endParaRPr lang="en-US" altLang="ja-JP" sz="1230" dirty="0">
              <a:latin typeface="+mn-ea"/>
              <a:ea typeface="+mn-ea"/>
            </a:endParaRPr>
          </a:p>
          <a:p>
            <a:br>
              <a:rPr lang="en-US" altLang="ja-JP" sz="1230" dirty="0">
                <a:latin typeface="+mn-ea"/>
                <a:ea typeface="+mn-ea"/>
              </a:rPr>
            </a:br>
            <a:r>
              <a:rPr lang="en-US" altLang="ja-JP" sz="1400" b="1" dirty="0">
                <a:latin typeface="+mn-ea"/>
                <a:ea typeface="+mn-ea"/>
              </a:rPr>
              <a:t>4.1.3 </a:t>
            </a:r>
            <a:r>
              <a:rPr lang="ja-JP" altLang="en-US" sz="1400" b="1" dirty="0">
                <a:latin typeface="+mn-ea"/>
                <a:ea typeface="+mn-ea"/>
              </a:rPr>
              <a:t>課題設定</a:t>
            </a:r>
            <a:endParaRPr lang="en-US" altLang="ja-JP" sz="1400" b="1" dirty="0">
              <a:latin typeface="+mn-ea"/>
              <a:ea typeface="+mn-ea"/>
            </a:endParaRPr>
          </a:p>
          <a:p>
            <a:r>
              <a:rPr lang="ja-JP" altLang="en-US" sz="1230" dirty="0">
                <a:latin typeface="+mn-ea"/>
                <a:ea typeface="+mn-ea"/>
              </a:rPr>
              <a:t>・</a:t>
            </a:r>
            <a:r>
              <a:rPr lang="ja-JP" altLang="en-US" sz="1230" u="sng" dirty="0">
                <a:latin typeface="+mn-ea"/>
                <a:ea typeface="+mn-ea"/>
              </a:rPr>
              <a:t>タイム増加抑止の観点から、減速・停止をしない方針とする。</a:t>
            </a:r>
            <a:endParaRPr lang="en-US" altLang="ja-JP" sz="1230" u="sng" dirty="0">
              <a:latin typeface="+mn-ea"/>
              <a:ea typeface="+mn-ea"/>
            </a:endParaRPr>
          </a:p>
          <a:p>
            <a:r>
              <a:rPr lang="ja-JP" altLang="en-US" sz="1230" dirty="0">
                <a:latin typeface="+mn-ea"/>
                <a:ea typeface="+mn-ea"/>
              </a:rPr>
              <a:t>・</a:t>
            </a:r>
            <a:r>
              <a:rPr lang="ja-JP" altLang="en-US" sz="1230" u="sng" dirty="0">
                <a:latin typeface="+mn-ea"/>
                <a:ea typeface="+mn-ea"/>
              </a:rPr>
              <a:t>オーバーシュートの発生を前提に、発生後にライン上に復帰できるようにする。</a:t>
            </a:r>
            <a:endParaRPr lang="en-US" altLang="ja-JP" sz="1230" u="sng" dirty="0">
              <a:latin typeface="+mn-ea"/>
              <a:ea typeface="+mn-ea"/>
            </a:endParaRPr>
          </a:p>
          <a:p>
            <a:endParaRPr lang="en-US" altLang="ja-JP" sz="1230" dirty="0">
              <a:latin typeface="+mn-ea"/>
              <a:ea typeface="+mn-ea"/>
            </a:endParaRPr>
          </a:p>
          <a:p>
            <a:r>
              <a:rPr lang="en-US" altLang="ja-JP" sz="1400" b="1" dirty="0">
                <a:latin typeface="+mn-ea"/>
                <a:ea typeface="+mn-ea"/>
              </a:rPr>
              <a:t>4.1.4 </a:t>
            </a:r>
            <a:r>
              <a:rPr lang="ja-JP" altLang="en-US" sz="1400" b="1" dirty="0">
                <a:latin typeface="+mn-ea"/>
                <a:ea typeface="+mn-ea"/>
              </a:rPr>
              <a:t>対応方針</a:t>
            </a:r>
            <a:endParaRPr lang="en-US" altLang="ja-JP" sz="1400" b="1" dirty="0">
              <a:latin typeface="+mn-ea"/>
              <a:ea typeface="+mn-ea"/>
            </a:endParaRPr>
          </a:p>
          <a:p>
            <a:r>
              <a:rPr lang="ja-JP" altLang="en-US" sz="1230" dirty="0">
                <a:latin typeface="+mn-ea"/>
                <a:ea typeface="+mn-ea"/>
              </a:rPr>
              <a:t>距離や角度の調整での失敗をふまえ、走行毎の誤差の影響を受けにくいという観点から、</a:t>
            </a:r>
            <a:endParaRPr lang="en-US" altLang="ja-JP" sz="1230" dirty="0">
              <a:latin typeface="+mn-ea"/>
              <a:ea typeface="+mn-ea"/>
            </a:endParaRPr>
          </a:p>
          <a:p>
            <a:r>
              <a:rPr lang="en-US" altLang="ja-JP" sz="1230" dirty="0">
                <a:latin typeface="+mn-ea"/>
                <a:ea typeface="+mn-ea"/>
              </a:rPr>
              <a:t>PID</a:t>
            </a:r>
            <a:r>
              <a:rPr lang="ja-JP" altLang="en-US" sz="1230" dirty="0">
                <a:latin typeface="+mn-ea"/>
                <a:ea typeface="+mn-ea"/>
              </a:rPr>
              <a:t>制御の各値のチューニングにて解決をはかる。</a:t>
            </a:r>
            <a:endParaRPr lang="en-US" altLang="ja-JP" sz="1230" dirty="0">
              <a:latin typeface="+mn-ea"/>
              <a:ea typeface="+mn-ea"/>
            </a:endParaRPr>
          </a:p>
          <a:p>
            <a:r>
              <a:rPr lang="en-US" altLang="ja-JP" sz="1230" dirty="0">
                <a:latin typeface="+mn-ea"/>
                <a:ea typeface="+mn-ea"/>
              </a:rPr>
              <a:t>PID</a:t>
            </a:r>
            <a:r>
              <a:rPr lang="ja-JP" altLang="en-US" sz="1230" dirty="0">
                <a:latin typeface="+mn-ea"/>
                <a:ea typeface="+mn-ea"/>
              </a:rPr>
              <a:t>制御における</a:t>
            </a:r>
            <a:r>
              <a:rPr lang="en-US" altLang="ja-JP" sz="1230" dirty="0">
                <a:latin typeface="+mn-ea"/>
                <a:ea typeface="+mn-ea"/>
              </a:rPr>
              <a:t>P</a:t>
            </a:r>
            <a:r>
              <a:rPr lang="ja-JP" altLang="en-US" sz="1230" dirty="0">
                <a:latin typeface="+mn-ea"/>
                <a:ea typeface="+mn-ea"/>
              </a:rPr>
              <a:t>値</a:t>
            </a:r>
            <a:r>
              <a:rPr lang="en-US" altLang="ja-JP" sz="1230" dirty="0">
                <a:latin typeface="+mn-ea"/>
                <a:ea typeface="+mn-ea"/>
              </a:rPr>
              <a:t>I</a:t>
            </a:r>
            <a:r>
              <a:rPr lang="ja-JP" altLang="en-US" sz="1230" dirty="0">
                <a:latin typeface="+mn-ea"/>
                <a:ea typeface="+mn-ea"/>
              </a:rPr>
              <a:t>値</a:t>
            </a:r>
            <a:r>
              <a:rPr lang="en-US" altLang="ja-JP" sz="1230" dirty="0">
                <a:latin typeface="+mn-ea"/>
                <a:ea typeface="+mn-ea"/>
              </a:rPr>
              <a:t>D</a:t>
            </a:r>
            <a:r>
              <a:rPr lang="ja-JP" altLang="en-US" sz="1230" dirty="0">
                <a:latin typeface="+mn-ea"/>
                <a:ea typeface="+mn-ea"/>
              </a:rPr>
              <a:t>値の最適な設定値について検証し、実装する。</a:t>
            </a:r>
            <a:endParaRPr lang="en-US" altLang="ja-JP" sz="1230" dirty="0">
              <a:latin typeface="+mn-ea"/>
              <a:ea typeface="+mn-ea"/>
            </a:endParaRPr>
          </a:p>
        </p:txBody>
      </p:sp>
      <p:sp>
        <p:nvSpPr>
          <p:cNvPr id="23" name="テキスト ボックス 22">
            <a:extLst>
              <a:ext uri="{FF2B5EF4-FFF2-40B4-BE49-F238E27FC236}">
                <a16:creationId xmlns:a16="http://schemas.microsoft.com/office/drawing/2014/main" id="{BA612654-1022-4D0F-81A9-1B86DB3949E6}"/>
              </a:ext>
            </a:extLst>
          </p:cNvPr>
          <p:cNvSpPr txBox="1"/>
          <p:nvPr/>
        </p:nvSpPr>
        <p:spPr>
          <a:xfrm>
            <a:off x="60981" y="948512"/>
            <a:ext cx="6663114" cy="523220"/>
          </a:xfrm>
          <a:prstGeom prst="rect">
            <a:avLst/>
          </a:prstGeom>
          <a:noFill/>
        </p:spPr>
        <p:txBody>
          <a:bodyPr wrap="square" rtlCol="0">
            <a:spAutoFit/>
          </a:bodyPr>
          <a:lstStyle/>
          <a:p>
            <a:r>
              <a:rPr lang="ja-JP" altLang="en-US" sz="2400" b="1" dirty="0">
                <a:solidFill>
                  <a:srgbClr val="FF0000"/>
                </a:solidFill>
                <a:latin typeface="+mn-ea"/>
                <a:ea typeface="+mn-ea"/>
              </a:rPr>
              <a:t>工夫点</a:t>
            </a:r>
            <a:r>
              <a:rPr lang="ja-JP" altLang="en-US" sz="2400" dirty="0">
                <a:solidFill>
                  <a:srgbClr val="FF0000"/>
                </a:solidFill>
                <a:latin typeface="+mn-ea"/>
                <a:ea typeface="+mn-ea"/>
              </a:rPr>
              <a:t> </a:t>
            </a:r>
            <a:r>
              <a:rPr lang="en-US" altLang="ja-JP" sz="2400" b="1" dirty="0">
                <a:solidFill>
                  <a:srgbClr val="FF0000"/>
                </a:solidFill>
                <a:latin typeface="+mn-ea"/>
                <a:ea typeface="+mn-ea"/>
              </a:rPr>
              <a:t>…</a:t>
            </a:r>
            <a:r>
              <a:rPr lang="en-US" altLang="ja-JP" sz="2400" dirty="0">
                <a:solidFill>
                  <a:srgbClr val="FF0000"/>
                </a:solidFill>
                <a:latin typeface="+mn-ea"/>
                <a:ea typeface="+mn-ea"/>
              </a:rPr>
              <a:t> </a:t>
            </a:r>
            <a:r>
              <a:rPr lang="ja-JP" altLang="en-US" sz="2800" b="1" dirty="0">
                <a:solidFill>
                  <a:srgbClr val="FF0000"/>
                </a:solidFill>
                <a:latin typeface="+mn-ea"/>
                <a:ea typeface="+mn-ea"/>
              </a:rPr>
              <a:t>ダブルループ成功率の向上</a:t>
            </a:r>
          </a:p>
        </p:txBody>
      </p:sp>
      <p:sp>
        <p:nvSpPr>
          <p:cNvPr id="26" name="正方形/長方形 25">
            <a:extLst>
              <a:ext uri="{FF2B5EF4-FFF2-40B4-BE49-F238E27FC236}">
                <a16:creationId xmlns:a16="http://schemas.microsoft.com/office/drawing/2014/main" id="{050FEAE8-261E-4F43-B471-78B8AB1DC99E}"/>
              </a:ext>
            </a:extLst>
          </p:cNvPr>
          <p:cNvSpPr/>
          <p:nvPr/>
        </p:nvSpPr>
        <p:spPr>
          <a:xfrm>
            <a:off x="109655" y="5609873"/>
            <a:ext cx="2947277" cy="3616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840" b="1" dirty="0">
                <a:solidFill>
                  <a:schemeClr val="tx1"/>
                </a:solidFill>
                <a:latin typeface="+mn-ea"/>
              </a:rPr>
              <a:t>4.2</a:t>
            </a:r>
            <a:r>
              <a:rPr kumimoji="1" lang="ja-JP" altLang="en-US" sz="1840" b="1" dirty="0">
                <a:solidFill>
                  <a:schemeClr val="tx1"/>
                </a:solidFill>
                <a:latin typeface="+mn-ea"/>
              </a:rPr>
              <a:t>　</a:t>
            </a:r>
            <a:r>
              <a:rPr lang="ja-JP" altLang="en-US" sz="1840" b="1" dirty="0">
                <a:solidFill>
                  <a:schemeClr val="tx1"/>
                </a:solidFill>
                <a:latin typeface="+mn-ea"/>
              </a:rPr>
              <a:t>検証</a:t>
            </a:r>
            <a:endParaRPr kumimoji="1" lang="ja-JP" altLang="en-US" sz="1840" b="1" dirty="0">
              <a:solidFill>
                <a:schemeClr val="tx1"/>
              </a:solidFill>
              <a:latin typeface="+mn-ea"/>
            </a:endParaRPr>
          </a:p>
        </p:txBody>
      </p:sp>
      <p:sp>
        <p:nvSpPr>
          <p:cNvPr id="27" name="テキスト ボックス 26">
            <a:extLst>
              <a:ext uri="{FF2B5EF4-FFF2-40B4-BE49-F238E27FC236}">
                <a16:creationId xmlns:a16="http://schemas.microsoft.com/office/drawing/2014/main" id="{F7C33CB8-B3A7-4512-B757-CFA8B4DB1EE0}"/>
              </a:ext>
            </a:extLst>
          </p:cNvPr>
          <p:cNvSpPr txBox="1"/>
          <p:nvPr/>
        </p:nvSpPr>
        <p:spPr>
          <a:xfrm>
            <a:off x="112552" y="5987156"/>
            <a:ext cx="7149860" cy="2037481"/>
          </a:xfrm>
          <a:prstGeom prst="rect">
            <a:avLst/>
          </a:prstGeom>
          <a:noFill/>
        </p:spPr>
        <p:txBody>
          <a:bodyPr wrap="square" rtlCol="0">
            <a:spAutoFit/>
          </a:bodyPr>
          <a:lstStyle/>
          <a:p>
            <a:r>
              <a:rPr lang="en-US" altLang="ja-JP" sz="1400" b="1" dirty="0">
                <a:latin typeface="+mn-ea"/>
                <a:ea typeface="+mn-ea"/>
              </a:rPr>
              <a:t>4.2.1 </a:t>
            </a:r>
            <a:r>
              <a:rPr lang="ja-JP" altLang="en-US" sz="1400" b="1" dirty="0">
                <a:latin typeface="+mn-ea"/>
                <a:ea typeface="+mn-ea"/>
              </a:rPr>
              <a:t>検証方法</a:t>
            </a:r>
            <a:endParaRPr lang="en-US" altLang="ja-JP" sz="1400" b="1" dirty="0">
              <a:latin typeface="+mn-ea"/>
              <a:ea typeface="+mn-ea"/>
            </a:endParaRPr>
          </a:p>
          <a:p>
            <a:r>
              <a:rPr lang="ja-JP" altLang="en-US" sz="1230" dirty="0">
                <a:latin typeface="+mn-ea"/>
                <a:ea typeface="+mn-ea"/>
              </a:rPr>
              <a:t>ダブルループ突入前のライントレースが滑らかに走行できていることから、</a:t>
            </a:r>
            <a:r>
              <a:rPr lang="en-US" altLang="ja-JP" sz="1230" dirty="0">
                <a:latin typeface="+mn-ea"/>
                <a:ea typeface="+mn-ea"/>
              </a:rPr>
              <a:t>I</a:t>
            </a:r>
            <a:r>
              <a:rPr lang="ja-JP" altLang="en-US" sz="1230" dirty="0">
                <a:latin typeface="+mn-ea"/>
                <a:ea typeface="+mn-ea"/>
              </a:rPr>
              <a:t>値</a:t>
            </a:r>
            <a:r>
              <a:rPr lang="en-US" altLang="ja-JP" sz="1230" dirty="0">
                <a:latin typeface="+mn-ea"/>
                <a:ea typeface="+mn-ea"/>
              </a:rPr>
              <a:t>D</a:t>
            </a:r>
            <a:r>
              <a:rPr lang="ja-JP" altLang="en-US" sz="1230" dirty="0">
                <a:latin typeface="+mn-ea"/>
                <a:ea typeface="+mn-ea"/>
              </a:rPr>
              <a:t>値に一定の妥当性があり効果も限定的であるため、</a:t>
            </a:r>
            <a:r>
              <a:rPr lang="ja-JP" altLang="en-US" sz="1230" dirty="0">
                <a:solidFill>
                  <a:srgbClr val="FF0000"/>
                </a:solidFill>
                <a:latin typeface="+mn-ea"/>
                <a:ea typeface="+mn-ea"/>
              </a:rPr>
              <a:t>コースの追従性に直結する</a:t>
            </a:r>
            <a:r>
              <a:rPr lang="en-US" altLang="ja-JP" sz="1230" dirty="0">
                <a:solidFill>
                  <a:srgbClr val="FF0000"/>
                </a:solidFill>
                <a:latin typeface="+mn-ea"/>
                <a:ea typeface="+mn-ea"/>
              </a:rPr>
              <a:t>P</a:t>
            </a:r>
            <a:r>
              <a:rPr lang="ja-JP" altLang="en-US" sz="1230" dirty="0">
                <a:solidFill>
                  <a:srgbClr val="FF0000"/>
                </a:solidFill>
                <a:latin typeface="+mn-ea"/>
                <a:ea typeface="+mn-ea"/>
              </a:rPr>
              <a:t>値に着目し、最適な値を検出する。</a:t>
            </a:r>
            <a:endParaRPr lang="en-US" altLang="ja-JP" sz="1230" dirty="0">
              <a:solidFill>
                <a:srgbClr val="FF0000"/>
              </a:solidFill>
              <a:latin typeface="+mn-ea"/>
              <a:ea typeface="+mn-ea"/>
            </a:endParaRPr>
          </a:p>
          <a:p>
            <a:r>
              <a:rPr lang="ja-JP" altLang="en-US" sz="1230" dirty="0">
                <a:latin typeface="+mn-ea"/>
                <a:ea typeface="+mn-ea"/>
              </a:rPr>
              <a:t>ダブルループ突入前の各値を初期値とし、</a:t>
            </a:r>
            <a:r>
              <a:rPr lang="en-US" altLang="ja-JP" sz="1230" dirty="0">
                <a:latin typeface="+mn-ea"/>
                <a:ea typeface="+mn-ea"/>
              </a:rPr>
              <a:t>P</a:t>
            </a:r>
            <a:r>
              <a:rPr lang="ja-JP" altLang="en-US" sz="1230" dirty="0">
                <a:latin typeface="+mn-ea"/>
                <a:ea typeface="+mn-ea"/>
              </a:rPr>
              <a:t>値の調整とその値での走行テストの成功率を算出する。</a:t>
            </a:r>
            <a:endParaRPr lang="en-US" altLang="ja-JP" sz="1230" dirty="0">
              <a:latin typeface="+mn-ea"/>
              <a:ea typeface="+mn-ea"/>
            </a:endParaRPr>
          </a:p>
          <a:p>
            <a:endParaRPr lang="en-US" altLang="ja-JP" sz="1230" dirty="0">
              <a:latin typeface="+mn-ea"/>
              <a:ea typeface="+mn-ea"/>
            </a:endParaRPr>
          </a:p>
          <a:p>
            <a:r>
              <a:rPr lang="en-US" altLang="ja-JP" sz="1400" b="1" dirty="0">
                <a:latin typeface="+mn-ea"/>
                <a:ea typeface="+mn-ea"/>
              </a:rPr>
              <a:t>4.2.2 </a:t>
            </a:r>
            <a:r>
              <a:rPr lang="ja-JP" altLang="en-US" sz="1400" b="1" dirty="0">
                <a:latin typeface="+mn-ea"/>
                <a:ea typeface="+mn-ea"/>
              </a:rPr>
              <a:t>検証実施</a:t>
            </a:r>
            <a:endParaRPr lang="en-US" altLang="ja-JP" sz="1400" b="1" dirty="0">
              <a:latin typeface="+mn-ea"/>
              <a:ea typeface="+mn-ea"/>
            </a:endParaRPr>
          </a:p>
          <a:p>
            <a:r>
              <a:rPr lang="ja-JP" altLang="en-US" sz="1230" dirty="0">
                <a:latin typeface="+mn-ea"/>
                <a:ea typeface="+mn-ea"/>
              </a:rPr>
              <a:t>・</a:t>
            </a:r>
            <a:r>
              <a:rPr lang="ja-JP" altLang="en-US" sz="1230" u="sng" dirty="0">
                <a:latin typeface="+mn-ea"/>
                <a:ea typeface="+mn-ea"/>
              </a:rPr>
              <a:t>各設定値にて</a:t>
            </a:r>
            <a:r>
              <a:rPr lang="en-US" altLang="ja-JP" sz="1230" u="sng" dirty="0">
                <a:latin typeface="+mn-ea"/>
                <a:ea typeface="+mn-ea"/>
              </a:rPr>
              <a:t>20</a:t>
            </a:r>
            <a:r>
              <a:rPr lang="ja-JP" altLang="en-US" sz="1230" u="sng" dirty="0">
                <a:latin typeface="+mn-ea"/>
                <a:ea typeface="+mn-ea"/>
              </a:rPr>
              <a:t>回走行テストを実施し成功率を算出する。</a:t>
            </a:r>
          </a:p>
          <a:p>
            <a:r>
              <a:rPr lang="ja-JP" altLang="en-US" sz="1230" dirty="0">
                <a:latin typeface="+mn-ea"/>
                <a:ea typeface="+mn-ea"/>
              </a:rPr>
              <a:t>・</a:t>
            </a:r>
            <a:r>
              <a:rPr lang="ja-JP" altLang="en-US" sz="1230" u="sng" dirty="0">
                <a:latin typeface="+mn-ea"/>
                <a:ea typeface="+mn-ea"/>
              </a:rPr>
              <a:t>動作結果をまとめ、その内容から次回調整内容を決める。</a:t>
            </a:r>
            <a:endParaRPr lang="en-US" altLang="ja-JP" sz="1230" u="sng" dirty="0">
              <a:latin typeface="+mn-ea"/>
              <a:ea typeface="+mn-ea"/>
            </a:endParaRPr>
          </a:p>
          <a:p>
            <a:r>
              <a:rPr kumimoji="1" lang="ja-JP" altLang="en-US" sz="1230" dirty="0">
                <a:latin typeface="+mn-ea"/>
                <a:ea typeface="+mn-ea"/>
              </a:rPr>
              <a:t>同プロセスを繰り返</a:t>
            </a:r>
            <a:r>
              <a:rPr lang="ja-JP" altLang="en-US" sz="1230" dirty="0">
                <a:latin typeface="+mn-ea"/>
                <a:ea typeface="+mn-ea"/>
              </a:rPr>
              <a:t>し、最も高い成功率</a:t>
            </a:r>
            <a:r>
              <a:rPr lang="en-US" altLang="ja-JP" sz="1230" dirty="0">
                <a:latin typeface="+mn-ea"/>
                <a:ea typeface="+mn-ea"/>
              </a:rPr>
              <a:t>(=</a:t>
            </a:r>
            <a:r>
              <a:rPr lang="ja-JP" altLang="en-US" sz="1230" dirty="0">
                <a:latin typeface="+mn-ea"/>
                <a:ea typeface="+mn-ea"/>
              </a:rPr>
              <a:t>最適な値</a:t>
            </a:r>
            <a:r>
              <a:rPr lang="en-US" altLang="ja-JP" sz="1230" dirty="0">
                <a:latin typeface="+mn-ea"/>
                <a:ea typeface="+mn-ea"/>
              </a:rPr>
              <a:t>)</a:t>
            </a:r>
            <a:r>
              <a:rPr lang="ja-JP" altLang="en-US" sz="1230" dirty="0">
                <a:latin typeface="+mn-ea"/>
                <a:ea typeface="+mn-ea"/>
              </a:rPr>
              <a:t>を求める。</a:t>
            </a:r>
            <a:endParaRPr lang="en-US" altLang="ja-JP" sz="1230" dirty="0">
              <a:latin typeface="+mn-ea"/>
              <a:ea typeface="+mn-ea"/>
            </a:endParaRPr>
          </a:p>
          <a:p>
            <a:r>
              <a:rPr lang="ja-JP" altLang="en-US" sz="1230" dirty="0">
                <a:latin typeface="+mn-ea"/>
                <a:ea typeface="+mn-ea"/>
              </a:rPr>
              <a:t>調整時の各値とその走行検証結果を表に記載した。</a:t>
            </a:r>
            <a:r>
              <a:rPr lang="en-US" altLang="ja-JP" sz="1230" dirty="0">
                <a:latin typeface="+mn-ea"/>
                <a:ea typeface="+mn-ea"/>
              </a:rPr>
              <a:t>(</a:t>
            </a:r>
            <a:r>
              <a:rPr lang="ja-JP" altLang="en-US" sz="1230" dirty="0">
                <a:latin typeface="+mn-ea"/>
                <a:ea typeface="+mn-ea"/>
              </a:rPr>
              <a:t>表</a:t>
            </a:r>
            <a:r>
              <a:rPr lang="en-US" altLang="ja-JP" sz="1230" dirty="0">
                <a:latin typeface="+mn-ea"/>
                <a:ea typeface="+mn-ea"/>
              </a:rPr>
              <a:t>4.1</a:t>
            </a:r>
            <a:r>
              <a:rPr lang="ja-JP" altLang="en-US" sz="1230" dirty="0">
                <a:latin typeface="+mn-ea"/>
                <a:ea typeface="+mn-ea"/>
              </a:rPr>
              <a:t> 参照</a:t>
            </a:r>
            <a:r>
              <a:rPr lang="en-US" altLang="ja-JP" sz="1230" dirty="0">
                <a:latin typeface="+mn-ea"/>
                <a:ea typeface="+mn-ea"/>
              </a:rPr>
              <a:t>)</a:t>
            </a:r>
          </a:p>
        </p:txBody>
      </p:sp>
      <p:sp>
        <p:nvSpPr>
          <p:cNvPr id="32" name="正方形/長方形 31">
            <a:extLst>
              <a:ext uri="{FF2B5EF4-FFF2-40B4-BE49-F238E27FC236}">
                <a16:creationId xmlns:a16="http://schemas.microsoft.com/office/drawing/2014/main" id="{E48E8CB3-28E8-4CD3-BAEF-FC4E3CB7B823}"/>
              </a:ext>
            </a:extLst>
          </p:cNvPr>
          <p:cNvSpPr/>
          <p:nvPr/>
        </p:nvSpPr>
        <p:spPr>
          <a:xfrm>
            <a:off x="112000" y="8354901"/>
            <a:ext cx="2947277" cy="361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840" b="1" dirty="0">
                <a:solidFill>
                  <a:schemeClr val="tx1"/>
                </a:solidFill>
                <a:latin typeface="+mn-ea"/>
              </a:rPr>
              <a:t>4.3</a:t>
            </a:r>
            <a:r>
              <a:rPr kumimoji="1" lang="ja-JP" altLang="en-US" sz="1840" b="1" dirty="0">
                <a:solidFill>
                  <a:schemeClr val="tx1"/>
                </a:solidFill>
                <a:latin typeface="+mn-ea"/>
              </a:rPr>
              <a:t>　結果</a:t>
            </a:r>
          </a:p>
        </p:txBody>
      </p:sp>
      <p:sp>
        <p:nvSpPr>
          <p:cNvPr id="33" name="テキスト ボックス 32">
            <a:extLst>
              <a:ext uri="{FF2B5EF4-FFF2-40B4-BE49-F238E27FC236}">
                <a16:creationId xmlns:a16="http://schemas.microsoft.com/office/drawing/2014/main" id="{291CFF06-146A-465C-90AA-088E019587F4}"/>
              </a:ext>
            </a:extLst>
          </p:cNvPr>
          <p:cNvSpPr txBox="1"/>
          <p:nvPr/>
        </p:nvSpPr>
        <p:spPr>
          <a:xfrm>
            <a:off x="106960" y="8714941"/>
            <a:ext cx="7149859" cy="1848198"/>
          </a:xfrm>
          <a:prstGeom prst="rect">
            <a:avLst/>
          </a:prstGeom>
          <a:noFill/>
        </p:spPr>
        <p:txBody>
          <a:bodyPr wrap="square" rtlCol="0">
            <a:spAutoFit/>
          </a:bodyPr>
          <a:lstStyle/>
          <a:p>
            <a:r>
              <a:rPr lang="en-US" altLang="ja-JP" sz="1400" b="1" dirty="0">
                <a:latin typeface="+mn-ea"/>
                <a:ea typeface="+mn-ea"/>
              </a:rPr>
              <a:t>4.3.1 </a:t>
            </a:r>
            <a:r>
              <a:rPr lang="ja-JP" altLang="en-US" sz="1400" b="1" dirty="0">
                <a:latin typeface="+mn-ea"/>
                <a:ea typeface="+mn-ea"/>
              </a:rPr>
              <a:t>結果</a:t>
            </a:r>
            <a:endParaRPr lang="en-US" altLang="ja-JP" sz="1400" b="1" dirty="0">
              <a:latin typeface="+mn-ea"/>
              <a:ea typeface="+mn-ea"/>
            </a:endParaRPr>
          </a:p>
          <a:p>
            <a:r>
              <a:rPr lang="ja-JP" altLang="en-US" sz="1230" dirty="0">
                <a:latin typeface="+mn-ea"/>
                <a:ea typeface="+mn-ea"/>
              </a:rPr>
              <a:t>下記の各</a:t>
            </a:r>
            <a:r>
              <a:rPr lang="en-US" altLang="ja-JP" sz="1230" dirty="0">
                <a:latin typeface="+mn-ea"/>
                <a:ea typeface="+mn-ea"/>
              </a:rPr>
              <a:t>PID</a:t>
            </a:r>
            <a:r>
              <a:rPr lang="ja-JP" altLang="en-US" sz="1230" dirty="0">
                <a:latin typeface="+mn-ea"/>
                <a:ea typeface="+mn-ea"/>
              </a:rPr>
              <a:t>値を設定することで、</a:t>
            </a:r>
            <a:r>
              <a:rPr lang="ja-JP" altLang="en-US" sz="1230" b="1" dirty="0">
                <a:solidFill>
                  <a:srgbClr val="FF0000"/>
                </a:solidFill>
                <a:latin typeface="+mn-ea"/>
                <a:ea typeface="+mn-ea"/>
              </a:rPr>
              <a:t>ダブルループの成功率が</a:t>
            </a:r>
            <a:r>
              <a:rPr lang="en-US" altLang="ja-JP" sz="1230" b="1" dirty="0">
                <a:solidFill>
                  <a:srgbClr val="FF0000"/>
                </a:solidFill>
                <a:latin typeface="+mn-ea"/>
                <a:ea typeface="+mn-ea"/>
              </a:rPr>
              <a:t>35</a:t>
            </a:r>
            <a:r>
              <a:rPr lang="ja-JP" altLang="en-US" sz="1230" b="1" dirty="0">
                <a:solidFill>
                  <a:srgbClr val="FF0000"/>
                </a:solidFill>
                <a:latin typeface="+mn-ea"/>
                <a:ea typeface="+mn-ea"/>
              </a:rPr>
              <a:t>％から</a:t>
            </a:r>
            <a:r>
              <a:rPr lang="en-US" altLang="ja-JP" sz="1230" b="1" dirty="0">
                <a:solidFill>
                  <a:srgbClr val="FF0000"/>
                </a:solidFill>
                <a:latin typeface="+mn-ea"/>
                <a:ea typeface="+mn-ea"/>
              </a:rPr>
              <a:t>80</a:t>
            </a:r>
            <a:r>
              <a:rPr lang="ja-JP" altLang="en-US" sz="1230" b="1" dirty="0">
                <a:solidFill>
                  <a:srgbClr val="FF0000"/>
                </a:solidFill>
                <a:latin typeface="+mn-ea"/>
                <a:ea typeface="+mn-ea"/>
              </a:rPr>
              <a:t>％に向上した。</a:t>
            </a:r>
            <a:endParaRPr lang="en-US" altLang="ja-JP" sz="1230" b="1" dirty="0">
              <a:solidFill>
                <a:srgbClr val="FF0000"/>
              </a:solidFill>
              <a:latin typeface="+mn-ea"/>
              <a:ea typeface="+mn-ea"/>
            </a:endParaRPr>
          </a:p>
          <a:p>
            <a:r>
              <a:rPr lang="ja-JP" altLang="en-US" sz="1230" dirty="0">
                <a:latin typeface="+mn-ea"/>
                <a:ea typeface="+mn-ea"/>
              </a:rPr>
              <a:t>　　</a:t>
            </a:r>
            <a:r>
              <a:rPr lang="pl-PL" altLang="ja-JP" sz="1230" dirty="0">
                <a:latin typeface="+mn-ea"/>
                <a:ea typeface="+mn-ea"/>
              </a:rPr>
              <a:t>P</a:t>
            </a:r>
            <a:r>
              <a:rPr lang="ja-JP" altLang="pl-PL" sz="1230" dirty="0">
                <a:latin typeface="+mn-ea"/>
                <a:ea typeface="+mn-ea"/>
              </a:rPr>
              <a:t>値</a:t>
            </a:r>
            <a:r>
              <a:rPr lang="en-US" altLang="ja-JP" sz="1230" dirty="0">
                <a:latin typeface="+mn-ea"/>
                <a:ea typeface="+mn-ea"/>
              </a:rPr>
              <a:t>:0.35</a:t>
            </a:r>
            <a:r>
              <a:rPr lang="ja-JP" altLang="en-US" sz="1230" dirty="0">
                <a:latin typeface="+mn-ea"/>
                <a:ea typeface="+mn-ea"/>
              </a:rPr>
              <a:t>　</a:t>
            </a:r>
            <a:r>
              <a:rPr lang="pl-PL" altLang="ja-JP" sz="1230" dirty="0">
                <a:latin typeface="+mn-ea"/>
                <a:ea typeface="+mn-ea"/>
              </a:rPr>
              <a:t>I</a:t>
            </a:r>
            <a:r>
              <a:rPr lang="ja-JP" altLang="pl-PL" sz="1230" dirty="0">
                <a:latin typeface="+mn-ea"/>
                <a:ea typeface="+mn-ea"/>
              </a:rPr>
              <a:t>値</a:t>
            </a:r>
            <a:r>
              <a:rPr lang="en-US" altLang="ja-JP" sz="1230" dirty="0">
                <a:latin typeface="+mn-ea"/>
                <a:ea typeface="+mn-ea"/>
              </a:rPr>
              <a:t>:0.008</a:t>
            </a:r>
            <a:r>
              <a:rPr lang="ja-JP" altLang="en-US" sz="1230" dirty="0">
                <a:latin typeface="+mn-ea"/>
                <a:ea typeface="+mn-ea"/>
              </a:rPr>
              <a:t>　</a:t>
            </a:r>
            <a:r>
              <a:rPr lang="pl-PL" altLang="ja-JP" sz="1230" dirty="0">
                <a:latin typeface="+mn-ea"/>
                <a:ea typeface="+mn-ea"/>
              </a:rPr>
              <a:t>D</a:t>
            </a:r>
            <a:r>
              <a:rPr lang="ja-JP" altLang="pl-PL" sz="1230" dirty="0">
                <a:latin typeface="+mn-ea"/>
                <a:ea typeface="+mn-ea"/>
              </a:rPr>
              <a:t>値</a:t>
            </a:r>
            <a:r>
              <a:rPr lang="en-US" altLang="ja-JP" sz="1230" dirty="0">
                <a:latin typeface="+mn-ea"/>
                <a:ea typeface="+mn-ea"/>
              </a:rPr>
              <a:t>:0.002</a:t>
            </a:r>
          </a:p>
          <a:p>
            <a:endParaRPr lang="en-US" altLang="ja-JP" sz="1230" dirty="0">
              <a:latin typeface="+mn-ea"/>
              <a:ea typeface="+mn-ea"/>
            </a:endParaRPr>
          </a:p>
          <a:p>
            <a:r>
              <a:rPr lang="en-US" altLang="ja-JP" sz="1400" b="1" dirty="0">
                <a:latin typeface="+mn-ea"/>
                <a:ea typeface="+mn-ea"/>
              </a:rPr>
              <a:t>4.3.2 </a:t>
            </a:r>
            <a:r>
              <a:rPr lang="ja-JP" altLang="en-US" sz="1400" b="1" dirty="0">
                <a:latin typeface="+mn-ea"/>
                <a:ea typeface="+mn-ea"/>
              </a:rPr>
              <a:t>反省</a:t>
            </a:r>
            <a:endParaRPr lang="en-US" altLang="ja-JP" sz="1400" b="1" dirty="0">
              <a:latin typeface="+mn-ea"/>
              <a:ea typeface="+mn-ea"/>
            </a:endParaRPr>
          </a:p>
          <a:p>
            <a:r>
              <a:rPr lang="ja-JP" altLang="en-US" sz="1230" dirty="0">
                <a:latin typeface="+mn-ea"/>
                <a:ea typeface="+mn-ea"/>
              </a:rPr>
              <a:t>最適な値の発見が今回の趣旨ではあるが、その手段には改善の余地があったと考えられる。</a:t>
            </a:r>
            <a:endParaRPr lang="en-US" altLang="ja-JP" sz="1230" dirty="0">
              <a:latin typeface="+mn-ea"/>
              <a:ea typeface="+mn-ea"/>
            </a:endParaRPr>
          </a:p>
          <a:p>
            <a:r>
              <a:rPr lang="ja-JP" altLang="en-US" sz="1230" dirty="0">
                <a:latin typeface="+mn-ea"/>
                <a:ea typeface="+mn-ea"/>
              </a:rPr>
              <a:t>例えばタイム短縮のため走行速度を上げた場合、また異なる最適値を求める必要がある。</a:t>
            </a:r>
            <a:endParaRPr lang="en-US" altLang="ja-JP" sz="1230" dirty="0">
              <a:latin typeface="+mn-ea"/>
              <a:ea typeface="+mn-ea"/>
            </a:endParaRPr>
          </a:p>
          <a:p>
            <a:r>
              <a:rPr kumimoji="1" lang="ja-JP" altLang="en-US" sz="1230" dirty="0">
                <a:latin typeface="+mn-ea"/>
                <a:ea typeface="+mn-ea"/>
              </a:rPr>
              <a:t>その度に検証するのは非効率である</a:t>
            </a:r>
            <a:r>
              <a:rPr lang="ja-JP" altLang="en-US" sz="1230" dirty="0">
                <a:latin typeface="+mn-ea"/>
                <a:ea typeface="+mn-ea"/>
              </a:rPr>
              <a:t>という観点から</a:t>
            </a:r>
            <a:r>
              <a:rPr kumimoji="1" lang="ja-JP" altLang="en-US" sz="1230" dirty="0">
                <a:latin typeface="+mn-ea"/>
                <a:ea typeface="+mn-ea"/>
              </a:rPr>
              <a:t>、ある程度の値のあたりをつけるために、速度の要素を取り入れた</a:t>
            </a:r>
            <a:r>
              <a:rPr kumimoji="1" lang="en-US" altLang="ja-JP" sz="1230" dirty="0">
                <a:latin typeface="+mn-ea"/>
                <a:ea typeface="+mn-ea"/>
              </a:rPr>
              <a:t>PID</a:t>
            </a:r>
            <a:r>
              <a:rPr kumimoji="1" lang="ja-JP" altLang="en-US" sz="1230" dirty="0">
                <a:latin typeface="+mn-ea"/>
                <a:ea typeface="+mn-ea"/>
              </a:rPr>
              <a:t>値算出の式やシステムを用意するなどのアプローチが今後の課題と考える。</a:t>
            </a:r>
          </a:p>
        </p:txBody>
      </p:sp>
      <p:graphicFrame>
        <p:nvGraphicFramePr>
          <p:cNvPr id="42" name="表 41">
            <a:extLst>
              <a:ext uri="{FF2B5EF4-FFF2-40B4-BE49-F238E27FC236}">
                <a16:creationId xmlns:a16="http://schemas.microsoft.com/office/drawing/2014/main" id="{C34303F0-9896-452F-9FA5-316F268D9AAE}"/>
              </a:ext>
            </a:extLst>
          </p:cNvPr>
          <p:cNvGraphicFramePr>
            <a:graphicFrameLocks noGrp="1"/>
          </p:cNvGraphicFramePr>
          <p:nvPr>
            <p:extLst>
              <p:ext uri="{D42A27DB-BD31-4B8C-83A1-F6EECF244321}">
                <p14:modId xmlns:p14="http://schemas.microsoft.com/office/powerpoint/2010/main" val="2685196655"/>
              </p:ext>
            </p:extLst>
          </p:nvPr>
        </p:nvGraphicFramePr>
        <p:xfrm>
          <a:off x="7466601" y="6000541"/>
          <a:ext cx="7581906" cy="4562598"/>
        </p:xfrm>
        <a:graphic>
          <a:graphicData uri="http://schemas.openxmlformats.org/drawingml/2006/table">
            <a:tbl>
              <a:tblPr firstRow="1" bandRow="1">
                <a:tableStyleId>{93296810-A885-4BE3-A3E7-6D5BEEA58F35}</a:tableStyleId>
              </a:tblPr>
              <a:tblGrid>
                <a:gridCol w="610911">
                  <a:extLst>
                    <a:ext uri="{9D8B030D-6E8A-4147-A177-3AD203B41FA5}">
                      <a16:colId xmlns:a16="http://schemas.microsoft.com/office/drawing/2014/main" val="452517498"/>
                    </a:ext>
                  </a:extLst>
                </a:gridCol>
                <a:gridCol w="584427">
                  <a:extLst>
                    <a:ext uri="{9D8B030D-6E8A-4147-A177-3AD203B41FA5}">
                      <a16:colId xmlns:a16="http://schemas.microsoft.com/office/drawing/2014/main" val="4115895665"/>
                    </a:ext>
                  </a:extLst>
                </a:gridCol>
                <a:gridCol w="657481">
                  <a:extLst>
                    <a:ext uri="{9D8B030D-6E8A-4147-A177-3AD203B41FA5}">
                      <a16:colId xmlns:a16="http://schemas.microsoft.com/office/drawing/2014/main" val="3441262349"/>
                    </a:ext>
                  </a:extLst>
                </a:gridCol>
                <a:gridCol w="730534">
                  <a:extLst>
                    <a:ext uri="{9D8B030D-6E8A-4147-A177-3AD203B41FA5}">
                      <a16:colId xmlns:a16="http://schemas.microsoft.com/office/drawing/2014/main" val="453827339"/>
                    </a:ext>
                  </a:extLst>
                </a:gridCol>
                <a:gridCol w="683112">
                  <a:extLst>
                    <a:ext uri="{9D8B030D-6E8A-4147-A177-3AD203B41FA5}">
                      <a16:colId xmlns:a16="http://schemas.microsoft.com/office/drawing/2014/main" val="1416412055"/>
                    </a:ext>
                  </a:extLst>
                </a:gridCol>
                <a:gridCol w="4315441">
                  <a:extLst>
                    <a:ext uri="{9D8B030D-6E8A-4147-A177-3AD203B41FA5}">
                      <a16:colId xmlns:a16="http://schemas.microsoft.com/office/drawing/2014/main" val="2482849894"/>
                    </a:ext>
                  </a:extLst>
                </a:gridCol>
              </a:tblGrid>
              <a:tr h="520021">
                <a:tc>
                  <a:txBody>
                    <a:bodyPr/>
                    <a:lstStyle/>
                    <a:p>
                      <a:r>
                        <a:rPr kumimoji="1" lang="ja-JP" altLang="en-US" sz="1300" dirty="0"/>
                        <a:t>調整</a:t>
                      </a:r>
                      <a:endParaRPr kumimoji="1" lang="en-US" altLang="ja-JP" sz="1300" dirty="0"/>
                    </a:p>
                    <a:p>
                      <a:r>
                        <a:rPr kumimoji="1" lang="ja-JP" altLang="en-US" sz="1300" dirty="0"/>
                        <a:t>回数</a:t>
                      </a:r>
                      <a:endParaRPr kumimoji="1" lang="ja-JP" altLang="en-US" sz="1300" dirty="0">
                        <a:solidFill>
                          <a:schemeClr val="tx1"/>
                        </a:solidFill>
                        <a:latin typeface="+mn-ea"/>
                        <a:ea typeface="+mn-ea"/>
                      </a:endParaRPr>
                    </a:p>
                  </a:txBody>
                  <a:tcPr/>
                </a:tc>
                <a:tc>
                  <a:txBody>
                    <a:bodyPr/>
                    <a:lstStyle/>
                    <a:p>
                      <a:pPr algn="ctr"/>
                      <a:r>
                        <a:rPr kumimoji="1" lang="en-US" altLang="ja-JP" sz="1300" dirty="0"/>
                        <a:t>P</a:t>
                      </a:r>
                      <a:r>
                        <a:rPr kumimoji="1" lang="ja-JP" altLang="en-US" sz="1300" dirty="0"/>
                        <a:t>値</a:t>
                      </a:r>
                      <a:endParaRPr kumimoji="1" lang="ja-JP" altLang="en-US" sz="1300" dirty="0">
                        <a:solidFill>
                          <a:schemeClr val="tx1"/>
                        </a:solidFill>
                        <a:latin typeface="+mn-ea"/>
                        <a:ea typeface="+mn-ea"/>
                      </a:endParaRPr>
                    </a:p>
                  </a:txBody>
                  <a:tcPr/>
                </a:tc>
                <a:tc>
                  <a:txBody>
                    <a:bodyPr/>
                    <a:lstStyle/>
                    <a:p>
                      <a:pPr algn="ctr"/>
                      <a:r>
                        <a:rPr kumimoji="1" lang="en-US" altLang="ja-JP" sz="1300" dirty="0">
                          <a:solidFill>
                            <a:schemeClr val="bg1"/>
                          </a:solidFill>
                        </a:rPr>
                        <a:t>I</a:t>
                      </a:r>
                      <a:r>
                        <a:rPr kumimoji="1" lang="ja-JP" altLang="en-US" sz="1300" dirty="0">
                          <a:solidFill>
                            <a:schemeClr val="bg1"/>
                          </a:solidFill>
                        </a:rPr>
                        <a:t>値</a:t>
                      </a:r>
                      <a:endParaRPr kumimoji="1" lang="en-US" altLang="ja-JP" sz="1300" dirty="0">
                        <a:solidFill>
                          <a:schemeClr val="bg1"/>
                        </a:solidFill>
                      </a:endParaRPr>
                    </a:p>
                    <a:p>
                      <a:pPr algn="ctr"/>
                      <a:r>
                        <a:rPr kumimoji="1" lang="en-US" altLang="ja-JP" sz="1300" dirty="0">
                          <a:solidFill>
                            <a:schemeClr val="bg1"/>
                          </a:solidFill>
                          <a:latin typeface="+mn-ea"/>
                          <a:ea typeface="+mn-ea"/>
                        </a:rPr>
                        <a:t>(</a:t>
                      </a:r>
                      <a:r>
                        <a:rPr kumimoji="1" lang="ja-JP" altLang="en-US" sz="1300" dirty="0">
                          <a:solidFill>
                            <a:schemeClr val="bg1"/>
                          </a:solidFill>
                          <a:latin typeface="+mn-ea"/>
                          <a:ea typeface="+mn-ea"/>
                        </a:rPr>
                        <a:t>固定</a:t>
                      </a:r>
                      <a:r>
                        <a:rPr kumimoji="1" lang="en-US" altLang="ja-JP" sz="1300" dirty="0">
                          <a:solidFill>
                            <a:schemeClr val="bg1"/>
                          </a:solidFill>
                          <a:latin typeface="+mn-ea"/>
                          <a:ea typeface="+mn-ea"/>
                        </a:rPr>
                        <a:t>)</a:t>
                      </a:r>
                      <a:endParaRPr kumimoji="1" lang="ja-JP" altLang="en-US" sz="1300" dirty="0">
                        <a:solidFill>
                          <a:schemeClr val="bg1"/>
                        </a:solidFill>
                        <a:latin typeface="+mn-ea"/>
                        <a:ea typeface="+mn-ea"/>
                      </a:endParaRPr>
                    </a:p>
                  </a:txBody>
                  <a:tcPr/>
                </a:tc>
                <a:tc>
                  <a:txBody>
                    <a:bodyPr/>
                    <a:lstStyle/>
                    <a:p>
                      <a:pPr algn="ctr"/>
                      <a:r>
                        <a:rPr kumimoji="1" lang="en-US" altLang="ja-JP" sz="1300" dirty="0">
                          <a:solidFill>
                            <a:schemeClr val="bg1"/>
                          </a:solidFill>
                        </a:rPr>
                        <a:t>D</a:t>
                      </a:r>
                      <a:r>
                        <a:rPr kumimoji="1" lang="ja-JP" altLang="en-US" sz="1300" dirty="0">
                          <a:solidFill>
                            <a:schemeClr val="bg1"/>
                          </a:solidFill>
                        </a:rPr>
                        <a:t>値</a:t>
                      </a:r>
                      <a:endParaRPr kumimoji="1" lang="en-US" altLang="ja-JP" sz="1300" dirty="0">
                        <a:solidFill>
                          <a:schemeClr val="bg1"/>
                        </a:solidFill>
                      </a:endParaRPr>
                    </a:p>
                    <a:p>
                      <a:pPr algn="ctr"/>
                      <a:r>
                        <a:rPr kumimoji="1" lang="en-US" altLang="ja-JP" sz="1300" dirty="0">
                          <a:solidFill>
                            <a:schemeClr val="bg1"/>
                          </a:solidFill>
                          <a:latin typeface="+mn-ea"/>
                          <a:ea typeface="+mn-ea"/>
                        </a:rPr>
                        <a:t>(</a:t>
                      </a:r>
                      <a:r>
                        <a:rPr kumimoji="1" lang="ja-JP" altLang="en-US" sz="1300" dirty="0">
                          <a:solidFill>
                            <a:schemeClr val="bg1"/>
                          </a:solidFill>
                          <a:latin typeface="+mn-ea"/>
                          <a:ea typeface="+mn-ea"/>
                        </a:rPr>
                        <a:t>固定</a:t>
                      </a:r>
                      <a:r>
                        <a:rPr kumimoji="1" lang="en-US" altLang="ja-JP" sz="1300" dirty="0">
                          <a:solidFill>
                            <a:schemeClr val="bg1"/>
                          </a:solidFill>
                          <a:latin typeface="+mn-ea"/>
                          <a:ea typeface="+mn-ea"/>
                        </a:rPr>
                        <a:t>)</a:t>
                      </a:r>
                      <a:endParaRPr kumimoji="1" lang="ja-JP" altLang="en-US" sz="1300" dirty="0">
                        <a:solidFill>
                          <a:schemeClr val="bg1"/>
                        </a:solidFill>
                        <a:latin typeface="+mn-ea"/>
                        <a:ea typeface="+mn-ea"/>
                      </a:endParaRPr>
                    </a:p>
                  </a:txBody>
                  <a:tcPr/>
                </a:tc>
                <a:tc>
                  <a:txBody>
                    <a:bodyPr/>
                    <a:lstStyle/>
                    <a:p>
                      <a:pPr algn="ctr"/>
                      <a:r>
                        <a:rPr kumimoji="1" lang="ja-JP" altLang="en-US" sz="1300" dirty="0">
                          <a:solidFill>
                            <a:schemeClr val="bg1"/>
                          </a:solidFill>
                          <a:latin typeface="+mn-ea"/>
                          <a:ea typeface="+mn-ea"/>
                        </a:rPr>
                        <a:t>成功率</a:t>
                      </a:r>
                    </a:p>
                  </a:txBody>
                  <a:tcPr/>
                </a:tc>
                <a:tc>
                  <a:txBody>
                    <a:bodyPr/>
                    <a:lstStyle/>
                    <a:p>
                      <a:pPr algn="ctr"/>
                      <a:r>
                        <a:rPr kumimoji="1" lang="ja-JP" altLang="en-US" sz="1300" dirty="0">
                          <a:solidFill>
                            <a:schemeClr val="bg1"/>
                          </a:solidFill>
                        </a:rPr>
                        <a:t>動作結果・所感</a:t>
                      </a:r>
                      <a:endParaRPr kumimoji="1" lang="ja-JP" altLang="en-US" sz="1300" dirty="0">
                        <a:solidFill>
                          <a:schemeClr val="bg1"/>
                        </a:solidFill>
                        <a:latin typeface="+mn-ea"/>
                        <a:ea typeface="+mn-ea"/>
                      </a:endParaRPr>
                    </a:p>
                  </a:txBody>
                  <a:tcPr/>
                </a:tc>
                <a:extLst>
                  <a:ext uri="{0D108BD9-81ED-4DB2-BD59-A6C34878D82A}">
                    <a16:rowId xmlns:a16="http://schemas.microsoft.com/office/drawing/2014/main" val="2588754472"/>
                  </a:ext>
                </a:extLst>
              </a:tr>
              <a:tr h="520021">
                <a:tc>
                  <a:txBody>
                    <a:bodyPr/>
                    <a:lstStyle/>
                    <a:p>
                      <a:r>
                        <a:rPr kumimoji="1" lang="en-US" altLang="ja-JP" sz="1300" dirty="0"/>
                        <a:t>1</a:t>
                      </a:r>
                      <a:r>
                        <a:rPr kumimoji="1" lang="ja-JP" altLang="en-US" sz="1300" dirty="0"/>
                        <a:t>回目</a:t>
                      </a:r>
                      <a:endParaRPr kumimoji="1" lang="ja-JP" altLang="en-US" sz="1300" dirty="0">
                        <a:solidFill>
                          <a:schemeClr val="tx1"/>
                        </a:solidFill>
                        <a:latin typeface="+mn-ea"/>
                        <a:ea typeface="+mn-ea"/>
                      </a:endParaRPr>
                    </a:p>
                  </a:txBody>
                  <a:tcPr/>
                </a:tc>
                <a:tc>
                  <a:txBody>
                    <a:bodyPr/>
                    <a:lstStyle/>
                    <a:p>
                      <a:pPr algn="ctr"/>
                      <a:r>
                        <a:rPr kumimoji="1" lang="en-US" altLang="ja-JP" sz="1300" dirty="0"/>
                        <a:t>0.27</a:t>
                      </a:r>
                      <a:endParaRPr kumimoji="1" lang="ja-JP" altLang="en-US" sz="1300" dirty="0">
                        <a:solidFill>
                          <a:schemeClr val="tx1"/>
                        </a:solidFill>
                        <a:latin typeface="+mn-ea"/>
                        <a:ea typeface="+mn-ea"/>
                      </a:endParaRPr>
                    </a:p>
                  </a:txBody>
                  <a:tcPr/>
                </a:tc>
                <a:tc>
                  <a:txBody>
                    <a:bodyPr/>
                    <a:lstStyle/>
                    <a:p>
                      <a:pPr algn="ctr"/>
                      <a:r>
                        <a:rPr kumimoji="1" lang="en-US" altLang="ja-JP" sz="1300" dirty="0"/>
                        <a:t>0.008</a:t>
                      </a:r>
                    </a:p>
                  </a:txBody>
                  <a:tcPr/>
                </a:tc>
                <a:tc>
                  <a:txBody>
                    <a:bodyPr/>
                    <a:lstStyle/>
                    <a:p>
                      <a:pPr algn="ctr"/>
                      <a:r>
                        <a:rPr kumimoji="1" lang="en-US" altLang="ja-JP" sz="1300" dirty="0"/>
                        <a:t>0.002</a:t>
                      </a:r>
                      <a:endParaRPr kumimoji="1" lang="ja-JP" altLang="en-US" sz="1300" dirty="0">
                        <a:solidFill>
                          <a:schemeClr val="tx1"/>
                        </a:solidFill>
                        <a:latin typeface="+mn-ea"/>
                        <a:ea typeface="+mn-ea"/>
                      </a:endParaRPr>
                    </a:p>
                  </a:txBody>
                  <a:tcPr/>
                </a:tc>
                <a:tc>
                  <a:txBody>
                    <a:bodyPr/>
                    <a:lstStyle/>
                    <a:p>
                      <a:pPr algn="ctr"/>
                      <a:r>
                        <a:rPr kumimoji="1" lang="en-US" altLang="ja-JP" sz="1300" dirty="0">
                          <a:solidFill>
                            <a:schemeClr val="tx1"/>
                          </a:solidFill>
                          <a:latin typeface="Calibri 本文"/>
                          <a:ea typeface="+mn-ea"/>
                        </a:rPr>
                        <a:t>35%</a:t>
                      </a:r>
                    </a:p>
                  </a:txBody>
                  <a:tcPr/>
                </a:tc>
                <a:tc>
                  <a:txBody>
                    <a:bodyPr/>
                    <a:lstStyle/>
                    <a:p>
                      <a:pPr algn="l"/>
                      <a:r>
                        <a:rPr kumimoji="1" lang="ja-JP" altLang="en-US" sz="1300" dirty="0"/>
                        <a:t>初めにダブルループ突入前のライントレースで使用中の値で検証する。　</a:t>
                      </a:r>
                      <a:r>
                        <a:rPr kumimoji="1" lang="ja-JP" altLang="en-US" sz="1300" dirty="0">
                          <a:solidFill>
                            <a:schemeClr val="tx1"/>
                          </a:solidFill>
                          <a:latin typeface="+mn-ea"/>
                          <a:ea typeface="+mn-ea"/>
                        </a:rPr>
                        <a:t>ライン復帰失敗が多発する。</a:t>
                      </a:r>
                    </a:p>
                  </a:txBody>
                  <a:tcPr/>
                </a:tc>
                <a:extLst>
                  <a:ext uri="{0D108BD9-81ED-4DB2-BD59-A6C34878D82A}">
                    <a16:rowId xmlns:a16="http://schemas.microsoft.com/office/drawing/2014/main" val="4183442010"/>
                  </a:ext>
                </a:extLst>
              </a:tr>
              <a:tr h="528079">
                <a:tc>
                  <a:txBody>
                    <a:bodyPr/>
                    <a:lstStyle/>
                    <a:p>
                      <a:r>
                        <a:rPr kumimoji="1" lang="en-US" altLang="ja-JP" sz="1300" dirty="0"/>
                        <a:t>2</a:t>
                      </a:r>
                      <a:r>
                        <a:rPr kumimoji="1" lang="ja-JP" altLang="en-US" sz="1300" dirty="0"/>
                        <a:t>回目</a:t>
                      </a:r>
                      <a:endParaRPr kumimoji="1" lang="ja-JP" altLang="en-US" sz="1300" dirty="0">
                        <a:solidFill>
                          <a:schemeClr val="tx1"/>
                        </a:solidFill>
                        <a:latin typeface="+mn-ea"/>
                        <a:ea typeface="+mn-ea"/>
                      </a:endParaRPr>
                    </a:p>
                  </a:txBody>
                  <a:tcPr/>
                </a:tc>
                <a:tc>
                  <a:txBody>
                    <a:bodyPr/>
                    <a:lstStyle/>
                    <a:p>
                      <a:pPr marL="0" marR="0" lvl="0" indent="0" algn="ctr" defTabSz="1425550" rtl="0" eaLnBrk="1" fontAlgn="auto" latinLnBrk="0" hangingPunct="1">
                        <a:lnSpc>
                          <a:spcPct val="100000"/>
                        </a:lnSpc>
                        <a:spcBef>
                          <a:spcPts val="0"/>
                        </a:spcBef>
                        <a:spcAft>
                          <a:spcPts val="0"/>
                        </a:spcAft>
                        <a:buClrTx/>
                        <a:buSzTx/>
                        <a:buFontTx/>
                        <a:buNone/>
                        <a:tabLst/>
                        <a:defRPr/>
                      </a:pPr>
                      <a:r>
                        <a:rPr kumimoji="1" lang="en-US" altLang="ja-JP" sz="13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0.25</a:t>
                      </a:r>
                      <a:endParaRPr kumimoji="1" lang="ja-JP" altLang="en-US" sz="13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endParaRPr>
                    </a:p>
                  </a:txBody>
                  <a:tcPr/>
                </a:tc>
                <a:tc>
                  <a:txBody>
                    <a:bodyPr/>
                    <a:lstStyle/>
                    <a:p>
                      <a:pPr algn="ctr"/>
                      <a:r>
                        <a:rPr kumimoji="1" lang="en-US" altLang="ja-JP" sz="1300" dirty="0"/>
                        <a:t>0.008</a:t>
                      </a:r>
                    </a:p>
                  </a:txBody>
                  <a:tcPr/>
                </a:tc>
                <a:tc>
                  <a:txBody>
                    <a:bodyPr/>
                    <a:lstStyle/>
                    <a:p>
                      <a:pPr algn="ctr"/>
                      <a:r>
                        <a:rPr kumimoji="1" lang="en-US" altLang="ja-JP" sz="1300" dirty="0"/>
                        <a:t>0.002</a:t>
                      </a:r>
                      <a:endParaRPr kumimoji="1" lang="ja-JP" altLang="en-US" sz="1300" dirty="0">
                        <a:solidFill>
                          <a:schemeClr val="tx1"/>
                        </a:solidFill>
                        <a:latin typeface="+mn-ea"/>
                        <a:ea typeface="+mn-ea"/>
                      </a:endParaRPr>
                    </a:p>
                  </a:txBody>
                  <a:tcPr/>
                </a:tc>
                <a:tc>
                  <a:txBody>
                    <a:bodyPr/>
                    <a:lstStyle/>
                    <a:p>
                      <a:pPr algn="ctr"/>
                      <a:r>
                        <a:rPr kumimoji="1" lang="en-US" altLang="ja-JP" sz="1300" dirty="0">
                          <a:solidFill>
                            <a:schemeClr val="tx1"/>
                          </a:solidFill>
                          <a:latin typeface="Calibri 本文"/>
                          <a:ea typeface="+mn-ea"/>
                        </a:rPr>
                        <a:t>15%</a:t>
                      </a:r>
                    </a:p>
                  </a:txBody>
                  <a:tcPr/>
                </a:tc>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ja-JP" altLang="en-US" sz="1300" dirty="0">
                          <a:solidFill>
                            <a:schemeClr val="tx1"/>
                          </a:solidFill>
                          <a:latin typeface="+mn-ea"/>
                          <a:ea typeface="+mn-ea"/>
                        </a:rPr>
                        <a:t>ライン復帰までにかなり大回りをしてしまい、初期値よりも失敗する。　以降</a:t>
                      </a:r>
                      <a:r>
                        <a:rPr kumimoji="1" lang="en-US" altLang="ja-JP" sz="1300" dirty="0">
                          <a:solidFill>
                            <a:schemeClr val="tx1"/>
                          </a:solidFill>
                          <a:latin typeface="+mn-ea"/>
                          <a:ea typeface="+mn-ea"/>
                        </a:rPr>
                        <a:t>P</a:t>
                      </a:r>
                      <a:r>
                        <a:rPr kumimoji="1" lang="ja-JP" altLang="en-US" sz="1300" dirty="0">
                          <a:solidFill>
                            <a:schemeClr val="tx1"/>
                          </a:solidFill>
                          <a:latin typeface="+mn-ea"/>
                          <a:ea typeface="+mn-ea"/>
                        </a:rPr>
                        <a:t>値の大きくして調整をおこなう。</a:t>
                      </a:r>
                    </a:p>
                  </a:txBody>
                  <a:tcPr/>
                </a:tc>
                <a:extLst>
                  <a:ext uri="{0D108BD9-81ED-4DB2-BD59-A6C34878D82A}">
                    <a16:rowId xmlns:a16="http://schemas.microsoft.com/office/drawing/2014/main" val="1587880620"/>
                  </a:ext>
                </a:extLst>
              </a:tr>
              <a:tr h="528079">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en-US" altLang="ja-JP" sz="1300" dirty="0"/>
                        <a:t>3</a:t>
                      </a:r>
                      <a:r>
                        <a:rPr kumimoji="1" lang="ja-JP" altLang="en-US" sz="1300" dirty="0"/>
                        <a:t>回目</a:t>
                      </a:r>
                      <a:endParaRPr kumimoji="1" lang="ja-JP" altLang="en-US" sz="1300" dirty="0">
                        <a:solidFill>
                          <a:schemeClr val="tx1"/>
                        </a:solidFill>
                        <a:latin typeface="+mn-ea"/>
                        <a:ea typeface="+mn-ea"/>
                      </a:endParaRPr>
                    </a:p>
                  </a:txBody>
                  <a:tcPr/>
                </a:tc>
                <a:tc>
                  <a:txBody>
                    <a:bodyPr/>
                    <a:lstStyle/>
                    <a:p>
                      <a:pPr marL="0" marR="0" lvl="0" indent="0" algn="ctr" defTabSz="1425550" rtl="0" eaLnBrk="1" fontAlgn="auto" latinLnBrk="0" hangingPunct="1">
                        <a:lnSpc>
                          <a:spcPct val="100000"/>
                        </a:lnSpc>
                        <a:spcBef>
                          <a:spcPts val="0"/>
                        </a:spcBef>
                        <a:spcAft>
                          <a:spcPts val="0"/>
                        </a:spcAft>
                        <a:buClrTx/>
                        <a:buSzTx/>
                        <a:buFontTx/>
                        <a:buNone/>
                        <a:tabLst/>
                        <a:defRPr/>
                      </a:pPr>
                      <a:r>
                        <a:rPr kumimoji="1" lang="en-US" altLang="ja-JP" sz="13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0.29</a:t>
                      </a:r>
                      <a:endParaRPr kumimoji="1" lang="ja-JP" altLang="en-US" sz="13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endParaRPr>
                    </a:p>
                  </a:txBody>
                  <a:tcPr/>
                </a:tc>
                <a:tc>
                  <a:txBody>
                    <a:bodyPr/>
                    <a:lstStyle/>
                    <a:p>
                      <a:pPr algn="ctr"/>
                      <a:r>
                        <a:rPr kumimoji="1" lang="en-US" altLang="ja-JP" sz="1300" dirty="0"/>
                        <a:t>0.008</a:t>
                      </a:r>
                    </a:p>
                  </a:txBody>
                  <a:tcPr/>
                </a:tc>
                <a:tc>
                  <a:txBody>
                    <a:bodyPr/>
                    <a:lstStyle/>
                    <a:p>
                      <a:pPr algn="ctr"/>
                      <a:r>
                        <a:rPr kumimoji="1" lang="en-US" altLang="ja-JP" sz="1300" dirty="0"/>
                        <a:t>0.002</a:t>
                      </a:r>
                      <a:endParaRPr kumimoji="1" lang="ja-JP" altLang="en-US" sz="1300" dirty="0">
                        <a:solidFill>
                          <a:schemeClr val="tx1"/>
                        </a:solidFill>
                        <a:latin typeface="+mn-ea"/>
                        <a:ea typeface="+mn-ea"/>
                      </a:endParaRPr>
                    </a:p>
                  </a:txBody>
                  <a:tcPr/>
                </a:tc>
                <a:tc>
                  <a:txBody>
                    <a:bodyPr/>
                    <a:lstStyle/>
                    <a:p>
                      <a:pPr algn="ctr"/>
                      <a:r>
                        <a:rPr kumimoji="1" lang="en-US" altLang="ja-JP" sz="1300" dirty="0">
                          <a:solidFill>
                            <a:schemeClr val="tx1"/>
                          </a:solidFill>
                          <a:latin typeface="Calibri 本文"/>
                          <a:ea typeface="+mn-ea"/>
                        </a:rPr>
                        <a:t>40%</a:t>
                      </a:r>
                    </a:p>
                  </a:txBody>
                  <a:tcPr/>
                </a:tc>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ja-JP" altLang="en-US" sz="1300" dirty="0">
                          <a:solidFill>
                            <a:schemeClr val="tx1"/>
                          </a:solidFill>
                          <a:latin typeface="+mn-ea"/>
                          <a:ea typeface="+mn-ea"/>
                        </a:rPr>
                        <a:t>ライン復帰までにかなり大回りをしてしまう。</a:t>
                      </a:r>
                      <a:endParaRPr kumimoji="1" lang="en-US" altLang="ja-JP" sz="1300" dirty="0">
                        <a:solidFill>
                          <a:schemeClr val="tx1"/>
                        </a:solidFill>
                        <a:latin typeface="+mn-ea"/>
                        <a:ea typeface="+mn-ea"/>
                      </a:endParaRPr>
                    </a:p>
                    <a:p>
                      <a:pPr marL="0" marR="0" lvl="0" indent="0" algn="l" defTabSz="1425550" rtl="0" eaLnBrk="1" fontAlgn="auto" latinLnBrk="0" hangingPunct="1">
                        <a:lnSpc>
                          <a:spcPct val="100000"/>
                        </a:lnSpc>
                        <a:spcBef>
                          <a:spcPts val="0"/>
                        </a:spcBef>
                        <a:spcAft>
                          <a:spcPts val="0"/>
                        </a:spcAft>
                        <a:buClrTx/>
                        <a:buSzTx/>
                        <a:buFontTx/>
                        <a:buNone/>
                        <a:tabLst/>
                        <a:defRPr/>
                      </a:pPr>
                      <a:r>
                        <a:rPr kumimoji="1" lang="ja-JP" altLang="en-US" sz="1300" dirty="0">
                          <a:solidFill>
                            <a:schemeClr val="tx1"/>
                          </a:solidFill>
                          <a:latin typeface="+mn-ea"/>
                          <a:ea typeface="+mn-ea"/>
                        </a:rPr>
                        <a:t>引き続き</a:t>
                      </a:r>
                      <a:r>
                        <a:rPr kumimoji="1" lang="en-US" altLang="ja-JP" sz="1300" dirty="0">
                          <a:solidFill>
                            <a:schemeClr val="tx1"/>
                          </a:solidFill>
                          <a:latin typeface="+mn-ea"/>
                          <a:ea typeface="+mn-ea"/>
                        </a:rPr>
                        <a:t>P</a:t>
                      </a:r>
                      <a:r>
                        <a:rPr kumimoji="1" lang="ja-JP" altLang="en-US" sz="1300" dirty="0">
                          <a:solidFill>
                            <a:schemeClr val="tx1"/>
                          </a:solidFill>
                          <a:latin typeface="+mn-ea"/>
                          <a:ea typeface="+mn-ea"/>
                        </a:rPr>
                        <a:t>値の大きくして検証続行する。</a:t>
                      </a:r>
                      <a:endParaRPr kumimoji="1" lang="en-US" altLang="ja-JP" sz="1300" dirty="0">
                        <a:solidFill>
                          <a:schemeClr val="tx1"/>
                        </a:solidFill>
                        <a:latin typeface="+mn-ea"/>
                        <a:ea typeface="+mn-ea"/>
                      </a:endParaRPr>
                    </a:p>
                  </a:txBody>
                  <a:tcPr/>
                </a:tc>
                <a:extLst>
                  <a:ext uri="{0D108BD9-81ED-4DB2-BD59-A6C34878D82A}">
                    <a16:rowId xmlns:a16="http://schemas.microsoft.com/office/drawing/2014/main" val="3638005536"/>
                  </a:ext>
                </a:extLst>
              </a:tr>
              <a:tr h="528079">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en-US" altLang="ja-JP" sz="1300" dirty="0"/>
                        <a:t>4</a:t>
                      </a:r>
                      <a:r>
                        <a:rPr kumimoji="1" lang="ja-JP" altLang="en-US" sz="1300" dirty="0"/>
                        <a:t>回目</a:t>
                      </a:r>
                      <a:endParaRPr kumimoji="1" lang="ja-JP" altLang="en-US" sz="1300" dirty="0">
                        <a:solidFill>
                          <a:schemeClr val="tx1"/>
                        </a:solidFill>
                        <a:latin typeface="+mn-ea"/>
                        <a:ea typeface="+mn-ea"/>
                      </a:endParaRPr>
                    </a:p>
                  </a:txBody>
                  <a:tcPr/>
                </a:tc>
                <a:tc>
                  <a:txBody>
                    <a:bodyPr/>
                    <a:lstStyle/>
                    <a:p>
                      <a:pPr marL="0" marR="0" lvl="0" indent="0" algn="ctr" defTabSz="1425550" rtl="0" eaLnBrk="1" fontAlgn="auto" latinLnBrk="0" hangingPunct="1">
                        <a:lnSpc>
                          <a:spcPct val="100000"/>
                        </a:lnSpc>
                        <a:spcBef>
                          <a:spcPts val="0"/>
                        </a:spcBef>
                        <a:spcAft>
                          <a:spcPts val="0"/>
                        </a:spcAft>
                        <a:buClrTx/>
                        <a:buSzTx/>
                        <a:buFontTx/>
                        <a:buNone/>
                        <a:tabLst/>
                        <a:defRPr/>
                      </a:pPr>
                      <a:r>
                        <a:rPr kumimoji="1" lang="en-US" altLang="ja-JP" sz="13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0.31</a:t>
                      </a:r>
                      <a:endParaRPr kumimoji="1" lang="ja-JP" altLang="en-US" sz="13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endParaRPr>
                    </a:p>
                  </a:txBody>
                  <a:tcPr/>
                </a:tc>
                <a:tc>
                  <a:txBody>
                    <a:bodyPr/>
                    <a:lstStyle/>
                    <a:p>
                      <a:pPr algn="ctr"/>
                      <a:r>
                        <a:rPr kumimoji="1" lang="en-US" altLang="ja-JP" sz="1300" dirty="0"/>
                        <a:t>0.008</a:t>
                      </a:r>
                    </a:p>
                  </a:txBody>
                  <a:tcPr/>
                </a:tc>
                <a:tc>
                  <a:txBody>
                    <a:bodyPr/>
                    <a:lstStyle/>
                    <a:p>
                      <a:pPr algn="ctr"/>
                      <a:r>
                        <a:rPr kumimoji="1" lang="en-US" altLang="ja-JP" sz="1300" dirty="0"/>
                        <a:t>0.002</a:t>
                      </a:r>
                      <a:endParaRPr kumimoji="1" lang="ja-JP" altLang="en-US" sz="1300" dirty="0">
                        <a:solidFill>
                          <a:schemeClr val="tx1"/>
                        </a:solidFill>
                        <a:latin typeface="+mn-ea"/>
                        <a:ea typeface="+mn-ea"/>
                      </a:endParaRPr>
                    </a:p>
                  </a:txBody>
                  <a:tcPr/>
                </a:tc>
                <a:tc>
                  <a:txBody>
                    <a:bodyPr/>
                    <a:lstStyle/>
                    <a:p>
                      <a:pPr algn="ctr"/>
                      <a:r>
                        <a:rPr kumimoji="1" lang="en-US" altLang="ja-JP" sz="1300" dirty="0">
                          <a:solidFill>
                            <a:schemeClr val="tx1"/>
                          </a:solidFill>
                          <a:latin typeface="Calibri 本文"/>
                          <a:ea typeface="+mn-ea"/>
                        </a:rPr>
                        <a:t>45%</a:t>
                      </a:r>
                    </a:p>
                  </a:txBody>
                  <a:tcPr/>
                </a:tc>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ja-JP" altLang="en-US" sz="1300" dirty="0">
                          <a:solidFill>
                            <a:schemeClr val="tx1"/>
                          </a:solidFill>
                          <a:latin typeface="+mn-ea"/>
                          <a:ea typeface="+mn-ea"/>
                        </a:rPr>
                        <a:t>ライン復帰までにかなり大回りをしてしまう。</a:t>
                      </a:r>
                      <a:endParaRPr kumimoji="1" lang="en-US" altLang="ja-JP" sz="1300" dirty="0">
                        <a:solidFill>
                          <a:schemeClr val="tx1"/>
                        </a:solidFill>
                        <a:latin typeface="+mn-ea"/>
                        <a:ea typeface="+mn-ea"/>
                      </a:endParaRPr>
                    </a:p>
                    <a:p>
                      <a:pPr marL="0" marR="0" lvl="0" indent="0" algn="l" defTabSz="1425550" rtl="0" eaLnBrk="1" fontAlgn="auto" latinLnBrk="0" hangingPunct="1">
                        <a:lnSpc>
                          <a:spcPct val="100000"/>
                        </a:lnSpc>
                        <a:spcBef>
                          <a:spcPts val="0"/>
                        </a:spcBef>
                        <a:spcAft>
                          <a:spcPts val="0"/>
                        </a:spcAft>
                        <a:buClrTx/>
                        <a:buSzTx/>
                        <a:buFontTx/>
                        <a:buNone/>
                        <a:tabLst/>
                        <a:defRPr/>
                      </a:pPr>
                      <a:r>
                        <a:rPr kumimoji="1" lang="ja-JP" altLang="en-US" sz="1300" dirty="0">
                          <a:solidFill>
                            <a:schemeClr val="tx1"/>
                          </a:solidFill>
                          <a:latin typeface="+mn-ea"/>
                          <a:ea typeface="+mn-ea"/>
                        </a:rPr>
                        <a:t>前回から変化は見られず、引き続き</a:t>
                      </a:r>
                      <a:r>
                        <a:rPr kumimoji="1" lang="en-US" altLang="ja-JP" sz="1300" dirty="0">
                          <a:solidFill>
                            <a:schemeClr val="tx1"/>
                          </a:solidFill>
                          <a:latin typeface="+mn-ea"/>
                          <a:ea typeface="+mn-ea"/>
                        </a:rPr>
                        <a:t>P</a:t>
                      </a:r>
                      <a:r>
                        <a:rPr kumimoji="1" lang="ja-JP" altLang="en-US" sz="1300" dirty="0">
                          <a:solidFill>
                            <a:schemeClr val="tx1"/>
                          </a:solidFill>
                          <a:latin typeface="+mn-ea"/>
                          <a:ea typeface="+mn-ea"/>
                        </a:rPr>
                        <a:t>値増加で検証する。</a:t>
                      </a:r>
                      <a:endParaRPr kumimoji="1" lang="en-US" altLang="ja-JP" sz="1300" dirty="0">
                        <a:solidFill>
                          <a:schemeClr val="tx1"/>
                        </a:solidFill>
                        <a:latin typeface="+mn-ea"/>
                        <a:ea typeface="+mn-ea"/>
                      </a:endParaRPr>
                    </a:p>
                  </a:txBody>
                  <a:tcPr/>
                </a:tc>
                <a:extLst>
                  <a:ext uri="{0D108BD9-81ED-4DB2-BD59-A6C34878D82A}">
                    <a16:rowId xmlns:a16="http://schemas.microsoft.com/office/drawing/2014/main" val="2959810859"/>
                  </a:ext>
                </a:extLst>
              </a:tr>
              <a:tr h="603520">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en-US" altLang="ja-JP" sz="1300" dirty="0"/>
                        <a:t>5</a:t>
                      </a:r>
                      <a:r>
                        <a:rPr kumimoji="1" lang="ja-JP" altLang="en-US" sz="1300" dirty="0"/>
                        <a:t>回目</a:t>
                      </a:r>
                      <a:endParaRPr kumimoji="1" lang="ja-JP" altLang="en-US" sz="1300" dirty="0">
                        <a:solidFill>
                          <a:schemeClr val="tx1"/>
                        </a:solidFill>
                        <a:latin typeface="+mn-ea"/>
                        <a:ea typeface="+mn-ea"/>
                      </a:endParaRPr>
                    </a:p>
                  </a:txBody>
                  <a:tcPr/>
                </a:tc>
                <a:tc>
                  <a:txBody>
                    <a:bodyPr/>
                    <a:lstStyle/>
                    <a:p>
                      <a:pPr marL="0" marR="0" lvl="0" indent="0" algn="ctr" defTabSz="1425550" rtl="0" eaLnBrk="1" fontAlgn="auto" latinLnBrk="0" hangingPunct="1">
                        <a:lnSpc>
                          <a:spcPct val="100000"/>
                        </a:lnSpc>
                        <a:spcBef>
                          <a:spcPts val="0"/>
                        </a:spcBef>
                        <a:spcAft>
                          <a:spcPts val="0"/>
                        </a:spcAft>
                        <a:buClrTx/>
                        <a:buSzTx/>
                        <a:buFontTx/>
                        <a:buNone/>
                        <a:tabLst/>
                        <a:defRPr/>
                      </a:pPr>
                      <a:r>
                        <a:rPr kumimoji="1" lang="en-US" altLang="ja-JP" sz="13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0.33</a:t>
                      </a:r>
                      <a:endParaRPr kumimoji="1" lang="ja-JP" altLang="en-US" sz="13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endParaRPr>
                    </a:p>
                  </a:txBody>
                  <a:tcPr/>
                </a:tc>
                <a:tc>
                  <a:txBody>
                    <a:bodyPr/>
                    <a:lstStyle/>
                    <a:p>
                      <a:pPr algn="ctr"/>
                      <a:r>
                        <a:rPr kumimoji="1" lang="en-US" altLang="ja-JP" sz="1300" dirty="0"/>
                        <a:t>0.008</a:t>
                      </a:r>
                    </a:p>
                  </a:txBody>
                  <a:tcPr/>
                </a:tc>
                <a:tc>
                  <a:txBody>
                    <a:bodyPr/>
                    <a:lstStyle/>
                    <a:p>
                      <a:pPr algn="ctr"/>
                      <a:r>
                        <a:rPr kumimoji="1" lang="en-US" altLang="ja-JP" sz="1300" dirty="0"/>
                        <a:t>0.002</a:t>
                      </a:r>
                      <a:endParaRPr kumimoji="1" lang="ja-JP" altLang="en-US" sz="1300" dirty="0">
                        <a:solidFill>
                          <a:schemeClr val="tx1"/>
                        </a:solidFill>
                        <a:latin typeface="+mn-ea"/>
                        <a:ea typeface="+mn-ea"/>
                      </a:endParaRPr>
                    </a:p>
                  </a:txBody>
                  <a:tcPr/>
                </a:tc>
                <a:tc>
                  <a:txBody>
                    <a:bodyPr/>
                    <a:lstStyle/>
                    <a:p>
                      <a:pPr algn="ctr"/>
                      <a:r>
                        <a:rPr kumimoji="1" lang="en-US" altLang="ja-JP" sz="1300" dirty="0">
                          <a:solidFill>
                            <a:schemeClr val="tx1"/>
                          </a:solidFill>
                          <a:latin typeface="Calibri 本文"/>
                          <a:ea typeface="+mn-ea"/>
                        </a:rPr>
                        <a:t>70%</a:t>
                      </a:r>
                    </a:p>
                  </a:txBody>
                  <a:tcPr/>
                </a:tc>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ja-JP" altLang="en-US" sz="1300" dirty="0">
                          <a:solidFill>
                            <a:schemeClr val="tx1"/>
                          </a:solidFill>
                          <a:latin typeface="+mn-ea"/>
                          <a:ea typeface="+mn-ea"/>
                        </a:rPr>
                        <a:t>ライン復帰までの大回りが多少緩和した。</a:t>
                      </a:r>
                    </a:p>
                    <a:p>
                      <a:pPr marL="0" marR="0" lvl="0" indent="0" algn="l" defTabSz="1425550" rtl="0" eaLnBrk="1" fontAlgn="auto" latinLnBrk="0" hangingPunct="1">
                        <a:lnSpc>
                          <a:spcPct val="100000"/>
                        </a:lnSpc>
                        <a:spcBef>
                          <a:spcPts val="0"/>
                        </a:spcBef>
                        <a:spcAft>
                          <a:spcPts val="0"/>
                        </a:spcAft>
                        <a:buClrTx/>
                        <a:buSzTx/>
                        <a:buFontTx/>
                        <a:buNone/>
                        <a:tabLst/>
                        <a:defRPr/>
                      </a:pPr>
                      <a:r>
                        <a:rPr kumimoji="1" lang="ja-JP" altLang="en-US" sz="1300" dirty="0">
                          <a:solidFill>
                            <a:schemeClr val="tx1"/>
                          </a:solidFill>
                          <a:latin typeface="+mn-ea"/>
                          <a:ea typeface="+mn-ea"/>
                        </a:rPr>
                        <a:t>成功率の向上を確認。　さらに</a:t>
                      </a:r>
                      <a:r>
                        <a:rPr kumimoji="1" lang="en-US" altLang="ja-JP" sz="1300" dirty="0">
                          <a:solidFill>
                            <a:schemeClr val="tx1"/>
                          </a:solidFill>
                          <a:latin typeface="+mn-ea"/>
                          <a:ea typeface="+mn-ea"/>
                        </a:rPr>
                        <a:t>P</a:t>
                      </a:r>
                      <a:r>
                        <a:rPr kumimoji="1" lang="ja-JP" altLang="en-US" sz="1300" dirty="0">
                          <a:solidFill>
                            <a:schemeClr val="tx1"/>
                          </a:solidFill>
                          <a:latin typeface="+mn-ea"/>
                          <a:ea typeface="+mn-ea"/>
                        </a:rPr>
                        <a:t>値増加で検証する。</a:t>
                      </a:r>
                      <a:endParaRPr kumimoji="1" lang="en-US" altLang="ja-JP" sz="1300" dirty="0">
                        <a:solidFill>
                          <a:schemeClr val="tx1"/>
                        </a:solidFill>
                        <a:latin typeface="+mn-ea"/>
                        <a:ea typeface="+mn-ea"/>
                      </a:endParaRPr>
                    </a:p>
                  </a:txBody>
                  <a:tcPr/>
                </a:tc>
                <a:extLst>
                  <a:ext uri="{0D108BD9-81ED-4DB2-BD59-A6C34878D82A}">
                    <a16:rowId xmlns:a16="http://schemas.microsoft.com/office/drawing/2014/main" val="1610545789"/>
                  </a:ext>
                </a:extLst>
              </a:tr>
              <a:tr h="731279">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en-US" altLang="ja-JP" sz="1300" dirty="0"/>
                        <a:t>6</a:t>
                      </a:r>
                      <a:r>
                        <a:rPr kumimoji="1" lang="ja-JP" altLang="en-US" sz="1300" dirty="0"/>
                        <a:t>回目</a:t>
                      </a:r>
                      <a:endParaRPr kumimoji="1" lang="ja-JP" altLang="en-US" sz="1300" dirty="0">
                        <a:solidFill>
                          <a:schemeClr val="tx1"/>
                        </a:solidFill>
                        <a:latin typeface="+mn-ea"/>
                        <a:ea typeface="+mn-ea"/>
                      </a:endParaRPr>
                    </a:p>
                  </a:txBody>
                  <a:tcPr/>
                </a:tc>
                <a:tc>
                  <a:txBody>
                    <a:bodyPr/>
                    <a:lstStyle/>
                    <a:p>
                      <a:pPr marL="0" marR="0" lvl="0" indent="0" algn="ctr" defTabSz="1425550" rtl="0" eaLnBrk="1" fontAlgn="auto" latinLnBrk="0" hangingPunct="1">
                        <a:lnSpc>
                          <a:spcPct val="100000"/>
                        </a:lnSpc>
                        <a:spcBef>
                          <a:spcPts val="0"/>
                        </a:spcBef>
                        <a:spcAft>
                          <a:spcPts val="0"/>
                        </a:spcAft>
                        <a:buClrTx/>
                        <a:buSzTx/>
                        <a:buFontTx/>
                        <a:buNone/>
                        <a:tabLst/>
                        <a:defRPr/>
                      </a:pPr>
                      <a:r>
                        <a:rPr kumimoji="1" lang="en-US" altLang="ja-JP" sz="13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0.35</a:t>
                      </a:r>
                      <a:endParaRPr kumimoji="1" lang="ja-JP" altLang="en-US" sz="13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endParaRPr>
                    </a:p>
                  </a:txBody>
                  <a:tcPr/>
                </a:tc>
                <a:tc>
                  <a:txBody>
                    <a:bodyPr/>
                    <a:lstStyle/>
                    <a:p>
                      <a:pPr algn="ctr"/>
                      <a:r>
                        <a:rPr kumimoji="1" lang="en-US" altLang="ja-JP" sz="1300" dirty="0"/>
                        <a:t>0.008</a:t>
                      </a:r>
                    </a:p>
                  </a:txBody>
                  <a:tcPr/>
                </a:tc>
                <a:tc>
                  <a:txBody>
                    <a:bodyPr/>
                    <a:lstStyle/>
                    <a:p>
                      <a:pPr algn="ctr"/>
                      <a:r>
                        <a:rPr kumimoji="1" lang="en-US" altLang="ja-JP" sz="1300" dirty="0"/>
                        <a:t>0.002</a:t>
                      </a:r>
                      <a:endParaRPr kumimoji="1" lang="ja-JP" altLang="en-US" sz="1300" dirty="0">
                        <a:solidFill>
                          <a:schemeClr val="tx1"/>
                        </a:solidFill>
                        <a:latin typeface="+mn-ea"/>
                        <a:ea typeface="+mn-ea"/>
                      </a:endParaRPr>
                    </a:p>
                  </a:txBody>
                  <a:tcPr/>
                </a:tc>
                <a:tc>
                  <a:txBody>
                    <a:bodyPr/>
                    <a:lstStyle/>
                    <a:p>
                      <a:pPr algn="ctr"/>
                      <a:r>
                        <a:rPr kumimoji="1" lang="en-US" altLang="ja-JP" sz="1300" b="1" dirty="0">
                          <a:solidFill>
                            <a:srgbClr val="FF0000"/>
                          </a:solidFill>
                          <a:latin typeface="Calibri 本文"/>
                          <a:ea typeface="+mn-ea"/>
                        </a:rPr>
                        <a:t>80%</a:t>
                      </a:r>
                    </a:p>
                  </a:txBody>
                  <a:tcPr/>
                </a:tc>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en-US" altLang="ja-JP" sz="1300" dirty="0">
                          <a:solidFill>
                            <a:schemeClr val="tx1"/>
                          </a:solidFill>
                          <a:latin typeface="+mn-ea"/>
                          <a:ea typeface="+mn-ea"/>
                        </a:rPr>
                        <a:t>1</a:t>
                      </a:r>
                      <a:r>
                        <a:rPr kumimoji="1" lang="ja-JP" altLang="en-US" sz="1300" dirty="0">
                          <a:solidFill>
                            <a:schemeClr val="tx1"/>
                          </a:solidFill>
                          <a:latin typeface="+mn-ea"/>
                          <a:ea typeface="+mn-ea"/>
                        </a:rPr>
                        <a:t>つ前と比べて大きな変化は見られなかったが、</a:t>
                      </a:r>
                      <a:endParaRPr kumimoji="1" lang="en-US" altLang="ja-JP" sz="1300" dirty="0">
                        <a:solidFill>
                          <a:schemeClr val="tx1"/>
                        </a:solidFill>
                        <a:latin typeface="+mn-ea"/>
                        <a:ea typeface="+mn-ea"/>
                      </a:endParaRPr>
                    </a:p>
                    <a:p>
                      <a:pPr marL="0" marR="0" lvl="0" indent="0" algn="l" defTabSz="1425550" rtl="0" eaLnBrk="1" fontAlgn="auto" latinLnBrk="0" hangingPunct="1">
                        <a:lnSpc>
                          <a:spcPct val="100000"/>
                        </a:lnSpc>
                        <a:spcBef>
                          <a:spcPts val="0"/>
                        </a:spcBef>
                        <a:spcAft>
                          <a:spcPts val="0"/>
                        </a:spcAft>
                        <a:buClrTx/>
                        <a:buSzTx/>
                        <a:buFontTx/>
                        <a:buNone/>
                        <a:tabLst/>
                        <a:defRPr/>
                      </a:pPr>
                      <a:r>
                        <a:rPr kumimoji="1" lang="ja-JP" altLang="en-US" sz="1300" dirty="0">
                          <a:solidFill>
                            <a:schemeClr val="tx1"/>
                          </a:solidFill>
                          <a:latin typeface="+mn-ea"/>
                          <a:ea typeface="+mn-ea"/>
                        </a:rPr>
                        <a:t>成功率で若干の優位性が得られた。</a:t>
                      </a:r>
                      <a:endParaRPr kumimoji="1" lang="en-US" altLang="ja-JP" sz="1300" dirty="0">
                        <a:solidFill>
                          <a:schemeClr val="tx1"/>
                        </a:solidFill>
                        <a:latin typeface="+mn-ea"/>
                        <a:ea typeface="+mn-ea"/>
                      </a:endParaRPr>
                    </a:p>
                    <a:p>
                      <a:pPr marL="0" marR="0" lvl="0" indent="0" algn="l" defTabSz="1425550" rtl="0" eaLnBrk="1" fontAlgn="auto" latinLnBrk="0" hangingPunct="1">
                        <a:lnSpc>
                          <a:spcPct val="100000"/>
                        </a:lnSpc>
                        <a:spcBef>
                          <a:spcPts val="0"/>
                        </a:spcBef>
                        <a:spcAft>
                          <a:spcPts val="0"/>
                        </a:spcAft>
                        <a:buClrTx/>
                        <a:buSzTx/>
                        <a:buFontTx/>
                        <a:buNone/>
                        <a:tabLst/>
                        <a:defRPr/>
                      </a:pPr>
                      <a:r>
                        <a:rPr kumimoji="1" lang="ja-JP" altLang="en-US" sz="1300" dirty="0">
                          <a:solidFill>
                            <a:schemeClr val="tx1"/>
                          </a:solidFill>
                          <a:latin typeface="+mn-ea"/>
                          <a:ea typeface="+mn-ea"/>
                        </a:rPr>
                        <a:t>さらに</a:t>
                      </a:r>
                      <a:r>
                        <a:rPr kumimoji="1" lang="en-US" altLang="ja-JP" sz="1300" dirty="0">
                          <a:solidFill>
                            <a:schemeClr val="tx1"/>
                          </a:solidFill>
                          <a:latin typeface="+mn-ea"/>
                          <a:ea typeface="+mn-ea"/>
                        </a:rPr>
                        <a:t>P</a:t>
                      </a:r>
                      <a:r>
                        <a:rPr kumimoji="1" lang="ja-JP" altLang="en-US" sz="1300" dirty="0">
                          <a:solidFill>
                            <a:schemeClr val="tx1"/>
                          </a:solidFill>
                          <a:latin typeface="+mn-ea"/>
                          <a:ea typeface="+mn-ea"/>
                        </a:rPr>
                        <a:t>値増加で検証する。</a:t>
                      </a:r>
                      <a:endParaRPr kumimoji="1" lang="en-US" altLang="ja-JP" sz="1300" dirty="0">
                        <a:solidFill>
                          <a:schemeClr val="tx1"/>
                        </a:solidFill>
                        <a:latin typeface="+mn-ea"/>
                        <a:ea typeface="+mn-ea"/>
                      </a:endParaRPr>
                    </a:p>
                  </a:txBody>
                  <a:tcPr/>
                </a:tc>
                <a:extLst>
                  <a:ext uri="{0D108BD9-81ED-4DB2-BD59-A6C34878D82A}">
                    <a16:rowId xmlns:a16="http://schemas.microsoft.com/office/drawing/2014/main" val="1729237835"/>
                  </a:ext>
                </a:extLst>
              </a:tr>
              <a:tr h="603520">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en-US" altLang="ja-JP" sz="1300" dirty="0"/>
                        <a:t>7</a:t>
                      </a:r>
                      <a:r>
                        <a:rPr kumimoji="1" lang="ja-JP" altLang="en-US" sz="1300" dirty="0"/>
                        <a:t>回目</a:t>
                      </a:r>
                      <a:endParaRPr kumimoji="1" lang="ja-JP" altLang="en-US" sz="1300" dirty="0">
                        <a:solidFill>
                          <a:schemeClr val="tx1"/>
                        </a:solidFill>
                        <a:latin typeface="+mn-ea"/>
                        <a:ea typeface="+mn-ea"/>
                      </a:endParaRPr>
                    </a:p>
                  </a:txBody>
                  <a:tcPr/>
                </a:tc>
                <a:tc>
                  <a:txBody>
                    <a:bodyPr/>
                    <a:lstStyle/>
                    <a:p>
                      <a:pPr marL="0" marR="0" lvl="0" indent="0" algn="ctr" defTabSz="1425550" rtl="0" eaLnBrk="1" fontAlgn="auto" latinLnBrk="0" hangingPunct="1">
                        <a:lnSpc>
                          <a:spcPct val="100000"/>
                        </a:lnSpc>
                        <a:spcBef>
                          <a:spcPts val="0"/>
                        </a:spcBef>
                        <a:spcAft>
                          <a:spcPts val="0"/>
                        </a:spcAft>
                        <a:buClrTx/>
                        <a:buSzTx/>
                        <a:buFontTx/>
                        <a:buNone/>
                        <a:tabLst/>
                        <a:defRPr/>
                      </a:pPr>
                      <a:r>
                        <a:rPr kumimoji="1" lang="en-US" altLang="ja-JP" sz="13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0.37</a:t>
                      </a:r>
                      <a:endParaRPr kumimoji="1" lang="ja-JP" altLang="en-US" sz="1300" b="0"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endParaRPr>
                    </a:p>
                  </a:txBody>
                  <a:tcPr/>
                </a:tc>
                <a:tc>
                  <a:txBody>
                    <a:bodyPr/>
                    <a:lstStyle/>
                    <a:p>
                      <a:pPr algn="ctr"/>
                      <a:r>
                        <a:rPr kumimoji="1" lang="en-US" altLang="ja-JP" sz="1300" dirty="0"/>
                        <a:t>0.008</a:t>
                      </a:r>
                    </a:p>
                  </a:txBody>
                  <a:tcPr/>
                </a:tc>
                <a:tc>
                  <a:txBody>
                    <a:bodyPr/>
                    <a:lstStyle/>
                    <a:p>
                      <a:pPr algn="ctr"/>
                      <a:r>
                        <a:rPr kumimoji="1" lang="en-US" altLang="ja-JP" sz="1300" dirty="0"/>
                        <a:t>0.002</a:t>
                      </a:r>
                      <a:endParaRPr kumimoji="1" lang="ja-JP" altLang="en-US" sz="1300" dirty="0">
                        <a:solidFill>
                          <a:schemeClr val="tx1"/>
                        </a:solidFill>
                        <a:latin typeface="+mn-ea"/>
                        <a:ea typeface="+mn-ea"/>
                      </a:endParaRPr>
                    </a:p>
                  </a:txBody>
                  <a:tcPr/>
                </a:tc>
                <a:tc>
                  <a:txBody>
                    <a:bodyPr/>
                    <a:lstStyle/>
                    <a:p>
                      <a:pPr algn="ctr"/>
                      <a:r>
                        <a:rPr kumimoji="1" lang="en-US" altLang="ja-JP" sz="1300" dirty="0">
                          <a:solidFill>
                            <a:schemeClr val="tx1"/>
                          </a:solidFill>
                          <a:latin typeface="Calibri 本文"/>
                          <a:ea typeface="+mn-ea"/>
                        </a:rPr>
                        <a:t>65%</a:t>
                      </a:r>
                    </a:p>
                  </a:txBody>
                  <a:tcPr/>
                </a:tc>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kumimoji="1" lang="en-US" altLang="ja-JP" sz="1300" dirty="0">
                          <a:solidFill>
                            <a:schemeClr val="tx1"/>
                          </a:solidFill>
                          <a:latin typeface="+mn-ea"/>
                          <a:ea typeface="+mn-ea"/>
                        </a:rPr>
                        <a:t>1</a:t>
                      </a:r>
                      <a:r>
                        <a:rPr kumimoji="1" lang="ja-JP" altLang="en-US" sz="1300" dirty="0">
                          <a:solidFill>
                            <a:schemeClr val="tx1"/>
                          </a:solidFill>
                          <a:latin typeface="+mn-ea"/>
                          <a:ea typeface="+mn-ea"/>
                        </a:rPr>
                        <a:t>つ前と比べてライン復帰後の離脱が多発した。</a:t>
                      </a:r>
                      <a:endParaRPr kumimoji="1" lang="en-US" altLang="ja-JP" sz="1300" dirty="0">
                        <a:solidFill>
                          <a:schemeClr val="tx1"/>
                        </a:solidFill>
                        <a:latin typeface="+mn-ea"/>
                        <a:ea typeface="+mn-ea"/>
                      </a:endParaRPr>
                    </a:p>
                    <a:p>
                      <a:pPr algn="l"/>
                      <a:r>
                        <a:rPr kumimoji="1" lang="en-US" altLang="ja-JP" sz="1300" dirty="0">
                          <a:solidFill>
                            <a:schemeClr val="tx1"/>
                          </a:solidFill>
                          <a:latin typeface="+mn-ea"/>
                          <a:ea typeface="+mn-ea"/>
                        </a:rPr>
                        <a:t>1</a:t>
                      </a:r>
                      <a:r>
                        <a:rPr kumimoji="1" lang="ja-JP" altLang="en-US" sz="1300" dirty="0">
                          <a:solidFill>
                            <a:schemeClr val="tx1"/>
                          </a:solidFill>
                          <a:latin typeface="+mn-ea"/>
                          <a:ea typeface="+mn-ea"/>
                        </a:rPr>
                        <a:t>つ前の設定値が最適と考えられる。　検証終了。</a:t>
                      </a:r>
                      <a:endParaRPr kumimoji="1" lang="en-US" altLang="ja-JP" sz="1300" dirty="0">
                        <a:solidFill>
                          <a:schemeClr val="tx1"/>
                        </a:solidFill>
                        <a:latin typeface="+mn-ea"/>
                        <a:ea typeface="+mn-ea"/>
                      </a:endParaRPr>
                    </a:p>
                  </a:txBody>
                  <a:tcPr/>
                </a:tc>
                <a:extLst>
                  <a:ext uri="{0D108BD9-81ED-4DB2-BD59-A6C34878D82A}">
                    <a16:rowId xmlns:a16="http://schemas.microsoft.com/office/drawing/2014/main" val="3432016266"/>
                  </a:ext>
                </a:extLst>
              </a:tr>
            </a:tbl>
          </a:graphicData>
        </a:graphic>
      </p:graphicFrame>
      <p:sp>
        <p:nvSpPr>
          <p:cNvPr id="35" name="正方形/長方形 34">
            <a:extLst>
              <a:ext uri="{FF2B5EF4-FFF2-40B4-BE49-F238E27FC236}">
                <a16:creationId xmlns:a16="http://schemas.microsoft.com/office/drawing/2014/main" id="{360A3816-E013-4EC7-B7BC-7526EF2D04D9}"/>
              </a:ext>
            </a:extLst>
          </p:cNvPr>
          <p:cNvSpPr/>
          <p:nvPr/>
        </p:nvSpPr>
        <p:spPr>
          <a:xfrm>
            <a:off x="9662524" y="953419"/>
            <a:ext cx="2448272" cy="361675"/>
          </a:xfrm>
          <a:prstGeom prst="rect">
            <a:avLst/>
          </a:prstGeom>
          <a:solidFill>
            <a:srgbClr val="70AD4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b="1" dirty="0">
                <a:latin typeface="+mn-ea"/>
              </a:rPr>
              <a:t>ライン復帰失敗例</a:t>
            </a:r>
            <a:endParaRPr kumimoji="1" lang="ja-JP" altLang="en-US" sz="1600" b="1" dirty="0">
              <a:latin typeface="+mn-ea"/>
            </a:endParaRPr>
          </a:p>
        </p:txBody>
      </p:sp>
      <p:sp>
        <p:nvSpPr>
          <p:cNvPr id="45" name="正方形/長方形 44">
            <a:extLst>
              <a:ext uri="{FF2B5EF4-FFF2-40B4-BE49-F238E27FC236}">
                <a16:creationId xmlns:a16="http://schemas.microsoft.com/office/drawing/2014/main" id="{DF0D9CD3-B32B-45B4-BDD6-CB03D2AB9C06}"/>
              </a:ext>
            </a:extLst>
          </p:cNvPr>
          <p:cNvSpPr/>
          <p:nvPr/>
        </p:nvSpPr>
        <p:spPr>
          <a:xfrm>
            <a:off x="12273280" y="953418"/>
            <a:ext cx="2639404" cy="361675"/>
          </a:xfrm>
          <a:prstGeom prst="rect">
            <a:avLst/>
          </a:prstGeom>
          <a:solidFill>
            <a:srgbClr val="70AD4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b="1" dirty="0">
                <a:latin typeface="+mn-ea"/>
              </a:rPr>
              <a:t>理想例</a:t>
            </a:r>
            <a:endParaRPr kumimoji="1" lang="ja-JP" altLang="en-US" sz="1600" b="1" dirty="0">
              <a:latin typeface="+mn-ea"/>
            </a:endParaRPr>
          </a:p>
        </p:txBody>
      </p:sp>
      <p:sp>
        <p:nvSpPr>
          <p:cNvPr id="8" name="吹き出し: 角を丸めた四角形 7">
            <a:extLst>
              <a:ext uri="{FF2B5EF4-FFF2-40B4-BE49-F238E27FC236}">
                <a16:creationId xmlns:a16="http://schemas.microsoft.com/office/drawing/2014/main" id="{EF351AA2-CBA8-45F1-8450-71298DC4BAF1}"/>
              </a:ext>
            </a:extLst>
          </p:cNvPr>
          <p:cNvSpPr/>
          <p:nvPr/>
        </p:nvSpPr>
        <p:spPr>
          <a:xfrm>
            <a:off x="13268635" y="2463440"/>
            <a:ext cx="1563848" cy="444381"/>
          </a:xfrm>
          <a:prstGeom prst="wedgeRoundRectCallout">
            <a:avLst>
              <a:gd name="adj1" fmla="val 7748"/>
              <a:gd name="adj2" fmla="val -119230"/>
              <a:gd name="adj3" fmla="val 16667"/>
            </a:avLst>
          </a:prstGeom>
          <a:solidFill>
            <a:srgbClr val="E2F0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ラインに復帰</a:t>
            </a:r>
          </a:p>
        </p:txBody>
      </p:sp>
      <p:sp>
        <p:nvSpPr>
          <p:cNvPr id="46" name="吹き出し: 角を丸めた四角形 45">
            <a:extLst>
              <a:ext uri="{FF2B5EF4-FFF2-40B4-BE49-F238E27FC236}">
                <a16:creationId xmlns:a16="http://schemas.microsoft.com/office/drawing/2014/main" id="{4469B1EF-46F9-427B-ABF1-8329BD7215E5}"/>
              </a:ext>
            </a:extLst>
          </p:cNvPr>
          <p:cNvSpPr/>
          <p:nvPr/>
        </p:nvSpPr>
        <p:spPr>
          <a:xfrm>
            <a:off x="10258778" y="3668920"/>
            <a:ext cx="1720933" cy="658259"/>
          </a:xfrm>
          <a:prstGeom prst="wedgeRoundRectCallout">
            <a:avLst>
              <a:gd name="adj1" fmla="val 29543"/>
              <a:gd name="adj2" fmla="val -134624"/>
              <a:gd name="adj3" fmla="val 16667"/>
            </a:avLst>
          </a:prstGeom>
          <a:solidFill>
            <a:srgbClr val="E2F0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ラインに復帰できず、コースアウト</a:t>
            </a:r>
          </a:p>
        </p:txBody>
      </p:sp>
      <p:sp>
        <p:nvSpPr>
          <p:cNvPr id="49" name="吹き出し: 角を丸めた四角形 48">
            <a:extLst>
              <a:ext uri="{FF2B5EF4-FFF2-40B4-BE49-F238E27FC236}">
                <a16:creationId xmlns:a16="http://schemas.microsoft.com/office/drawing/2014/main" id="{D328EF78-E803-431E-A765-3EE74B0F7D09}"/>
              </a:ext>
            </a:extLst>
          </p:cNvPr>
          <p:cNvSpPr/>
          <p:nvPr/>
        </p:nvSpPr>
        <p:spPr>
          <a:xfrm>
            <a:off x="6773835" y="1083692"/>
            <a:ext cx="2771144" cy="881408"/>
          </a:xfrm>
          <a:prstGeom prst="wedgeRoundRectCallout">
            <a:avLst>
              <a:gd name="adj1" fmla="val 84229"/>
              <a:gd name="adj2" fmla="val 63590"/>
              <a:gd name="adj3" fmla="val 16667"/>
            </a:avLst>
          </a:prstGeom>
          <a:solidFill>
            <a:srgbClr val="E2F0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直進からライントレースに切り替えた直後に通り過ぎる</a:t>
            </a:r>
            <a:r>
              <a:rPr lang="ja-JP" altLang="en-US" sz="1400" dirty="0">
                <a:solidFill>
                  <a:schemeClr val="tx1"/>
                </a:solidFill>
              </a:rPr>
              <a:t>。</a:t>
            </a:r>
            <a:br>
              <a:rPr kumimoji="1" lang="en-US" altLang="ja-JP" sz="1400" dirty="0">
                <a:solidFill>
                  <a:schemeClr val="tx1"/>
                </a:solidFill>
              </a:rPr>
            </a:br>
            <a:r>
              <a:rPr kumimoji="1" lang="ja-JP" altLang="en-US" sz="1400" dirty="0">
                <a:solidFill>
                  <a:schemeClr val="tx1"/>
                </a:solidFill>
              </a:rPr>
              <a:t>（</a:t>
            </a:r>
            <a:r>
              <a:rPr lang="ja-JP" altLang="en-US" sz="1400" dirty="0">
                <a:solidFill>
                  <a:schemeClr val="tx1"/>
                </a:solidFill>
              </a:rPr>
              <a:t>オーバーシュート発生）</a:t>
            </a:r>
            <a:endParaRPr kumimoji="1" lang="ja-JP" altLang="en-US" sz="1400" dirty="0">
              <a:solidFill>
                <a:schemeClr val="tx1"/>
              </a:solidFill>
            </a:endParaRPr>
          </a:p>
        </p:txBody>
      </p:sp>
      <p:sp>
        <p:nvSpPr>
          <p:cNvPr id="25" name="テキスト ボックス 24">
            <a:extLst>
              <a:ext uri="{FF2B5EF4-FFF2-40B4-BE49-F238E27FC236}">
                <a16:creationId xmlns:a16="http://schemas.microsoft.com/office/drawing/2014/main" id="{D0F9DF44-DA87-49D6-ACC6-95AFA9DDDA88}"/>
              </a:ext>
            </a:extLst>
          </p:cNvPr>
          <p:cNvSpPr txBox="1"/>
          <p:nvPr/>
        </p:nvSpPr>
        <p:spPr>
          <a:xfrm>
            <a:off x="9853398" y="5727345"/>
            <a:ext cx="2808312" cy="276999"/>
          </a:xfrm>
          <a:prstGeom prst="rect">
            <a:avLst/>
          </a:prstGeom>
          <a:noFill/>
        </p:spPr>
        <p:txBody>
          <a:bodyPr wrap="square" rtlCol="0">
            <a:spAutoFit/>
          </a:bodyPr>
          <a:lstStyle/>
          <a:p>
            <a:pPr algn="ctr"/>
            <a:r>
              <a:rPr lang="ja-JP" altLang="en-US" sz="1200" dirty="0">
                <a:latin typeface="+mn-ea"/>
                <a:ea typeface="+mn-ea"/>
              </a:rPr>
              <a:t>表</a:t>
            </a:r>
            <a:r>
              <a:rPr lang="en-US" altLang="ja-JP" sz="1200" dirty="0">
                <a:latin typeface="+mn-ea"/>
                <a:ea typeface="+mn-ea"/>
              </a:rPr>
              <a:t>4.1</a:t>
            </a:r>
            <a:r>
              <a:rPr lang="ja-JP" altLang="en-US" sz="1200" dirty="0">
                <a:latin typeface="+mn-ea"/>
                <a:ea typeface="+mn-ea"/>
              </a:rPr>
              <a:t>　検証結果</a:t>
            </a:r>
            <a:endParaRPr kumimoji="1" lang="ja-JP" altLang="en-US" sz="1200" dirty="0">
              <a:latin typeface="+mn-ea"/>
              <a:ea typeface="+mn-ea"/>
            </a:endParaRPr>
          </a:p>
        </p:txBody>
      </p:sp>
      <p:sp>
        <p:nvSpPr>
          <p:cNvPr id="28" name="テキスト ボックス 27">
            <a:extLst>
              <a:ext uri="{FF2B5EF4-FFF2-40B4-BE49-F238E27FC236}">
                <a16:creationId xmlns:a16="http://schemas.microsoft.com/office/drawing/2014/main" id="{4B1B567A-BF2A-463D-9E8A-7BED1002D2DA}"/>
              </a:ext>
            </a:extLst>
          </p:cNvPr>
          <p:cNvSpPr txBox="1"/>
          <p:nvPr/>
        </p:nvSpPr>
        <p:spPr>
          <a:xfrm>
            <a:off x="10869124" y="5254896"/>
            <a:ext cx="2808312" cy="276999"/>
          </a:xfrm>
          <a:prstGeom prst="rect">
            <a:avLst/>
          </a:prstGeom>
          <a:noFill/>
        </p:spPr>
        <p:txBody>
          <a:bodyPr wrap="square" rtlCol="0">
            <a:spAutoFit/>
          </a:bodyPr>
          <a:lstStyle/>
          <a:p>
            <a:pPr algn="ctr"/>
            <a:r>
              <a:rPr lang="ja-JP" altLang="en-US" sz="1200" dirty="0">
                <a:latin typeface="+mn-ea"/>
                <a:ea typeface="+mn-ea"/>
              </a:rPr>
              <a:t>図</a:t>
            </a:r>
            <a:r>
              <a:rPr lang="en-US" altLang="ja-JP" sz="1200" dirty="0">
                <a:latin typeface="+mn-ea"/>
                <a:ea typeface="+mn-ea"/>
              </a:rPr>
              <a:t>4.1</a:t>
            </a:r>
            <a:r>
              <a:rPr lang="ja-JP" altLang="en-US" sz="1200" dirty="0">
                <a:latin typeface="+mn-ea"/>
                <a:ea typeface="+mn-ea"/>
              </a:rPr>
              <a:t>　ライン復帰例</a:t>
            </a:r>
            <a:endParaRPr kumimoji="1" lang="ja-JP" altLang="en-US" sz="1200" dirty="0">
              <a:latin typeface="+mn-ea"/>
              <a:ea typeface="+mn-ea"/>
            </a:endParaRPr>
          </a:p>
        </p:txBody>
      </p:sp>
      <p:cxnSp>
        <p:nvCxnSpPr>
          <p:cNvPr id="29" name="直線コネクタ 28">
            <a:extLst>
              <a:ext uri="{FF2B5EF4-FFF2-40B4-BE49-F238E27FC236}">
                <a16:creationId xmlns:a16="http://schemas.microsoft.com/office/drawing/2014/main" id="{EAC8B401-9D54-469D-BE36-77F69A969C61}"/>
              </a:ext>
            </a:extLst>
          </p:cNvPr>
          <p:cNvCxnSpPr>
            <a:cxnSpLocks/>
          </p:cNvCxnSpPr>
          <p:nvPr/>
        </p:nvCxnSpPr>
        <p:spPr>
          <a:xfrm>
            <a:off x="9142" y="5561930"/>
            <a:ext cx="15111373" cy="0"/>
          </a:xfrm>
          <a:prstGeom prst="line">
            <a:avLst/>
          </a:prstGeom>
          <a:ln w="38100">
            <a:solidFill>
              <a:srgbClr val="92D050"/>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71E76B66-1B04-4D50-8050-552B9E4589C7}"/>
              </a:ext>
            </a:extLst>
          </p:cNvPr>
          <p:cNvCxnSpPr>
            <a:cxnSpLocks/>
          </p:cNvCxnSpPr>
          <p:nvPr/>
        </p:nvCxnSpPr>
        <p:spPr>
          <a:xfrm>
            <a:off x="9142" y="8226226"/>
            <a:ext cx="7355575" cy="0"/>
          </a:xfrm>
          <a:prstGeom prst="line">
            <a:avLst/>
          </a:prstGeom>
          <a:ln w="38100">
            <a:solidFill>
              <a:srgbClr val="92D050"/>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CB51C848-1068-4F1E-8570-33480CA5AB85}"/>
              </a:ext>
            </a:extLst>
          </p:cNvPr>
          <p:cNvCxnSpPr>
            <a:cxnSpLocks/>
          </p:cNvCxnSpPr>
          <p:nvPr/>
        </p:nvCxnSpPr>
        <p:spPr>
          <a:xfrm>
            <a:off x="7364717" y="8226226"/>
            <a:ext cx="0" cy="2465587"/>
          </a:xfrm>
          <a:prstGeom prst="line">
            <a:avLst/>
          </a:prstGeom>
          <a:ln w="38100">
            <a:solidFill>
              <a:srgbClr val="92D05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2785140"/>
      </p:ext>
    </p:extLst>
  </p:cSld>
  <p:clrMapOvr>
    <a:masterClrMapping/>
  </p:clrMapOvr>
</p:sld>
</file>

<file path=ppt/theme/theme1.xml><?xml version="1.0" encoding="utf-8"?>
<a:theme xmlns:a="http://schemas.openxmlformats.org/drawingml/2006/main" name="アブストラクトページ用（プライマリークラス）">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デザインの設定">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22476</TotalTime>
  <Words>2313</Words>
  <Application>Microsoft Office PowerPoint</Application>
  <PresentationFormat>ユーザー設定</PresentationFormat>
  <Paragraphs>295</Paragraphs>
  <Slides>5</Slides>
  <Notes>0</Notes>
  <HiddenSlides>0</HiddenSlides>
  <MMClips>0</MMClips>
  <ScaleCrop>false</ScaleCrop>
  <HeadingPairs>
    <vt:vector size="6" baseType="variant">
      <vt:variant>
        <vt:lpstr>使用されているフォント</vt:lpstr>
      </vt:variant>
      <vt:variant>
        <vt:i4>10</vt:i4>
      </vt:variant>
      <vt:variant>
        <vt:lpstr>テーマ</vt:lpstr>
      </vt:variant>
      <vt:variant>
        <vt:i4>3</vt:i4>
      </vt:variant>
      <vt:variant>
        <vt:lpstr>スライド タイトル</vt:lpstr>
      </vt:variant>
      <vt:variant>
        <vt:i4>5</vt:i4>
      </vt:variant>
    </vt:vector>
  </HeadingPairs>
  <TitlesOfParts>
    <vt:vector size="18" baseType="lpstr">
      <vt:lpstr>Calibri 本文</vt:lpstr>
      <vt:lpstr>HG丸ｺﾞｼｯｸM-PRO</vt:lpstr>
      <vt:lpstr>ＭＳ Ｐゴシック</vt:lpstr>
      <vt:lpstr>ＭＳ Ｐ明朝</vt:lpstr>
      <vt:lpstr>游ゴシック</vt:lpstr>
      <vt:lpstr>游ゴシック Light</vt:lpstr>
      <vt:lpstr>Arial</vt:lpstr>
      <vt:lpstr>Calibri</vt:lpstr>
      <vt:lpstr>Calibri Light</vt:lpstr>
      <vt:lpstr>Times New Roman</vt:lpstr>
      <vt:lpstr>アブストラクトページ用（プライマリークラス）</vt:lpstr>
      <vt:lpstr>デザインの設定</vt:lpstr>
      <vt:lpstr>1_デザインの設定</vt:lpstr>
      <vt:lpstr>PowerPoint プレゼンテーション</vt:lpstr>
      <vt:lpstr>　１．機能モデル</vt:lpstr>
      <vt:lpstr>PowerPoint プレゼンテーション</vt:lpstr>
      <vt:lpstr>　３．振舞いモデル</vt:lpstr>
      <vt:lpstr>　４．工夫点</vt:lpstr>
    </vt:vector>
  </TitlesOfParts>
  <Manager>ETロボコン実行委員会</Manager>
  <Company>ETロボコン実行委員会</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モデルテンプレート</dc:title>
  <dc:creator>ETロボコン実行委員会</dc:creator>
  <cp:lastModifiedBy>福島龍人</cp:lastModifiedBy>
  <cp:revision>348</cp:revision>
  <cp:lastPrinted>2025-08-26T00:33:53Z</cp:lastPrinted>
  <dcterms:created xsi:type="dcterms:W3CDTF">2002-02-28T07:41:56Z</dcterms:created>
  <dcterms:modified xsi:type="dcterms:W3CDTF">2025-08-26T01:03:44Z</dcterms:modified>
  <cp:contentStatus/>
</cp:coreProperties>
</file>